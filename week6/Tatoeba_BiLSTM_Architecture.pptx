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7" r:id="rId18"/>
    <p:sldId id="278" r:id="rId19"/>
    <p:sldId id="279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0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1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412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91440"/>
            <a:ext cx="4114800" cy="41148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0" y="1005840"/>
            <a:ext cx="2560320" cy="2560320"/>
          </a:xfrm>
          <a:prstGeom prst="ellipse">
            <a:avLst/>
          </a:prstGeom>
          <a:solidFill>
            <a:srgbClr val="5EEAD4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377440" cy="2926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NLP — RNN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943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Tatoeba Language</a:t>
            </a:r>
            <a:endParaRPr lang="en-US" sz="4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Detection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EEAD4"/>
                </a:solidFill>
              </a:rPr>
              <a:t>Exploratory Data Analysis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602736"/>
            <a:ext cx="36576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71246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10 Languages  ·  99,863 Train  ·  10,000 Dev  ·  178 Unique Characters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EAD4"/>
                </a:solidFill>
              </a:rPr>
              <a:t>Tatoeba Project  ·  Character-Level Analysis  ·  Statistical &amp; Visual Methods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744"/>
                </a:solidFill>
              </a:rPr>
              <a:t>What We Cover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91440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914400"/>
            <a:ext cx="4572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5488" y="1133856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133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86968" y="102412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Dataset Overview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131673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Sizes, 10 languages, format, class balance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91440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83280" y="914400"/>
            <a:ext cx="4572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74720" y="1133856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1133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86200" y="102412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Language Distribution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86200" y="131673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Train (99,863) vs Dev (10,000) counts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82512" y="91440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82512" y="914400"/>
            <a:ext cx="4572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73952" y="1133856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73952" y="1133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85432" y="102412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Sentence Length Analysis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85432" y="131673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Box plot &amp; histogram of char lengths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4048" y="2340864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84048" y="2340864"/>
            <a:ext cx="4572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" y="256032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6968" y="24505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Character N-gram Fingerprinting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6968" y="274320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Top bigrams per language — train set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83280" y="2340864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83280" y="2340864"/>
            <a:ext cx="4572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474720" y="256032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74720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86200" y="24505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Language Similarity Heatmap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86200" y="274320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Cosine similarity of N-gram vectors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82512" y="2340864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82512" y="2340864"/>
            <a:ext cx="4572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473952" y="256032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73952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85432" y="24505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t-SNE Visualization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85432" y="274320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2D cluster separation — train &amp; dev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84048" y="3767328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84048" y="3767328"/>
            <a:ext cx="4572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75488" y="3986784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5488" y="3986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86968" y="387705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Character Entropy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86968" y="4169664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Average entropy per language (2.54–2.69 bits)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383280" y="3767328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383280" y="3767328"/>
            <a:ext cx="4572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474720" y="3986784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474720" y="3986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886200" y="387705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Unique Characters &amp; Unicode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886200" y="4169664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Exclusive chars &amp; script block analysis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382512" y="3767328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382512" y="3767328"/>
            <a:ext cx="4572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473952" y="3986784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473952" y="3986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09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885432" y="387705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Baseline: Logistic Regression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885432" y="4169664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99.30% accuracy + confusion matrix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DATASET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74904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</a:rPr>
              <a:t>Tatoeba Project — 10 Languages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920240" cy="91440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99,863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51790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EAD4"/>
                </a:solidFill>
              </a:rPr>
              <a:t>Training Sentences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14600" y="96012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4600" y="100584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744"/>
                </a:solidFill>
              </a:rPr>
              <a:t>10,000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514600" y="151790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Dev Sentences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00584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744"/>
                </a:solidFill>
              </a:rPr>
              <a:t>10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63440" y="151790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Languages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12280" y="96012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12280" y="100584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744"/>
                </a:solidFill>
              </a:rPr>
              <a:t>178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12280" y="151790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Unique Characters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1993392"/>
            <a:ext cx="8412480" cy="301752"/>
          </a:xfrm>
          <a:prstGeom prst="rect">
            <a:avLst/>
          </a:prstGeom>
          <a:solidFill>
            <a:srgbClr val="FEF9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1993392"/>
            <a:ext cx="45720" cy="3017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1993392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350F"/>
                </a:solidFill>
              </a:rPr>
              <a:t>⚠  Portuguese (por) has only 9,863 training sentences vs 10,000 for all other 9 languages — slight imbalance in train set only.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395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</a:rPr>
              <a:t>Languages in the Dataset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724912"/>
            <a:ext cx="1554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724912"/>
            <a:ext cx="1554480" cy="19202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2724912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2926080"/>
            <a:ext cx="1554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Berber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57400" y="2724912"/>
            <a:ext cx="1554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057400" y="2724912"/>
            <a:ext cx="1554480" cy="19202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057400" y="2724912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DEU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057400" y="2926080"/>
            <a:ext cx="1554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German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49040" y="2724912"/>
            <a:ext cx="1554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749040" y="2724912"/>
            <a:ext cx="1554480" cy="19202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749040" y="2724912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749040" y="2926080"/>
            <a:ext cx="1554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English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2724912"/>
            <a:ext cx="1554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440680" y="2724912"/>
            <a:ext cx="1554480" cy="192024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40680" y="2724912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EPO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40680" y="2926080"/>
            <a:ext cx="1554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Esperanto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32320" y="2724912"/>
            <a:ext cx="1554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132320" y="2724912"/>
            <a:ext cx="1554480" cy="19202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132320" y="2724912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FRA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132320" y="2926080"/>
            <a:ext cx="1554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French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3255264"/>
            <a:ext cx="1554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65760" y="3255264"/>
            <a:ext cx="1554480" cy="19202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5760" y="3255264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HUN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65760" y="3456432"/>
            <a:ext cx="1554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Hungarian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057400" y="3255264"/>
            <a:ext cx="1554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057400" y="3255264"/>
            <a:ext cx="1554480" cy="19202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057400" y="3255264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ITA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057400" y="3456432"/>
            <a:ext cx="1554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Italian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749040" y="3255264"/>
            <a:ext cx="1554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749040" y="3255264"/>
            <a:ext cx="1554480" cy="19202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749040" y="3255264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POR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749040" y="3456432"/>
            <a:ext cx="1554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Portuguese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440680" y="3255264"/>
            <a:ext cx="1554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440680" y="3255264"/>
            <a:ext cx="1554480" cy="19202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440680" y="3255264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SPA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440680" y="3456432"/>
            <a:ext cx="1554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Spanish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132320" y="3255264"/>
            <a:ext cx="15544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132320" y="3255264"/>
            <a:ext cx="1554480" cy="19202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132320" y="3255264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TUR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132320" y="3456432"/>
            <a:ext cx="1554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Turkish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65760" y="384048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TSV format  ·  No header row  ·  Columns: [lang_code]  [text]  ·  95th pct length: ~74 chars (train) / ~75 chars (dev)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65760" y="4133088"/>
            <a:ext cx="4114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65760" y="4133088"/>
            <a:ext cx="54864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93776" y="416966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</a:rPr>
              <a:t>Balanced for evaluation:  </a:t>
            </a:r>
            <a:r>
              <a:rPr lang="en-US" sz="900" dirty="0">
                <a:solidFill>
                  <a:srgbClr val="334155"/>
                </a:solidFill>
              </a:rPr>
              <a:t>Dev set: exactly 1,000 per language. Accuracy is a fair metric.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663440" y="4133088"/>
            <a:ext cx="4114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4663440" y="4133088"/>
            <a:ext cx="54864" cy="365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791456" y="416966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</a:rPr>
              <a:t>Character vocabulary: 178:  </a:t>
            </a:r>
            <a:r>
              <a:rPr lang="en-US" sz="900" dirty="0">
                <a:solidFill>
                  <a:srgbClr val="334155"/>
                </a:solidFill>
              </a:rPr>
              <a:t>All scripts combined: Latin, Tifinagh, Cyrillic variants.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65760" y="4572000"/>
            <a:ext cx="4114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365760" y="4572000"/>
            <a:ext cx="54864" cy="36576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93776" y="4608576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</a:rPr>
              <a:t>RNN sequence length: ~74–100:  </a:t>
            </a:r>
            <a:r>
              <a:rPr lang="en-US" sz="900" dirty="0">
                <a:solidFill>
                  <a:srgbClr val="334155"/>
                </a:solidFill>
              </a:rPr>
              <a:t>95th percentile at 74 chars guides max input length.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663440" y="4572000"/>
            <a:ext cx="4114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4663440" y="4572000"/>
            <a:ext cx="54864" cy="365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791456" y="4608576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</a:rPr>
              <a:t>por train imbalance: -137:  </a:t>
            </a:r>
            <a:r>
              <a:rPr lang="en-US" sz="900" dirty="0">
                <a:solidFill>
                  <a:srgbClr val="334155"/>
                </a:solidFill>
              </a:rPr>
              <a:t>Only affects train set. Dev set remains perfectly balanced.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LANGUAGE DISTRIBUTION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74904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</a:rPr>
              <a:t>Train: Nearly Balanced (por=9,863)  ·  Dev: Perfectly Balanced (1,000 each)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16300"/>
            <a:ext cx="5486400" cy="2979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89320" y="91440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</a:rPr>
              <a:t>Key Findings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89320" y="1234440"/>
            <a:ext cx="2788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989320" y="123444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44768" y="1289304"/>
            <a:ext cx="2587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</a:rPr>
              <a:t>9 × 10,000 sentences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44768" y="1517904"/>
            <a:ext cx="2587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All languages except Portuguese have exactly 10,000 training sentences.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89320" y="2002536"/>
            <a:ext cx="2788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989320" y="2002536"/>
            <a:ext cx="54864" cy="65836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144768" y="2057400"/>
            <a:ext cx="2587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</a:rPr>
              <a:t>por = 9,863 (train only)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144768" y="2286000"/>
            <a:ext cx="2587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137 fewer sentences. Dev set is perfectly balanced at 1,000 each.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89320" y="2770632"/>
            <a:ext cx="2788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989320" y="2770632"/>
            <a:ext cx="54864" cy="65836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44768" y="2825496"/>
            <a:ext cx="2587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</a:rPr>
              <a:t>Balanced → fair metric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144768" y="3054096"/>
            <a:ext cx="2587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Class balance means accuracy on the dev set is fully unbiased.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989320" y="3538728"/>
            <a:ext cx="2788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989320" y="3538728"/>
            <a:ext cx="54864" cy="6583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144768" y="3593592"/>
            <a:ext cx="2587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</a:rPr>
              <a:t>95th pct: ~74 chars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144768" y="3822192"/>
            <a:ext cx="2587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Sets the recommended max sequence length for RNN input.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20040" y="437083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Note: Dev set distribution identical — all 10 languages exactly 1,000 sentences.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SENTENCE LENGTH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74904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</a:rPr>
              <a:t>Box Plot (Log Scale) &amp; Histogram of Character Lengths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187" y="896112"/>
            <a:ext cx="2681387" cy="14630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1525" y="896112"/>
            <a:ext cx="2292949" cy="1463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0040" y="24505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</a:rPr>
              <a:t>Train Set Statistics (exact values from notebook)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651760"/>
          <a:ext cx="6903720" cy="2450591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27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Language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Mean Chars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Median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Std Dev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Max Chars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Mean Words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7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</a:rPr>
                        <a:t>ber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30.9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28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15.0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257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4.98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7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</a:rPr>
                        <a:t>deu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48.1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40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32.7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690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8.00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7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</a:rPr>
                        <a:t>eng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38.5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20.8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437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7.60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7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</a:rPr>
                        <a:t>epo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40.0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26.1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412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7.05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7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</a:rPr>
                        <a:t>fra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42.3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30.6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597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7.69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7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</a:rPr>
                        <a:t>hun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33.8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19.7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361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5.26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7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</a:rPr>
                        <a:t>ita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33.3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18.0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425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5.84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7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</a:rPr>
                        <a:t>por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38.1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91B1B"/>
                          </a:solidFill>
                        </a:rPr>
                        <a:t>63.5 ⚠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91B1B"/>
                          </a:solidFill>
                        </a:rPr>
                        <a:t>5,833 ⚠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6.98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7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</a:rPr>
                        <a:t>spa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38.6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25.0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576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7.01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7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</a:rPr>
                        <a:t>tur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34.5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15.1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313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4.99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CHARACTER N-GRAM FINGERPRINTING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62284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</a:rPr>
              <a:t>Top Bigrams per Language — Train Set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62952"/>
            <a:ext cx="8503920" cy="43805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LANGUAGE SIMILARITY HEATMAP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7915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</a:rPr>
              <a:t>Cosine Similarity of Character N-gram Vectors (1–3 grams)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56574"/>
            <a:ext cx="8503920" cy="36267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754880"/>
            <a:ext cx="850392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4754880"/>
            <a:ext cx="54864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5488" y="4782312"/>
            <a:ext cx="8275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</a:rPr>
              <a:t>Key: </a:t>
            </a:r>
            <a:r>
              <a:rPr lang="en-US" sz="950" dirty="0">
                <a:solidFill>
                  <a:srgbClr val="334155"/>
                </a:solidFill>
              </a:rPr>
              <a:t>spa–por=0.98 &amp; ita–por/spa=0.95 are the highest-similarity pairs (Romance confusion zone). ber is the most distinct language across all pairs. All Latin-script languages share ≥0.83 similarity — sequential RNN context is essential to separate them.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20040" y="4410791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Left: Train Set  ·  Right: Dev Set  ·  Values are consistent across both splits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t-SNE VISUALIZATION — TRAIN 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74904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</a:rPr>
              <a:t>2D Language Clusters  ·  1,000 Sentences per Language  ·  Perplexity=30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802" y="797170"/>
            <a:ext cx="4624395" cy="39136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741164"/>
            <a:ext cx="850392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4741164"/>
            <a:ext cx="54864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61772" y="4768596"/>
            <a:ext cx="8275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</a:rPr>
              <a:t>Observation:  </a:t>
            </a:r>
            <a:r>
              <a:rPr lang="en-US" sz="950" dirty="0">
                <a:solidFill>
                  <a:srgbClr val="334155"/>
                </a:solidFill>
              </a:rPr>
              <a:t>ber (red/top) and hun (yellow) form well-separated clusters. deu (blue) isolates on the right. The centre shows heavy overlap of Romance languages (spa/por/ita/fra) and epo — sequence-level context is needed to separate them.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t-SNE VISUALIZATION — DEV 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74904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</a:rPr>
              <a:t>2D Language Clusters  ·  1,000 Sentences per Language  ·  Perplexity=30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802" y="758093"/>
            <a:ext cx="4624395" cy="39136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734874"/>
            <a:ext cx="850392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4734874"/>
            <a:ext cx="54864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61772" y="4762306"/>
            <a:ext cx="8275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</a:rPr>
              <a:t>Observation:  </a:t>
            </a:r>
            <a:r>
              <a:rPr lang="en-US" sz="950" dirty="0">
                <a:solidFill>
                  <a:srgbClr val="334155"/>
                </a:solidFill>
              </a:rPr>
              <a:t>Dev cluster structure mirrors the train set — confirming dataset consistency. tur (red/bottom) is well-separated. eng (green) and deu (blue) cluster distinctly on the right. Romance languages remain interleaved in the centre.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CHARACTER ENTROPY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74904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</a:rPr>
              <a:t>Average Character Entropy per Language — Range: 2.54 to 2.69 bits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</a:rPr>
              <a:t>Train Set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812" y="1152144"/>
            <a:ext cx="4190695" cy="2487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09160" y="91440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</a:rPr>
              <a:t>Dev Set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932" y="1152144"/>
            <a:ext cx="4190695" cy="24871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3730752"/>
            <a:ext cx="420624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20040" y="3730752"/>
            <a:ext cx="54864" cy="3840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48056" y="3767328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</a:rPr>
              <a:t>Narrow range: 2.54–2.69 bits:  </a:t>
            </a:r>
            <a:r>
              <a:rPr lang="en-US" sz="900" dirty="0">
                <a:solidFill>
                  <a:srgbClr val="334155"/>
                </a:solidFill>
              </a:rPr>
              <a:t>Entropy alone is NOT a reliable discriminator — differences are tiny across all 10 languages.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754880" y="3730752"/>
            <a:ext cx="420624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754880" y="3730752"/>
            <a:ext cx="54864" cy="38404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882896" y="3767328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</a:rPr>
              <a:t>deu, tur, hun rank highest:  </a:t>
            </a:r>
            <a:r>
              <a:rPr lang="en-US" sz="900" dirty="0">
                <a:solidFill>
                  <a:srgbClr val="334155"/>
                </a:solidFill>
              </a:rPr>
              <a:t>More diverse character usage — wider unique character sets and more varied text structures.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20040" y="4178808"/>
            <a:ext cx="420624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20040" y="4178808"/>
            <a:ext cx="54864" cy="384048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48056" y="4215384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</a:rPr>
              <a:t>ber, ita rank lowest:  </a:t>
            </a:r>
            <a:r>
              <a:rPr lang="en-US" sz="900" dirty="0">
                <a:solidFill>
                  <a:srgbClr val="334155"/>
                </a:solidFill>
              </a:rPr>
              <a:t>Consistent character patterns. Consistent with their Romance/Berber frequency profiles.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754880" y="4178808"/>
            <a:ext cx="420624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754880" y="4178808"/>
            <a:ext cx="54864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882896" y="4215384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</a:rPr>
              <a:t>Train ≈ Dev distributions:  </a:t>
            </a:r>
            <a:r>
              <a:rPr lang="en-US" sz="900" dirty="0">
                <a:solidFill>
                  <a:srgbClr val="334155"/>
                </a:solidFill>
              </a:rPr>
              <a:t>Nearly identical ordering — confirms the train set is representative of the dev set.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UNIQUE CHARACTERS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0100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</a:rPr>
              <a:t>Language-Exclusive Character Frequency (Train Set)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726596"/>
            <a:ext cx="7783264" cy="40093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796028"/>
            <a:ext cx="850392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4796028"/>
            <a:ext cx="54864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5488" y="4838856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% texts with ≥1 unique char:  ber=73.5%  tur=72.3%  epo=45.9%  hun=17.1%  spa=15.2%  deu=7.5%  ita=5.1%  fra=1.6%  por=1.1%  eng=0.03%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UNICODE BLOCK DISTRIBUTION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67129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</a:rPr>
              <a:t>Script Block Analysis per Language (Train Set)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93459"/>
            <a:ext cx="7882629" cy="40605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796028"/>
            <a:ext cx="850392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4796028"/>
            <a:ext cx="54864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5488" y="480060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</a:rPr>
              <a:t>Key: </a:t>
            </a:r>
            <a:r>
              <a:rPr lang="en-US" sz="950" dirty="0">
                <a:solidFill>
                  <a:srgbClr val="334155"/>
                </a:solidFill>
              </a:rPr>
              <a:t>ber uses Greek/Coptic + Latin Extended (Tifinagh). deu/eng/epo/fra/hun: Latin + Latin-1. ita/por/spa: Latin-1 Supplement dominant. tur: unique Latin Extended-A (ş, ğ, ı). Script block alone can only cleanly isolate ber.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BASELINE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74904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</a:rPr>
              <a:t>Logistic Regression on Char N-grams (1–3)  ·  Dev Accuracy: 99.30%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03" y="914400"/>
            <a:ext cx="4528475" cy="4005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74920" y="84582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</a:rPr>
              <a:t>Classification Report (Dev Set)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223942"/>
              </p:ext>
            </p:extLst>
          </p:nvPr>
        </p:nvGraphicFramePr>
        <p:xfrm>
          <a:off x="5074920" y="1101852"/>
          <a:ext cx="3703320" cy="278891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35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Language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Prec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ber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deu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eng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epo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fra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hun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ita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por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spa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0.98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tur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74920" y="3991669"/>
            <a:ext cx="3703320" cy="2560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5074920" y="3991669"/>
            <a:ext cx="54864" cy="2560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230368" y="402328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744"/>
                </a:solidFill>
              </a:rPr>
              <a:t>ber, epo, tur — perfect 1.00 F1:  </a:t>
            </a:r>
            <a:r>
              <a:rPr lang="en-US" sz="850" dirty="0">
                <a:solidFill>
                  <a:srgbClr val="334155"/>
                </a:solidFill>
              </a:rPr>
              <a:t>Unique scripts/diacritics make these trivially classifiable.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5074920" y="4297251"/>
            <a:ext cx="3703320" cy="2560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074920" y="4306824"/>
            <a:ext cx="54864" cy="25603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230368" y="431589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744"/>
                </a:solidFill>
              </a:rPr>
              <a:t>por: 13 errors → predicted as spa:  </a:t>
            </a:r>
            <a:r>
              <a:rPr lang="en-US" sz="850" dirty="0">
                <a:solidFill>
                  <a:srgbClr val="334155"/>
                </a:solidFill>
              </a:rPr>
              <a:t>Highest confusion pair. Similarity = 0.98.</a:t>
            </a:r>
            <a:endParaRPr lang="en-US" sz="850" dirty="0"/>
          </a:p>
        </p:txBody>
      </p:sp>
      <p:sp>
        <p:nvSpPr>
          <p:cNvPr id="7" name="Shape 10"/>
          <p:cNvSpPr/>
          <p:nvPr/>
        </p:nvSpPr>
        <p:spPr>
          <a:xfrm>
            <a:off x="5074920" y="4629874"/>
            <a:ext cx="3703320" cy="2560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5074920" y="4629952"/>
            <a:ext cx="54864" cy="256032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230368" y="4644723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744"/>
                </a:solidFill>
              </a:rPr>
              <a:t>ita: 4→spa, 2→por — Romance triple:  </a:t>
            </a:r>
            <a:r>
              <a:rPr lang="en-US" sz="850" dirty="0">
                <a:solidFill>
                  <a:srgbClr val="334155"/>
                </a:solidFill>
              </a:rPr>
              <a:t>spa/por/ita account for almost the entire error budget.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074920" y="4924044"/>
            <a:ext cx="3703320" cy="21945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143500" y="492404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Config:  CountVectorizer(char, 1–3 grams)  +  LogisticRegression(max_iter=1000)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-365760"/>
            <a:ext cx="4114800" cy="41148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CONCLUSIONS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Key EDA Takeaways &amp;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RNN Design Implications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8412480" cy="58521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54864" cy="58521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673352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673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618488"/>
            <a:ext cx="7790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ber (73.5%) &amp; tur (72.3%) trivially classifiable via unique characters: 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847088"/>
            <a:ext cx="7790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</a:rPr>
              <a:t>Tifinagh script and Turkish diacritics (ı, ş, İ) act as immediate class signals — no sequence model needed for these two.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212848"/>
            <a:ext cx="8412480" cy="58521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212848"/>
            <a:ext cx="54864" cy="585216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276856"/>
            <a:ext cx="7790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spa–por similarity = 0.98 — the core classification challenge: 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2505456"/>
            <a:ext cx="7790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</a:rPr>
              <a:t>Only 13 mutual errors from logistic regression. The RNN must exploit sequential patterns to push this lower.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871216"/>
            <a:ext cx="8412480" cy="58521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2871216"/>
            <a:ext cx="54864" cy="5852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990088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990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2935224"/>
            <a:ext cx="7790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Baseline: 99.30% exact dev accuracy (char 1–3 grams + LogReg): 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3163824"/>
            <a:ext cx="7790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</a:rPr>
              <a:t>The performance bar. RNN target: match or exceed, specifically improving the Romance language confusion.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529584"/>
            <a:ext cx="8412480" cy="58521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529584"/>
            <a:ext cx="54864" cy="58521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648456"/>
            <a:ext cx="310896" cy="310896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3593592"/>
            <a:ext cx="7790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Entropy range 2.54–2.69 bits — nearly uniform across all languages: 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68680" y="3822192"/>
            <a:ext cx="7790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</a:rPr>
              <a:t>Frequency features have limited power for similar languages. Sequence context matters more than character counts.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187952"/>
            <a:ext cx="8412480" cy="58521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65760" y="4187952"/>
            <a:ext cx="54864" cy="58521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" y="4306824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8680" y="4251960"/>
            <a:ext cx="7790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Architecture: char embeddings + RNN, vocab=178, seq length ~74–100 chars: 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80560"/>
            <a:ext cx="7790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</a:rPr>
              <a:t>Character-level input captures script and bigram signals. 95th pct at 74 chars sets the practical input length.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Circle"/>
          <p:cNvSpPr/>
          <p:nvPr/>
        </p:nvSpPr>
        <p:spPr>
          <a:xfrm>
            <a:off x="6400800" y="-365760"/>
            <a:ext cx="4114800" cy="41148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Label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WEEK 4 -- RNN ARCHITECTURE PROPOSAL</a:t>
            </a:r>
          </a:p>
        </p:txBody>
      </p:sp>
      <p:sp>
        <p:nvSpPr>
          <p:cNvPr id="5" name="MainTitle"/>
          <p:cNvSpPr/>
          <p:nvPr/>
        </p:nvSpPr>
        <p:spPr>
          <a:xfrm>
            <a:off x="457200" y="4572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Proposed RNN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0D9488"/>
                </a:solidFill>
              </a:rPr>
              <a:t>Architecture</a:t>
            </a:r>
          </a:p>
        </p:txBody>
      </p:sp>
      <p:sp>
        <p:nvSpPr>
          <p:cNvPr id="6" name="Subtitle"/>
          <p:cNvSpPr/>
          <p:nvPr/>
        </p:nvSpPr>
        <p:spPr>
          <a:xfrm>
            <a:off x="457200" y="1645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0" dirty="0">
                <a:solidFill>
                  <a:srgbClr val="94A3B8"/>
                </a:solidFill>
              </a:rPr>
              <a:t>Character-Level</a:t>
            </a:r>
            <a:r>
              <a:rPr lang="th-TH" sz="1600" b="0" dirty="0">
                <a:solidFill>
                  <a:srgbClr val="94A3B8"/>
                </a:solidFill>
              </a:rPr>
              <a:t> </a:t>
            </a:r>
            <a:r>
              <a:rPr lang="en-US" sz="1600" b="0" dirty="0" err="1">
                <a:solidFill>
                  <a:srgbClr val="94A3B8"/>
                </a:solidFill>
              </a:rPr>
              <a:t>BiLSTM</a:t>
            </a:r>
            <a:r>
              <a:rPr lang="en-US" sz="1600" b="0" dirty="0">
                <a:solidFill>
                  <a:srgbClr val="94A3B8"/>
                </a:solidFill>
              </a:rPr>
              <a:t> for 10-Class Language Classification</a:t>
            </a:r>
          </a:p>
        </p:txBody>
      </p:sp>
      <p:sp>
        <p:nvSpPr>
          <p:cNvPr id="7" name="Chip1"/>
          <p:cNvSpPr/>
          <p:nvPr/>
        </p:nvSpPr>
        <p:spPr>
          <a:xfrm>
            <a:off x="457200" y="4389120"/>
            <a:ext cx="1371600" cy="457200"/>
          </a:xfrm>
          <a:prstGeom prst="roundRect">
            <a:avLst>
              <a:gd name="adj" fmla="val 16667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0D9488"/>
                </a:solidFill>
              </a:rPr>
              <a:t>PyTorch</a:t>
            </a:r>
            <a:r>
              <a:rPr lang="en-US" sz="1100" b="1" dirty="0">
                <a:solidFill>
                  <a:srgbClr val="0D9488"/>
                </a:solidFill>
              </a:rPr>
              <a:t> </a:t>
            </a:r>
            <a:r>
              <a:rPr lang="en-US" sz="1100" b="1" dirty="0" err="1">
                <a:solidFill>
                  <a:srgbClr val="0D9488"/>
                </a:solidFill>
              </a:rPr>
              <a:t>BiLSTM</a:t>
            </a:r>
            <a:endParaRPr lang="en-US" sz="1100" b="1" dirty="0">
              <a:solidFill>
                <a:srgbClr val="0D9488"/>
              </a:solidFill>
            </a:endParaRPr>
          </a:p>
        </p:txBody>
      </p:sp>
      <p:sp>
        <p:nvSpPr>
          <p:cNvPr id="8" name="Chip2"/>
          <p:cNvSpPr/>
          <p:nvPr/>
        </p:nvSpPr>
        <p:spPr>
          <a:xfrm>
            <a:off x="1920240" y="4389120"/>
            <a:ext cx="1554480" cy="457200"/>
          </a:xfrm>
          <a:prstGeom prst="roundRect">
            <a:avLst>
              <a:gd name="adj" fmla="val 16667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Char-Level Input</a:t>
            </a:r>
          </a:p>
        </p:txBody>
      </p:sp>
      <p:sp>
        <p:nvSpPr>
          <p:cNvPr id="9" name="Chip3"/>
          <p:cNvSpPr/>
          <p:nvPr/>
        </p:nvSpPr>
        <p:spPr>
          <a:xfrm>
            <a:off x="3565080" y="4389120"/>
            <a:ext cx="1462320" cy="457200"/>
          </a:xfrm>
          <a:prstGeom prst="roundRect">
            <a:avLst>
              <a:gd name="adj" fmla="val 16667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10 Languages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Label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RNN ARCHITECTURE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</a:rPr>
              <a:t>Input Formulation: Char-Level vs. Word-Level</a:t>
            </a:r>
          </a:p>
        </p:txBody>
      </p:sp>
      <p:sp>
        <p:nvSpPr>
          <p:cNvPr id="5" name="Sub"/>
          <p:cNvSpPr/>
          <p:nvPr/>
        </p:nvSpPr>
        <p:spPr>
          <a:xfrm>
            <a:off x="457200" y="960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0" dirty="0">
                <a:solidFill>
                  <a:srgbClr val="64748B"/>
                </a:solidFill>
              </a:rPr>
              <a:t>The critical design decision -- why characters, not words, are the right input for this task</a:t>
            </a:r>
          </a:p>
        </p:txBody>
      </p:sp>
      <p:sp>
        <p:nvSpPr>
          <p:cNvPr id="6" name="CardLeft"/>
          <p:cNvSpPr/>
          <p:nvPr/>
        </p:nvSpPr>
        <p:spPr>
          <a:xfrm>
            <a:off x="457200" y="1280160"/>
            <a:ext cx="3840480" cy="356616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LeftHead"/>
          <p:cNvSpPr/>
          <p:nvPr/>
        </p:nvSpPr>
        <p:spPr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0AF"/>
                </a:solidFill>
              </a:rPr>
              <a:t>Sentiment Analysis</a:t>
            </a:r>
          </a:p>
          <a:p>
            <a:pPr marL="0" indent="0">
              <a:buNone/>
            </a:pPr>
            <a:r>
              <a:rPr lang="en-US" sz="1300" b="0" dirty="0">
                <a:solidFill>
                  <a:srgbClr val="3B82F6"/>
                </a:solidFill>
              </a:rPr>
              <a:t>Word-Level Input</a:t>
            </a:r>
          </a:p>
        </p:txBody>
      </p:sp>
      <p:sp>
        <p:nvSpPr>
          <p:cNvPr id="8" name="LeftBody"/>
          <p:cNvSpPr/>
          <p:nvPr/>
        </p:nvSpPr>
        <p:spPr>
          <a:xfrm>
            <a:off x="548640" y="17373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1800"/>
              </a:lnSpc>
              <a:buChar char="▶"/>
            </a:pPr>
            <a:r>
              <a:rPr lang="en-US" sz="1300" b="1" dirty="0">
                <a:solidFill>
                  <a:srgbClr val="1E3A8A"/>
                </a:solidFill>
              </a:rPr>
              <a:t>Input unit: </a:t>
            </a:r>
            <a:r>
              <a:rPr lang="en-US" sz="1300" b="0" dirty="0">
                <a:solidFill>
                  <a:srgbClr val="1E3A8A"/>
                </a:solidFill>
              </a:rPr>
              <a:t>Full words (tokens)</a:t>
            </a:r>
          </a:p>
          <a:p>
            <a:pPr marL="228600" indent="-228600">
              <a:lnSpc>
                <a:spcPts val="1800"/>
              </a:lnSpc>
              <a:buChar char="▶"/>
            </a:pPr>
            <a:r>
              <a:rPr lang="en-US" sz="1300" b="1" dirty="0">
                <a:solidFill>
                  <a:srgbClr val="1E3A8A"/>
                </a:solidFill>
              </a:rPr>
              <a:t>Embeddings: </a:t>
            </a:r>
            <a:r>
              <a:rPr lang="en-US" sz="1300" b="0" dirty="0">
                <a:solidFill>
                  <a:srgbClr val="1E3A8A"/>
                </a:solidFill>
              </a:rPr>
              <a:t>Word2Vec / GloVe (dim 300)</a:t>
            </a:r>
          </a:p>
          <a:p>
            <a:pPr marL="228600" indent="-228600">
              <a:lnSpc>
                <a:spcPts val="1800"/>
              </a:lnSpc>
              <a:buChar char="▶"/>
            </a:pPr>
            <a:r>
              <a:rPr lang="en-US" sz="1300" b="1" dirty="0">
                <a:solidFill>
                  <a:srgbClr val="1E3A8A"/>
                </a:solidFill>
              </a:rPr>
              <a:t>Signal: </a:t>
            </a:r>
            <a:r>
              <a:rPr lang="en-US" sz="1300" b="0" dirty="0">
                <a:solidFill>
                  <a:srgbClr val="1E3A8A"/>
                </a:solidFill>
              </a:rPr>
              <a:t>Semantic meaning (happy, terrible)</a:t>
            </a:r>
          </a:p>
          <a:p>
            <a:pPr marL="228600" indent="-228600">
              <a:lnSpc>
                <a:spcPts val="1800"/>
              </a:lnSpc>
              <a:buChar char="▶"/>
            </a:pPr>
            <a:r>
              <a:rPr lang="en-US" sz="1300" b="1" dirty="0">
                <a:solidFill>
                  <a:srgbClr val="1E3A8A"/>
                </a:solidFill>
              </a:rPr>
              <a:t>Vocab size: </a:t>
            </a:r>
            <a:r>
              <a:rPr lang="en-US" sz="1300" b="0" dirty="0">
                <a:solidFill>
                  <a:srgbClr val="1E3A8A"/>
                </a:solidFill>
              </a:rPr>
              <a:t>Tens of thousands of words</a:t>
            </a:r>
          </a:p>
          <a:p>
            <a:pPr marL="228600" indent="-228600">
              <a:lnSpc>
                <a:spcPts val="1800"/>
              </a:lnSpc>
              <a:buChar char="▶"/>
            </a:pPr>
            <a:r>
              <a:rPr lang="en-US" sz="1300" b="1" dirty="0">
                <a:solidFill>
                  <a:srgbClr val="1E3A8A"/>
                </a:solidFill>
              </a:rPr>
              <a:t>OOV risk: </a:t>
            </a:r>
            <a:r>
              <a:rPr lang="en-US" sz="1300" b="0" dirty="0">
                <a:solidFill>
                  <a:srgbClr val="1E3A8A"/>
                </a:solidFill>
              </a:rPr>
              <a:t>High -- typos or rare words unseen</a:t>
            </a:r>
          </a:p>
        </p:txBody>
      </p:sp>
      <p:sp>
        <p:nvSpPr>
          <p:cNvPr id="9" name="CardRight"/>
          <p:cNvSpPr/>
          <p:nvPr/>
        </p:nvSpPr>
        <p:spPr>
          <a:xfrm>
            <a:off x="4846320" y="1280160"/>
            <a:ext cx="3840480" cy="3566160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ightHead"/>
          <p:cNvSpPr/>
          <p:nvPr/>
        </p:nvSpPr>
        <p:spPr>
          <a:xfrm>
            <a:off x="493776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Language Detection</a:t>
            </a:r>
          </a:p>
          <a:p>
            <a:pPr marL="0" indent="0">
              <a:buNone/>
            </a:pPr>
            <a:r>
              <a:rPr lang="en-US" sz="1300" b="0" dirty="0">
                <a:solidFill>
                  <a:srgbClr val="0D9488"/>
                </a:solidFill>
              </a:rPr>
              <a:t>Character-Level Input  (our approach)</a:t>
            </a:r>
          </a:p>
        </p:txBody>
      </p:sp>
      <p:sp>
        <p:nvSpPr>
          <p:cNvPr id="11" name="RightBody"/>
          <p:cNvSpPr/>
          <p:nvPr/>
        </p:nvSpPr>
        <p:spPr>
          <a:xfrm>
            <a:off x="4937760" y="17373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1800"/>
              </a:lnSpc>
              <a:buChar char="✓"/>
            </a:pPr>
            <a:r>
              <a:rPr lang="en-US" sz="1300" b="1" dirty="0">
                <a:solidFill>
                  <a:srgbClr val="0F5145"/>
                </a:solidFill>
              </a:rPr>
              <a:t>Input unit: </a:t>
            </a:r>
            <a:r>
              <a:rPr lang="en-US" sz="1300" b="0" dirty="0">
                <a:solidFill>
                  <a:srgbClr val="0F5145"/>
                </a:solidFill>
              </a:rPr>
              <a:t>Individual characters</a:t>
            </a:r>
          </a:p>
          <a:p>
            <a:pPr marL="228600" indent="-228600">
              <a:lnSpc>
                <a:spcPts val="1800"/>
              </a:lnSpc>
              <a:buChar char="✓"/>
            </a:pPr>
            <a:r>
              <a:rPr lang="en-US" sz="1300" b="1" dirty="0">
                <a:solidFill>
                  <a:srgbClr val="0F5145"/>
                </a:solidFill>
              </a:rPr>
              <a:t>Embeddings: </a:t>
            </a:r>
            <a:r>
              <a:rPr lang="en-US" sz="1300" b="0" dirty="0">
                <a:solidFill>
                  <a:srgbClr val="0F5145"/>
                </a:solidFill>
              </a:rPr>
              <a:t>Learned char vectors (dim 32)</a:t>
            </a:r>
          </a:p>
          <a:p>
            <a:pPr marL="228600" indent="-228600">
              <a:lnSpc>
                <a:spcPts val="1800"/>
              </a:lnSpc>
              <a:buChar char="✓"/>
            </a:pPr>
            <a:r>
              <a:rPr lang="en-US" sz="1300" b="1" dirty="0">
                <a:solidFill>
                  <a:srgbClr val="0F5145"/>
                </a:solidFill>
              </a:rPr>
              <a:t>Signal: </a:t>
            </a:r>
            <a:r>
              <a:rPr lang="en-US" sz="1300" b="0" dirty="0">
                <a:solidFill>
                  <a:srgbClr val="0F5145"/>
                </a:solidFill>
              </a:rPr>
              <a:t>Script patterns, morphology, n-grams</a:t>
            </a:r>
          </a:p>
          <a:p>
            <a:pPr marL="228600" indent="-228600">
              <a:lnSpc>
                <a:spcPts val="1800"/>
              </a:lnSpc>
              <a:buChar char="✓"/>
            </a:pPr>
            <a:r>
              <a:rPr lang="en-US" sz="1300" b="1" dirty="0">
                <a:solidFill>
                  <a:srgbClr val="0F5145"/>
                </a:solidFill>
              </a:rPr>
              <a:t>Vocab size: </a:t>
            </a:r>
            <a:r>
              <a:rPr lang="en-US" sz="1300" b="0" dirty="0">
                <a:solidFill>
                  <a:srgbClr val="0F5145"/>
                </a:solidFill>
              </a:rPr>
              <a:t>Only ~178 unique characters (EDA)</a:t>
            </a:r>
          </a:p>
          <a:p>
            <a:pPr marL="228600" indent="-228600">
              <a:lnSpc>
                <a:spcPts val="1800"/>
              </a:lnSpc>
              <a:buChar char="✓"/>
            </a:pPr>
            <a:r>
              <a:rPr lang="en-US" sz="1300" b="1" dirty="0">
                <a:solidFill>
                  <a:srgbClr val="0F5145"/>
                </a:solidFill>
              </a:rPr>
              <a:t>OOV risk: </a:t>
            </a:r>
            <a:r>
              <a:rPr lang="en-US" sz="1300" b="0" dirty="0">
                <a:solidFill>
                  <a:srgbClr val="0F5145"/>
                </a:solidFill>
              </a:rPr>
              <a:t>Minimal -- robust to typos and new words</a:t>
            </a:r>
          </a:p>
        </p:txBody>
      </p:sp>
      <p:sp>
        <p:nvSpPr>
          <p:cNvPr id="12" name="VS"/>
          <p:cNvSpPr/>
          <p:nvPr/>
        </p:nvSpPr>
        <p:spPr>
          <a:xfrm>
            <a:off x="4389120" y="2194560"/>
            <a:ext cx="457200" cy="457200"/>
          </a:xfrm>
          <a:prstGeom prst="ellipse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Label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BILSTM ARCHITECTURE  --  MOTIVATION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</a:rPr>
              <a:t>Why BiLSTM? Unidirectional LSTM vs. Bidirectional LSTM</a:t>
            </a:r>
          </a:p>
        </p:txBody>
      </p:sp>
      <p:sp>
        <p:nvSpPr>
          <p:cNvPr id="5" name="Sub"/>
          <p:cNvSpPr/>
          <p:nvPr/>
        </p:nvSpPr>
        <p:spPr>
          <a:xfrm>
            <a:off x="457200" y="960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0" dirty="0">
                <a:solidFill>
                  <a:srgbClr val="64748B"/>
                </a:solidFill>
              </a:rPr>
              <a:t>Current LSTM reads left-to-right only -- BiLSTM captures context from both directions simultaneously</a:t>
            </a:r>
          </a:p>
        </p:txBody>
      </p:sp>
      <p:sp>
        <p:nvSpPr>
          <p:cNvPr id="6" name="CardLeft"/>
          <p:cNvSpPr/>
          <p:nvPr/>
        </p:nvSpPr>
        <p:spPr>
          <a:xfrm>
            <a:off x="457200" y="1280160"/>
            <a:ext cx="3840480" cy="356616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LeftHead"/>
          <p:cNvSpPr/>
          <p:nvPr/>
        </p:nvSpPr>
        <p:spPr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0AF"/>
                </a:solidFill>
              </a:rPr>
              <a:t>LSTM (Current)</a:t>
            </a:r>
          </a:p>
          <a:p>
            <a:pPr marL="0" indent="0">
              <a:buNone/>
            </a:pPr>
            <a:r>
              <a:rPr lang="en-US" sz="1300" b="0" dirty="0">
                <a:solidFill>
                  <a:srgbClr val="3B82F6"/>
                </a:solidFill>
              </a:rPr>
              <a:t>Unidirectional -- Left to Right</a:t>
            </a:r>
          </a:p>
        </p:txBody>
      </p:sp>
      <p:sp>
        <p:nvSpPr>
          <p:cNvPr id="8" name="LeftBody"/>
          <p:cNvSpPr/>
          <p:nvPr/>
        </p:nvSpPr>
        <p:spPr>
          <a:xfrm>
            <a:off x="548640" y="17373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1800"/>
              </a:lnSpc>
              <a:buChar char="▶"/>
            </a:pPr>
            <a:r>
              <a:rPr lang="en-US" sz="1300" b="1" dirty="0">
                <a:solidFill>
                  <a:srgbClr val="1E3A8A"/>
                </a:solidFill>
              </a:rPr>
              <a:t>Direction: </a:t>
            </a:r>
            <a:r>
              <a:rPr lang="en-US" sz="1300" b="0" dirty="0">
                <a:solidFill>
                  <a:srgbClr val="1E3A8A"/>
                </a:solidFill>
              </a:rPr>
              <a:t>Left-to-right only</a:t>
            </a:r>
          </a:p>
          <a:p>
            <a:pPr marL="228600" indent="-228600">
              <a:lnSpc>
                <a:spcPts val="1800"/>
              </a:lnSpc>
              <a:buChar char="▶"/>
            </a:pPr>
            <a:r>
              <a:rPr lang="en-US" sz="1300" b="1" dirty="0">
                <a:solidFill>
                  <a:srgbClr val="1E3A8A"/>
                </a:solidFill>
              </a:rPr>
              <a:t>Hidden state: </a:t>
            </a:r>
            <a:r>
              <a:rPr lang="en-US" sz="1300" b="0" dirty="0">
                <a:solidFill>
                  <a:srgbClr val="1E3A8A"/>
                </a:solidFill>
              </a:rPr>
              <a:t>128-dim output</a:t>
            </a:r>
          </a:p>
          <a:p>
            <a:pPr marL="228600" indent="-228600">
              <a:lnSpc>
                <a:spcPts val="1800"/>
              </a:lnSpc>
              <a:buChar char="▶"/>
            </a:pPr>
            <a:r>
              <a:rPr lang="en-US" sz="1300" b="1" dirty="0">
                <a:solidFill>
                  <a:srgbClr val="1E3A8A"/>
                </a:solidFill>
              </a:rPr>
              <a:t>Limitation: </a:t>
            </a:r>
            <a:r>
              <a:rPr lang="en-US" sz="1300" b="0" dirty="0">
                <a:solidFill>
                  <a:srgbClr val="1E3A8A"/>
                </a:solidFill>
              </a:rPr>
              <a:t>Decides class before seeing suffix context</a:t>
            </a:r>
          </a:p>
          <a:p>
            <a:pPr marL="228600" indent="-228600">
              <a:lnSpc>
                <a:spcPts val="1800"/>
              </a:lnSpc>
              <a:buChar char="▶"/>
            </a:pPr>
            <a:r>
              <a:rPr lang="en-US" sz="1300" b="1" dirty="0">
                <a:solidFill>
                  <a:srgbClr val="1E3A8A"/>
                </a:solidFill>
              </a:rPr>
              <a:t>Romance problem: </a:t>
            </a:r>
            <a:r>
              <a:rPr lang="en-US" sz="1300" b="0" dirty="0">
                <a:solidFill>
                  <a:srgbClr val="1E3A8A"/>
                </a:solidFill>
              </a:rPr>
              <a:t>spa-por similarity 0.98, needs both ends</a:t>
            </a:r>
          </a:p>
          <a:p>
            <a:pPr marL="228600" indent="-228600">
              <a:lnSpc>
                <a:spcPts val="1800"/>
              </a:lnSpc>
              <a:buChar char="▶"/>
            </a:pPr>
            <a:r>
              <a:rPr lang="en-US" sz="1300" b="1" dirty="0">
                <a:solidFill>
                  <a:srgbClr val="1E3A8A"/>
                </a:solidFill>
              </a:rPr>
              <a:t>Result: </a:t>
            </a:r>
            <a:r>
              <a:rPr lang="en-US" sz="1300" b="0" dirty="0">
                <a:solidFill>
                  <a:srgbClr val="1E3A8A"/>
                </a:solidFill>
              </a:rPr>
              <a:t>98.12% -- below 99.30% baseline</a:t>
            </a:r>
          </a:p>
        </p:txBody>
      </p:sp>
      <p:sp>
        <p:nvSpPr>
          <p:cNvPr id="9" name="CardRight"/>
          <p:cNvSpPr/>
          <p:nvPr/>
        </p:nvSpPr>
        <p:spPr>
          <a:xfrm>
            <a:off x="4846320" y="1280160"/>
            <a:ext cx="3840480" cy="3566160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ightHead"/>
          <p:cNvSpPr/>
          <p:nvPr/>
        </p:nvSpPr>
        <p:spPr>
          <a:xfrm>
            <a:off x="493776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BiLSTM (Proposed)</a:t>
            </a:r>
          </a:p>
          <a:p>
            <a:pPr marL="0" indent="0">
              <a:buNone/>
            </a:pPr>
            <a:r>
              <a:rPr lang="en-US" sz="1300" b="0" dirty="0">
                <a:solidFill>
                  <a:srgbClr val="0D9488"/>
                </a:solidFill>
              </a:rPr>
              <a:t>Bidirectional -- Both Directions</a:t>
            </a:r>
          </a:p>
        </p:txBody>
      </p:sp>
      <p:sp>
        <p:nvSpPr>
          <p:cNvPr id="11" name="RightBody"/>
          <p:cNvSpPr/>
          <p:nvPr/>
        </p:nvSpPr>
        <p:spPr>
          <a:xfrm>
            <a:off x="4937760" y="17373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1800"/>
              </a:lnSpc>
              <a:buChar char="✓"/>
            </a:pPr>
            <a:r>
              <a:rPr lang="en-US" sz="1300" b="1" dirty="0">
                <a:solidFill>
                  <a:srgbClr val="0F5145"/>
                </a:solidFill>
              </a:rPr>
              <a:t>Direction: </a:t>
            </a:r>
            <a:r>
              <a:rPr lang="en-US" sz="1300" b="0" dirty="0">
                <a:solidFill>
                  <a:srgbClr val="0F5145"/>
                </a:solidFill>
              </a:rPr>
              <a:t>Forward + Backward simultaneously</a:t>
            </a:r>
          </a:p>
          <a:p>
            <a:pPr marL="228600" indent="-228600">
              <a:lnSpc>
                <a:spcPts val="1800"/>
              </a:lnSpc>
              <a:buChar char="✓"/>
            </a:pPr>
            <a:r>
              <a:rPr lang="en-US" sz="1300" b="1" dirty="0">
                <a:solidFill>
                  <a:srgbClr val="0F5145"/>
                </a:solidFill>
              </a:rPr>
              <a:t>Hidden state: </a:t>
            </a:r>
            <a:r>
              <a:rPr lang="en-US" sz="1300" b="0" dirty="0">
                <a:solidFill>
                  <a:srgbClr val="0F5145"/>
                </a:solidFill>
              </a:rPr>
              <a:t>256-dim (128 fwd + 128 bwd concatenated)</a:t>
            </a:r>
          </a:p>
          <a:p>
            <a:pPr marL="228600" indent="-228600">
              <a:lnSpc>
                <a:spcPts val="1800"/>
              </a:lnSpc>
              <a:buChar char="✓"/>
            </a:pPr>
            <a:r>
              <a:rPr lang="en-US" sz="1300" b="1" dirty="0">
                <a:solidFill>
                  <a:srgbClr val="0F5145"/>
                </a:solidFill>
              </a:rPr>
              <a:t>Context: </a:t>
            </a:r>
            <a:r>
              <a:rPr lang="en-US" sz="1300" b="0" dirty="0">
                <a:solidFill>
                  <a:srgbClr val="0F5145"/>
                </a:solidFill>
              </a:rPr>
              <a:t>Sees prefix AND suffix before classifying</a:t>
            </a:r>
          </a:p>
          <a:p>
            <a:pPr marL="228600" indent="-228600">
              <a:lnSpc>
                <a:spcPts val="1800"/>
              </a:lnSpc>
              <a:buChar char="✓"/>
            </a:pPr>
            <a:r>
              <a:rPr lang="en-US" sz="1300" b="1" dirty="0">
                <a:solidFill>
                  <a:srgbClr val="0F5145"/>
                </a:solidFill>
              </a:rPr>
              <a:t>Romance fix: </a:t>
            </a:r>
            <a:r>
              <a:rPr lang="en-US" sz="1300" b="0" dirty="0">
                <a:solidFill>
                  <a:srgbClr val="0F5145"/>
                </a:solidFill>
              </a:rPr>
              <a:t>Turkish diacritics and Tifinagh fully captured</a:t>
            </a:r>
          </a:p>
          <a:p>
            <a:pPr marL="228600" indent="-228600">
              <a:lnSpc>
                <a:spcPts val="1800"/>
              </a:lnSpc>
              <a:buChar char="✓"/>
            </a:pPr>
            <a:r>
              <a:rPr lang="en-US" sz="1300" b="1" dirty="0">
                <a:solidFill>
                  <a:srgbClr val="0F5145"/>
                </a:solidFill>
              </a:rPr>
              <a:t>Target: </a:t>
            </a:r>
            <a:r>
              <a:rPr lang="en-US" sz="1300" b="0" dirty="0">
                <a:solidFill>
                  <a:srgbClr val="0F5145"/>
                </a:solidFill>
              </a:rPr>
              <a:t>Exceed 99.30% LogReg baseline</a:t>
            </a:r>
          </a:p>
        </p:txBody>
      </p:sp>
      <p:sp>
        <p:nvSpPr>
          <p:cNvPr id="12" name="VS"/>
          <p:cNvSpPr/>
          <p:nvPr/>
        </p:nvSpPr>
        <p:spPr>
          <a:xfrm>
            <a:off x="4389120" y="2194560"/>
            <a:ext cx="457200" cy="457200"/>
          </a:xfrm>
          <a:prstGeom prst="ellipse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</a:rPr>
              <a:t>Model Architecture: Char Embedding → BiLSTM → Linear Classifier</a:t>
            </a:r>
          </a:p>
        </p:txBody>
      </p:sp>
      <p:sp>
        <p:nvSpPr>
          <p:cNvPr id="5" name="Box1"/>
          <p:cNvSpPr/>
          <p:nvPr/>
        </p:nvSpPr>
        <p:spPr>
          <a:xfrm>
            <a:off x="457200" y="1005840"/>
            <a:ext cx="1828800" cy="77724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INPUT</a:t>
            </a:r>
          </a:p>
          <a:p>
            <a:pPr marL="0" indent="0" algn="ctr">
              <a:buNone/>
            </a:pPr>
            <a:r>
              <a:rPr lang="en-US" sz="1100" b="0" dirty="0">
                <a:solidFill>
                  <a:srgbClr val="CBD5E1"/>
                </a:solidFill>
              </a:rPr>
              <a:t>Character sequence</a:t>
            </a:r>
          </a:p>
          <a:p>
            <a:pPr marL="0" indent="0" algn="ctr">
              <a:buNone/>
            </a:pPr>
            <a:r>
              <a:rPr lang="en-US" sz="1000" b="0" dirty="0">
                <a:solidFill>
                  <a:srgbClr val="64748B"/>
                </a:solidFill>
              </a:rPr>
              <a:t>max_len=150 chars</a:t>
            </a:r>
          </a:p>
        </p:txBody>
      </p:sp>
      <p:sp>
        <p:nvSpPr>
          <p:cNvPr id="6" name="Arr1"/>
          <p:cNvSpPr/>
          <p:nvPr/>
        </p:nvSpPr>
        <p:spPr>
          <a:xfrm>
            <a:off x="2332800" y="1325880"/>
            <a:ext cx="320040" cy="137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Box2"/>
          <p:cNvSpPr/>
          <p:nvPr/>
        </p:nvSpPr>
        <p:spPr>
          <a:xfrm>
            <a:off x="2697840" y="1005840"/>
            <a:ext cx="1828800" cy="77724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EMBEDDING</a:t>
            </a:r>
          </a:p>
          <a:p>
            <a:pPr marL="0" indent="0" algn="ctr">
              <a:buNone/>
            </a:pPr>
            <a:r>
              <a:rPr lang="en-US" sz="1100" b="0" dirty="0">
                <a:solidFill>
                  <a:srgbClr val="CCFBF1"/>
                </a:solidFill>
              </a:rPr>
              <a:t>nn.Embedding</a:t>
            </a:r>
          </a:p>
          <a:p>
            <a:pPr marL="0" indent="0" algn="ctr">
              <a:buNone/>
            </a:pPr>
            <a:r>
              <a:rPr lang="en-US" sz="1000" b="0" dirty="0">
                <a:solidFill>
                  <a:srgbClr val="CCFBF1"/>
                </a:solidFill>
              </a:rPr>
              <a:t>vocab=150, dim=32</a:t>
            </a:r>
          </a:p>
        </p:txBody>
      </p:sp>
      <p:sp>
        <p:nvSpPr>
          <p:cNvPr id="8" name="Arr2"/>
          <p:cNvSpPr/>
          <p:nvPr/>
        </p:nvSpPr>
        <p:spPr>
          <a:xfrm>
            <a:off x="4572960" y="1325880"/>
            <a:ext cx="320040" cy="137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Box3"/>
          <p:cNvSpPr/>
          <p:nvPr/>
        </p:nvSpPr>
        <p:spPr>
          <a:xfrm>
            <a:off x="4938000" y="1005840"/>
            <a:ext cx="1828800" cy="777240"/>
          </a:xfrm>
          <a:prstGeom prst="rect">
            <a:avLst/>
          </a:prstGeom>
          <a:solidFill>
            <a:srgbClr val="0F514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BiLSTM LAYER</a:t>
            </a:r>
          </a:p>
          <a:p>
            <a:pPr marL="0" indent="0" algn="ctr">
              <a:buNone/>
            </a:pPr>
            <a:r>
              <a:rPr lang="en-US" sz="1100" b="0" dirty="0">
                <a:solidFill>
                  <a:srgbClr val="CCFBF1"/>
                </a:solidFill>
              </a:rPr>
              <a:t>nn.LSTM</a:t>
            </a:r>
          </a:p>
          <a:p>
            <a:pPr marL="0" indent="0" algn="ctr">
              <a:buNone/>
            </a:pPr>
            <a:r>
              <a:rPr lang="en-US" sz="1000" b="0" dirty="0">
                <a:solidFill>
                  <a:srgbClr val="CCFBF1"/>
                </a:solidFill>
              </a:rPr>
              <a:t>bidirectional=True</a:t>
            </a:r>
          </a:p>
        </p:txBody>
      </p:sp>
      <p:sp>
        <p:nvSpPr>
          <p:cNvPr id="10" name="Arr3"/>
          <p:cNvSpPr/>
          <p:nvPr/>
        </p:nvSpPr>
        <p:spPr>
          <a:xfrm>
            <a:off x="6813000" y="1325880"/>
            <a:ext cx="320040" cy="137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Box4"/>
          <p:cNvSpPr/>
          <p:nvPr/>
        </p:nvSpPr>
        <p:spPr>
          <a:xfrm>
            <a:off x="7178040" y="1005840"/>
            <a:ext cx="1508760" cy="77724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OUTPUT</a:t>
            </a:r>
          </a:p>
          <a:p>
            <a:pPr marL="0" indent="0" algn="ctr">
              <a:buNone/>
            </a:pPr>
            <a:r>
              <a:rPr lang="en-US" sz="1100" b="0" dirty="0">
                <a:solidFill>
                  <a:srgbClr val="CBD5E1"/>
                </a:solidFill>
              </a:rPr>
              <a:t>nn.Linear</a:t>
            </a:r>
          </a:p>
          <a:p>
            <a:pPr marL="0" indent="0" algn="ctr">
              <a:buNone/>
            </a:pPr>
            <a:r>
              <a:rPr lang="en-US" sz="1000" b="0" dirty="0">
                <a:solidFill>
                  <a:srgbClr val="64748B"/>
                </a:solidFill>
              </a:rPr>
              <a:t>256 → 10 classes</a:t>
            </a:r>
          </a:p>
        </p:txBody>
      </p:sp>
      <p:sp>
        <p:nvSpPr>
          <p:cNvPr id="12" name="HP1"/>
          <p:cNvSpPr/>
          <p:nvPr/>
        </p:nvSpPr>
        <p:spPr>
          <a:xfrm>
            <a:off x="457200" y="2103120"/>
            <a:ext cx="16002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0D948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150</a:t>
            </a:r>
          </a:p>
          <a:p>
            <a:pPr marL="0" indent="0" algn="ctr">
              <a:buNone/>
            </a:pPr>
            <a:r>
              <a:rPr lang="en-US" sz="1100" b="0" dirty="0">
                <a:solidFill>
                  <a:srgbClr val="64748B"/>
                </a:solidFill>
              </a:rPr>
              <a:t>Char Vocab Size</a:t>
            </a:r>
          </a:p>
        </p:txBody>
      </p:sp>
      <p:sp>
        <p:nvSpPr>
          <p:cNvPr id="13" name="HP2"/>
          <p:cNvSpPr/>
          <p:nvPr/>
        </p:nvSpPr>
        <p:spPr>
          <a:xfrm>
            <a:off x="2148840" y="2103120"/>
            <a:ext cx="16002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0D948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150</a:t>
            </a:r>
          </a:p>
          <a:p>
            <a:pPr marL="0" indent="0" algn="ctr">
              <a:buNone/>
            </a:pPr>
            <a:r>
              <a:rPr lang="en-US" sz="1100" b="0" dirty="0">
                <a:solidFill>
                  <a:srgbClr val="64748B"/>
                </a:solidFill>
              </a:rPr>
              <a:t>Max Seq. Length</a:t>
            </a:r>
          </a:p>
        </p:txBody>
      </p:sp>
      <p:sp>
        <p:nvSpPr>
          <p:cNvPr id="14" name="HP3"/>
          <p:cNvSpPr/>
          <p:nvPr/>
        </p:nvSpPr>
        <p:spPr>
          <a:xfrm>
            <a:off x="3840480" y="2103120"/>
            <a:ext cx="16002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0D948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32</a:t>
            </a:r>
          </a:p>
          <a:p>
            <a:pPr marL="0" indent="0" algn="ctr">
              <a:buNone/>
            </a:pPr>
            <a:r>
              <a:rPr lang="en-US" sz="1100" b="0" dirty="0">
                <a:solidFill>
                  <a:srgbClr val="64748B"/>
                </a:solidFill>
              </a:rPr>
              <a:t>Embedding Dim</a:t>
            </a:r>
          </a:p>
        </p:txBody>
      </p:sp>
      <p:sp>
        <p:nvSpPr>
          <p:cNvPr id="15" name="HP4"/>
          <p:cNvSpPr/>
          <p:nvPr/>
        </p:nvSpPr>
        <p:spPr>
          <a:xfrm>
            <a:off x="5532120" y="2103120"/>
            <a:ext cx="16002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0D948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128</a:t>
            </a:r>
          </a:p>
          <a:p>
            <a:pPr marL="0" indent="0" algn="ctr">
              <a:buNone/>
            </a:pPr>
            <a:r>
              <a:rPr lang="en-US" sz="1100" b="0" dirty="0">
                <a:solidFill>
                  <a:srgbClr val="64748B"/>
                </a:solidFill>
              </a:rPr>
              <a:t>Hidden per Direction</a:t>
            </a:r>
          </a:p>
        </p:txBody>
      </p:sp>
      <p:sp>
        <p:nvSpPr>
          <p:cNvPr id="16" name="HP5"/>
          <p:cNvSpPr/>
          <p:nvPr/>
        </p:nvSpPr>
        <p:spPr>
          <a:xfrm>
            <a:off x="7223760" y="2103120"/>
            <a:ext cx="146304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0D948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256</a:t>
            </a:r>
          </a:p>
          <a:p>
            <a:pPr marL="0" indent="0" algn="ctr">
              <a:buNone/>
            </a:pPr>
            <a:r>
              <a:rPr lang="en-US" sz="1100" b="0" dirty="0">
                <a:solidFill>
                  <a:srgbClr val="64748B"/>
                </a:solidFill>
              </a:rPr>
              <a:t>Output to Linear</a:t>
            </a:r>
          </a:p>
        </p:txBody>
      </p:sp>
      <p:sp>
        <p:nvSpPr>
          <p:cNvPr id="17" name="Rationale"/>
          <p:cNvSpPr/>
          <p:nvPr/>
        </p:nvSpPr>
        <p:spPr>
          <a:xfrm>
            <a:off x="457200" y="3017520"/>
            <a:ext cx="8229600" cy="173736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>
                <a:alpha val="50000"/>
              </a:srgbClr>
            </a:solidFill>
          </a:ln>
        </p:spPr>
        <p:txBody>
          <a:bodyPr wrap="square" lIns="91440" t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5145"/>
                </a:solidFill>
              </a:rPr>
              <a:t>Code Changes (3 lines only)</a:t>
            </a:r>
          </a:p>
          <a:p>
            <a:pPr marL="228600" indent="-228600">
              <a:lnSpc>
                <a:spcPts val="1600"/>
              </a:lnSpc>
              <a:buChar char="■"/>
            </a:pPr>
            <a:r>
              <a:rPr lang="en-US" sz="1200" b="1" dirty="0">
                <a:solidFill>
                  <a:srgbClr val="0F5145"/>
                </a:solidFill>
              </a:rPr>
              <a:t>LSTM layer: </a:t>
            </a:r>
            <a:r>
              <a:rPr lang="en-US" sz="1200" b="0" dirty="0">
                <a:solidFill>
                  <a:srgbClr val="0F5145"/>
                </a:solidFill>
              </a:rPr>
              <a:t>nn.LSTM(input_size=32, hidden_size=128, batch_first=True, bidirectional=True)</a:t>
            </a:r>
          </a:p>
          <a:p>
            <a:pPr marL="228600" indent="-228600">
              <a:lnSpc>
                <a:spcPts val="1600"/>
              </a:lnSpc>
              <a:buChar char="■"/>
            </a:pPr>
            <a:r>
              <a:rPr lang="en-US" sz="1200" b="1" dirty="0">
                <a:solidFill>
                  <a:srgbClr val="0F5145"/>
                </a:solidFill>
              </a:rPr>
              <a:t>Linear layer: </a:t>
            </a:r>
            <a:r>
              <a:rPr lang="en-US" sz="1200" b="0" dirty="0">
                <a:solidFill>
                  <a:srgbClr val="0F5145"/>
                </a:solidFill>
              </a:rPr>
              <a:t>nn.Linear(256, 10)  -- input doubles from 128 to 256</a:t>
            </a:r>
          </a:p>
          <a:p>
            <a:pPr marL="228600" indent="-228600">
              <a:lnSpc>
                <a:spcPts val="1600"/>
              </a:lnSpc>
              <a:buChar char="■"/>
            </a:pPr>
            <a:r>
              <a:rPr lang="en-US" sz="1200" b="1" dirty="0">
                <a:solidFill>
                  <a:srgbClr val="0F5145"/>
                </a:solidFill>
              </a:rPr>
              <a:t>Forward pass: </a:t>
            </a:r>
            <a:r>
              <a:rPr lang="en-US" sz="1200" b="0" dirty="0">
                <a:solidFill>
                  <a:srgbClr val="0F5145"/>
                </a:solidFill>
              </a:rPr>
              <a:t>torch.cat((hidden[-2], hidden[-1]), dim=1)  -- concat fwd + bwd</a:t>
            </a:r>
          </a:p>
        </p:txBody>
      </p:sp>
      <p:sp>
        <p:nvSpPr>
          <p:cNvPr id="18" name="Label">
            <a:extLst>
              <a:ext uri="{FF2B5EF4-FFF2-40B4-BE49-F238E27FC236}">
                <a16:creationId xmlns:a16="http://schemas.microsoft.com/office/drawing/2014/main" id="{BE5BB7EF-C436-F3DA-2918-072573B4219D}"/>
              </a:ext>
            </a:extLst>
          </p:cNvPr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RNN ARCHITECTURE  --  HYPERPARAMETERS &amp; MODEL DESIGN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68B7C-9F8F-29BF-248F-248E7DA7D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>
            <a:extLst>
              <a:ext uri="{FF2B5EF4-FFF2-40B4-BE49-F238E27FC236}">
                <a16:creationId xmlns:a16="http://schemas.microsoft.com/office/drawing/2014/main" id="{564F9A5E-9ACC-7202-C369-2173F3A50BFD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EA01E11-C79D-B47D-10FC-85F260F0D096}"/>
              </a:ext>
            </a:extLst>
          </p:cNvPr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</a:rPr>
              <a:t>What We Did — </a:t>
            </a:r>
            <a:r>
              <a:rPr lang="en-US" sz="2200" b="1" dirty="0" err="1">
                <a:solidFill>
                  <a:srgbClr val="1A2744"/>
                </a:solidFill>
              </a:rPr>
              <a:t>Tatoeba</a:t>
            </a:r>
            <a:r>
              <a:rPr lang="en-US" sz="2200" b="1" dirty="0">
                <a:solidFill>
                  <a:srgbClr val="1A2744"/>
                </a:solidFill>
              </a:rPr>
              <a:t> </a:t>
            </a:r>
            <a:r>
              <a:rPr lang="en-US" sz="2200" b="1" dirty="0" err="1">
                <a:solidFill>
                  <a:srgbClr val="1A2744"/>
                </a:solidFill>
              </a:rPr>
              <a:t>BiLSTM</a:t>
            </a:r>
            <a:r>
              <a:rPr lang="en-US" sz="2200" b="1" dirty="0">
                <a:solidFill>
                  <a:srgbClr val="1A2744"/>
                </a:solidFill>
              </a:rPr>
              <a:t> Project</a:t>
            </a:r>
          </a:p>
        </p:txBody>
      </p:sp>
      <p:sp>
        <p:nvSpPr>
          <p:cNvPr id="17" name="Rationale">
            <a:extLst>
              <a:ext uri="{FF2B5EF4-FFF2-40B4-BE49-F238E27FC236}">
                <a16:creationId xmlns:a16="http://schemas.microsoft.com/office/drawing/2014/main" id="{4D2C92D9-9140-0456-8F0F-E00E48213391}"/>
              </a:ext>
            </a:extLst>
          </p:cNvPr>
          <p:cNvSpPr/>
          <p:nvPr/>
        </p:nvSpPr>
        <p:spPr>
          <a:xfrm>
            <a:off x="457200" y="886968"/>
            <a:ext cx="8229600" cy="106829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>
                <a:alpha val="50000"/>
              </a:srgbClr>
            </a:solidFill>
          </a:ln>
        </p:spPr>
        <p:txBody>
          <a:bodyPr wrap="square" lIns="91440" t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5145"/>
                </a:solidFill>
              </a:rPr>
              <a:t>Input Design</a:t>
            </a:r>
          </a:p>
          <a:p>
            <a:pPr marL="228600" indent="-228600">
              <a:lnSpc>
                <a:spcPts val="1600"/>
              </a:lnSpc>
              <a:buChar char="■"/>
            </a:pPr>
            <a:r>
              <a:rPr lang="en-US" sz="1200" b="0" dirty="0">
                <a:solidFill>
                  <a:srgbClr val="0F5145"/>
                </a:solidFill>
              </a:rPr>
              <a:t>Chose </a:t>
            </a:r>
            <a:r>
              <a:rPr lang="en-US" sz="1200" b="1" dirty="0">
                <a:solidFill>
                  <a:srgbClr val="0F5145"/>
                </a:solidFill>
              </a:rPr>
              <a:t>character-level</a:t>
            </a:r>
            <a:r>
              <a:rPr lang="en-US" sz="1200" b="0" dirty="0">
                <a:solidFill>
                  <a:srgbClr val="0F5145"/>
                </a:solidFill>
              </a:rPr>
              <a:t> input over word-level for language detection</a:t>
            </a:r>
          </a:p>
          <a:p>
            <a:pPr marL="685800" lvl="1" indent="-228600">
              <a:lnSpc>
                <a:spcPts val="1600"/>
              </a:lnSpc>
              <a:buChar char="■"/>
            </a:pPr>
            <a:r>
              <a:rPr lang="en-US" sz="1200" b="1" dirty="0">
                <a:solidFill>
                  <a:srgbClr val="0F5145"/>
                </a:solidFill>
              </a:rPr>
              <a:t>Vocab size only 178 unique characters</a:t>
            </a:r>
            <a:r>
              <a:rPr lang="en-US" sz="1200" b="0" dirty="0">
                <a:solidFill>
                  <a:srgbClr val="0F5145"/>
                </a:solidFill>
              </a:rPr>
              <a:t> vs. tens of thousands for word-level</a:t>
            </a:r>
          </a:p>
          <a:p>
            <a:pPr marL="685800" lvl="1" indent="-228600">
              <a:lnSpc>
                <a:spcPts val="1600"/>
              </a:lnSpc>
              <a:buChar char="■"/>
            </a:pPr>
            <a:r>
              <a:rPr lang="en-US" sz="1200" b="1" dirty="0">
                <a:solidFill>
                  <a:srgbClr val="0F5145"/>
                </a:solidFill>
              </a:rPr>
              <a:t>Minimal OOV risk</a:t>
            </a:r>
            <a:r>
              <a:rPr lang="en-US" sz="1200" b="0" dirty="0">
                <a:solidFill>
                  <a:srgbClr val="0F5145"/>
                </a:solidFill>
              </a:rPr>
              <a:t>, robust to typos and morphological variation</a:t>
            </a:r>
          </a:p>
        </p:txBody>
      </p:sp>
      <p:sp>
        <p:nvSpPr>
          <p:cNvPr id="18" name="Label">
            <a:extLst>
              <a:ext uri="{FF2B5EF4-FFF2-40B4-BE49-F238E27FC236}">
                <a16:creationId xmlns:a16="http://schemas.microsoft.com/office/drawing/2014/main" id="{369647A1-D6A7-3E1A-5F60-5C90A43CC7B4}"/>
              </a:ext>
            </a:extLst>
          </p:cNvPr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RNN ARCHITECTURE  --  MODEL DESIGN SUMMARY</a:t>
            </a:r>
          </a:p>
        </p:txBody>
      </p:sp>
      <p:sp>
        <p:nvSpPr>
          <p:cNvPr id="3" name="CardLeft">
            <a:extLst>
              <a:ext uri="{FF2B5EF4-FFF2-40B4-BE49-F238E27FC236}">
                <a16:creationId xmlns:a16="http://schemas.microsoft.com/office/drawing/2014/main" id="{53F74327-8E4D-1568-4416-FFEBBBEF6751}"/>
              </a:ext>
            </a:extLst>
          </p:cNvPr>
          <p:cNvSpPr/>
          <p:nvPr/>
        </p:nvSpPr>
        <p:spPr>
          <a:xfrm>
            <a:off x="457200" y="2062555"/>
            <a:ext cx="8229600" cy="1757091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txBody>
          <a:bodyPr/>
          <a:lstStyle/>
          <a:p>
            <a:r>
              <a:rPr lang="en-US" sz="1300" b="1" dirty="0" err="1">
                <a:solidFill>
                  <a:srgbClr val="0F5145"/>
                </a:solidFill>
              </a:rPr>
              <a:t>BiLSTM</a:t>
            </a:r>
            <a:r>
              <a:rPr lang="en-US" sz="1300" b="1" dirty="0">
                <a:solidFill>
                  <a:srgbClr val="0F5145"/>
                </a:solidFill>
              </a:rPr>
              <a:t> Architecture</a:t>
            </a:r>
          </a:p>
          <a:p>
            <a:pPr marL="228600" indent="-228600">
              <a:lnSpc>
                <a:spcPts val="1600"/>
              </a:lnSpc>
              <a:buChar char="■"/>
            </a:pPr>
            <a:r>
              <a:rPr lang="en-US" sz="1200" dirty="0">
                <a:solidFill>
                  <a:srgbClr val="0F5145"/>
                </a:solidFill>
              </a:rPr>
              <a:t>Built character-level </a:t>
            </a:r>
            <a:r>
              <a:rPr lang="en-US" sz="1200" dirty="0" err="1">
                <a:solidFill>
                  <a:srgbClr val="0F5145"/>
                </a:solidFill>
              </a:rPr>
              <a:t>BiLSTM</a:t>
            </a:r>
            <a:r>
              <a:rPr lang="en-US" sz="1200" dirty="0">
                <a:solidFill>
                  <a:srgbClr val="0F5145"/>
                </a:solidFill>
              </a:rPr>
              <a:t>: Char Embedding → </a:t>
            </a:r>
            <a:r>
              <a:rPr lang="en-US" sz="1200" dirty="0" err="1">
                <a:solidFill>
                  <a:srgbClr val="0F5145"/>
                </a:solidFill>
              </a:rPr>
              <a:t>BiLSTM</a:t>
            </a:r>
            <a:r>
              <a:rPr lang="en-US" sz="1200" dirty="0">
                <a:solidFill>
                  <a:srgbClr val="0F5145"/>
                </a:solidFill>
              </a:rPr>
              <a:t> → Linear Classifier</a:t>
            </a:r>
          </a:p>
          <a:p>
            <a:pPr marL="685800" lvl="1" indent="-228600">
              <a:lnSpc>
                <a:spcPts val="1600"/>
              </a:lnSpc>
              <a:buChar char="■"/>
            </a:pPr>
            <a:r>
              <a:rPr lang="en-US" sz="1200" dirty="0">
                <a:solidFill>
                  <a:srgbClr val="0F5145"/>
                </a:solidFill>
              </a:rPr>
              <a:t>Bidirectional LSTM captures context from both directions simultaneously</a:t>
            </a:r>
          </a:p>
          <a:p>
            <a:pPr marL="685800" lvl="1" indent="-228600">
              <a:lnSpc>
                <a:spcPts val="1600"/>
              </a:lnSpc>
              <a:buChar char="■"/>
            </a:pPr>
            <a:r>
              <a:rPr lang="en-US" sz="1200" dirty="0">
                <a:solidFill>
                  <a:srgbClr val="0F5145"/>
                </a:solidFill>
              </a:rPr>
              <a:t>Hidden size 128 per direction → concatenated output 256-dim</a:t>
            </a:r>
          </a:p>
          <a:p>
            <a:pPr marL="685800" lvl="1" indent="-228600">
              <a:lnSpc>
                <a:spcPts val="1600"/>
              </a:lnSpc>
              <a:buChar char="■"/>
            </a:pPr>
            <a:r>
              <a:rPr lang="en-US" sz="1200" dirty="0">
                <a:solidFill>
                  <a:srgbClr val="0F5145"/>
                </a:solidFill>
              </a:rPr>
              <a:t>Only 3 code changes from unidirectional: </a:t>
            </a:r>
          </a:p>
          <a:p>
            <a:pPr marL="1143000" lvl="2" indent="-228600">
              <a:lnSpc>
                <a:spcPts val="1600"/>
              </a:lnSpc>
              <a:buChar char="■"/>
            </a:pPr>
            <a:r>
              <a:rPr lang="en-US" sz="1200" dirty="0">
                <a:solidFill>
                  <a:srgbClr val="0F5145"/>
                </a:solidFill>
              </a:rPr>
              <a:t>bidirectional=True, </a:t>
            </a:r>
          </a:p>
          <a:p>
            <a:pPr marL="1143000" lvl="2" indent="-228600">
              <a:lnSpc>
                <a:spcPts val="1600"/>
              </a:lnSpc>
              <a:buChar char="■"/>
            </a:pPr>
            <a:r>
              <a:rPr lang="en-US" sz="1200" dirty="0" err="1">
                <a:solidFill>
                  <a:srgbClr val="0F5145"/>
                </a:solidFill>
              </a:rPr>
              <a:t>nn.Linear</a:t>
            </a:r>
            <a:r>
              <a:rPr lang="en-US" sz="1200" dirty="0">
                <a:solidFill>
                  <a:srgbClr val="0F5145"/>
                </a:solidFill>
              </a:rPr>
              <a:t>(256, 10), </a:t>
            </a:r>
          </a:p>
          <a:p>
            <a:pPr marL="1143000" lvl="2" indent="-228600">
              <a:lnSpc>
                <a:spcPts val="1600"/>
              </a:lnSpc>
              <a:buChar char="■"/>
            </a:pPr>
            <a:r>
              <a:rPr lang="en-US" sz="1200" dirty="0" err="1">
                <a:solidFill>
                  <a:srgbClr val="0F5145"/>
                </a:solidFill>
              </a:rPr>
              <a:t>torch.cat</a:t>
            </a:r>
            <a:r>
              <a:rPr lang="en-US" sz="1200" dirty="0">
                <a:solidFill>
                  <a:srgbClr val="0F5145"/>
                </a:solidFill>
              </a:rPr>
              <a:t>((hidden[-2], hidden[-1]), dim=1)</a:t>
            </a:r>
          </a:p>
          <a:p>
            <a:endParaRPr lang="en-US" dirty="0"/>
          </a:p>
        </p:txBody>
      </p:sp>
      <p:sp>
        <p:nvSpPr>
          <p:cNvPr id="20" name="Rationale">
            <a:extLst>
              <a:ext uri="{FF2B5EF4-FFF2-40B4-BE49-F238E27FC236}">
                <a16:creationId xmlns:a16="http://schemas.microsoft.com/office/drawing/2014/main" id="{F51CEA15-0140-3BD9-2E3A-6B80638CE1B1}"/>
              </a:ext>
            </a:extLst>
          </p:cNvPr>
          <p:cNvSpPr/>
          <p:nvPr/>
        </p:nvSpPr>
        <p:spPr>
          <a:xfrm>
            <a:off x="457200" y="3926941"/>
            <a:ext cx="8229600" cy="804647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>
                <a:alpha val="50000"/>
              </a:srgbClr>
            </a:solidFill>
          </a:ln>
        </p:spPr>
        <p:txBody>
          <a:bodyPr wrap="square" lIns="91440" t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5145"/>
                </a:solidFill>
              </a:rPr>
              <a:t>Target</a:t>
            </a:r>
          </a:p>
          <a:p>
            <a:pPr marL="228600" indent="-228600">
              <a:lnSpc>
                <a:spcPts val="1600"/>
              </a:lnSpc>
              <a:buChar char="■"/>
            </a:pPr>
            <a:r>
              <a:rPr lang="en-US" sz="1200" b="0" dirty="0">
                <a:solidFill>
                  <a:srgbClr val="0F5145"/>
                </a:solidFill>
              </a:rPr>
              <a:t>Exceed 99.30% </a:t>
            </a:r>
            <a:r>
              <a:rPr lang="en-US" sz="1200" b="0" dirty="0" err="1">
                <a:solidFill>
                  <a:srgbClr val="0F5145"/>
                </a:solidFill>
              </a:rPr>
              <a:t>LogReg</a:t>
            </a:r>
            <a:r>
              <a:rPr lang="en-US" sz="1200" b="0" dirty="0">
                <a:solidFill>
                  <a:srgbClr val="0F5145"/>
                </a:solidFill>
              </a:rPr>
              <a:t> baseline</a:t>
            </a:r>
          </a:p>
          <a:p>
            <a:pPr marL="228600" indent="-228600">
              <a:lnSpc>
                <a:spcPts val="1600"/>
              </a:lnSpc>
              <a:buChar char="■"/>
            </a:pPr>
            <a:r>
              <a:rPr lang="en-US" sz="1200" b="0" dirty="0">
                <a:solidFill>
                  <a:srgbClr val="0F5145"/>
                </a:solidFill>
              </a:rPr>
              <a:t>Specifically improve F1 on Romance language trio (spa / </a:t>
            </a:r>
            <a:r>
              <a:rPr lang="en-US" sz="1200" b="0" dirty="0" err="1">
                <a:solidFill>
                  <a:srgbClr val="0F5145"/>
                </a:solidFill>
              </a:rPr>
              <a:t>por</a:t>
            </a:r>
            <a:r>
              <a:rPr lang="en-US" sz="1200" b="0" dirty="0">
                <a:solidFill>
                  <a:srgbClr val="0F5145"/>
                </a:solidFill>
              </a:rPr>
              <a:t> / </a:t>
            </a:r>
            <a:r>
              <a:rPr lang="en-US" sz="1200" b="0" dirty="0" err="1">
                <a:solidFill>
                  <a:srgbClr val="0F5145"/>
                </a:solidFill>
              </a:rPr>
              <a:t>ita</a:t>
            </a:r>
            <a:r>
              <a:rPr lang="en-US" sz="1200" b="0" dirty="0">
                <a:solidFill>
                  <a:srgbClr val="0F5145"/>
                </a:solidFill>
              </a:rPr>
              <a:t>)</a:t>
            </a:r>
          </a:p>
          <a:p>
            <a:pPr marL="685800" lvl="1" indent="-228600">
              <a:lnSpc>
                <a:spcPts val="1600"/>
              </a:lnSpc>
              <a:buChar char="■"/>
            </a:pPr>
            <a:endParaRPr lang="en-US" sz="1200" b="0" dirty="0">
              <a:solidFill>
                <a:srgbClr val="0F514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806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1850</Words>
  <Application>Microsoft Macintosh PowerPoint</Application>
  <PresentationFormat>On-screen Show (16:9)</PresentationFormat>
  <Paragraphs>350</Paragraphs>
  <Slides>19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Tatoeba Language Detection EDA</dc:title>
  <dc:subject>PptxGenJS Presentation</dc:subject>
  <dc:creator>PptxGenJS</dc:creator>
  <cp:lastModifiedBy>Supanut Chindawan</cp:lastModifiedBy>
  <cp:revision>5</cp:revision>
  <dcterms:created xsi:type="dcterms:W3CDTF">2026-04-04T17:45:09Z</dcterms:created>
  <dcterms:modified xsi:type="dcterms:W3CDTF">2026-04-14T23:24:35Z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82ec11f-0307-4ba2-9c7f-1e910abb2b8a_Enabled">
    <vt:lpwstr>true</vt:lpwstr>
  </property>
  <property fmtid="{D5CDD505-2E9C-101B-9397-08002B2CF9AE}" pid="3" name="MSIP_Label_282ec11f-0307-4ba2-9c7f-1e910abb2b8a_SetDate">
    <vt:lpwstr>2026-04-14T23:22:43Z</vt:lpwstr>
  </property>
  <property fmtid="{D5CDD505-2E9C-101B-9397-08002B2CF9AE}" pid="4" name="MSIP_Label_282ec11f-0307-4ba2-9c7f-1e910abb2b8a_Method">
    <vt:lpwstr>Standard</vt:lpwstr>
  </property>
  <property fmtid="{D5CDD505-2E9C-101B-9397-08002B2CF9AE}" pid="5" name="MSIP_Label_282ec11f-0307-4ba2-9c7f-1e910abb2b8a_Name">
    <vt:lpwstr>282ec11f-0307-4ba2-9c7f-1e910abb2b8a</vt:lpwstr>
  </property>
  <property fmtid="{D5CDD505-2E9C-101B-9397-08002B2CF9AE}" pid="6" name="MSIP_Label_282ec11f-0307-4ba2-9c7f-1e910abb2b8a_SiteId">
    <vt:lpwstr>5db8bf0e-8592-4ed0-82b2-a6d4d77933d4</vt:lpwstr>
  </property>
  <property fmtid="{D5CDD505-2E9C-101B-9397-08002B2CF9AE}" pid="7" name="MSIP_Label_282ec11f-0307-4ba2-9c7f-1e910abb2b8a_ActionId">
    <vt:lpwstr>fe8adf07-3c71-49a7-8463-7b63de67c60e</vt:lpwstr>
  </property>
  <property fmtid="{D5CDD505-2E9C-101B-9397-08002B2CF9AE}" pid="8" name="MSIP_Label_282ec11f-0307-4ba2-9c7f-1e910abb2b8a_ContentBits">
    <vt:lpwstr>0</vt:lpwstr>
  </property>
  <property fmtid="{D5CDD505-2E9C-101B-9397-08002B2CF9AE}" pid="9" name="MSIP_Label_282ec11f-0307-4ba2-9c7f-1e910abb2b8a_Tag">
    <vt:lpwstr>50, 3, 0, 1</vt:lpwstr>
  </property>
</Properties>
</file>