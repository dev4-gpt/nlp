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handoutMasterIdLst>
    <p:handoutMasterId r:id="rId23"/>
  </p:handoutMasterIdLst>
  <p:sldIdLst>
    <p:sldId id="256" r:id="rId5"/>
    <p:sldId id="282" r:id="rId6"/>
    <p:sldId id="283" r:id="rId7"/>
    <p:sldId id="295" r:id="rId8"/>
    <p:sldId id="285" r:id="rId9"/>
    <p:sldId id="286" r:id="rId10"/>
    <p:sldId id="270" r:id="rId11"/>
    <p:sldId id="288" r:id="rId12"/>
    <p:sldId id="272" r:id="rId13"/>
    <p:sldId id="287" r:id="rId14"/>
    <p:sldId id="274" r:id="rId15"/>
    <p:sldId id="290" r:id="rId16"/>
    <p:sldId id="291" r:id="rId17"/>
    <p:sldId id="292" r:id="rId18"/>
    <p:sldId id="293" r:id="rId19"/>
    <p:sldId id="294" r:id="rId20"/>
    <p:sldId id="28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7E903BB-B587-4CB4-A554-3901208502BD}">
          <p14:sldIdLst>
            <p14:sldId id="256"/>
            <p14:sldId id="282"/>
            <p14:sldId id="283"/>
            <p14:sldId id="295"/>
            <p14:sldId id="285"/>
            <p14:sldId id="286"/>
            <p14:sldId id="270"/>
            <p14:sldId id="288"/>
            <p14:sldId id="272"/>
            <p14:sldId id="287"/>
            <p14:sldId id="274"/>
            <p14:sldId id="290"/>
            <p14:sldId id="291"/>
            <p14:sldId id="292"/>
            <p14:sldId id="293"/>
            <p14:sldId id="294"/>
            <p14:sldId id="28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9FC3"/>
    <a:srgbClr val="2340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A64B94-8662-06A0-25E7-4A2A069CACDB}" v="72" dt="2026-04-12T14:30:09.140"/>
    <p1510:client id="{DFA7A454-6413-460D-AB6C-22BCB6F3C58A}" v="7" dt="2026-04-12T13:05:55.8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h, Sang-Yong" userId="S::szo5310@psu.edu::91260832-bcf9-4f0a-afae-0efbb54633d7" providerId="AD" clId="Web-{41A64B94-8662-06A0-25E7-4A2A069CACDB}"/>
    <pc:docChg chg="modSld sldOrd">
      <pc:chgData name="Oh, Sang-Yong" userId="S::szo5310@psu.edu::91260832-bcf9-4f0a-afae-0efbb54633d7" providerId="AD" clId="Web-{41A64B94-8662-06A0-25E7-4A2A069CACDB}" dt="2026-04-12T14:30:09.140" v="67" actId="20577"/>
      <pc:docMkLst>
        <pc:docMk/>
      </pc:docMkLst>
      <pc:sldChg chg="modSp">
        <pc:chgData name="Oh, Sang-Yong" userId="S::szo5310@psu.edu::91260832-bcf9-4f0a-afae-0efbb54633d7" providerId="AD" clId="Web-{41A64B94-8662-06A0-25E7-4A2A069CACDB}" dt="2026-04-12T14:30:09.140" v="67" actId="20577"/>
        <pc:sldMkLst>
          <pc:docMk/>
          <pc:sldMk cId="325965202" sldId="274"/>
        </pc:sldMkLst>
        <pc:spChg chg="mod">
          <ac:chgData name="Oh, Sang-Yong" userId="S::szo5310@psu.edu::91260832-bcf9-4f0a-afae-0efbb54633d7" providerId="AD" clId="Web-{41A64B94-8662-06A0-25E7-4A2A069CACDB}" dt="2026-04-12T14:30:09.140" v="67" actId="20577"/>
          <ac:spMkLst>
            <pc:docMk/>
            <pc:sldMk cId="325965202" sldId="274"/>
            <ac:spMk id="2" creationId="{28DB3E68-DCF6-0ECC-20AD-A017D7616CE2}"/>
          </ac:spMkLst>
        </pc:spChg>
        <pc:spChg chg="mod">
          <ac:chgData name="Oh, Sang-Yong" userId="S::szo5310@psu.edu::91260832-bcf9-4f0a-afae-0efbb54633d7" providerId="AD" clId="Web-{41A64B94-8662-06A0-25E7-4A2A069CACDB}" dt="2026-04-12T14:23:34.487" v="27" actId="1076"/>
          <ac:spMkLst>
            <pc:docMk/>
            <pc:sldMk cId="325965202" sldId="274"/>
            <ac:spMk id="3" creationId="{AC12CC8C-7BD9-E5E9-3A01-DE7E29C40393}"/>
          </ac:spMkLst>
        </pc:spChg>
      </pc:sldChg>
      <pc:sldChg chg="modSp">
        <pc:chgData name="Oh, Sang-Yong" userId="S::szo5310@psu.edu::91260832-bcf9-4f0a-afae-0efbb54633d7" providerId="AD" clId="Web-{41A64B94-8662-06A0-25E7-4A2A069CACDB}" dt="2026-04-12T14:28:10.591" v="56"/>
        <pc:sldMkLst>
          <pc:docMk/>
          <pc:sldMk cId="2970709955" sldId="283"/>
        </pc:sldMkLst>
        <pc:spChg chg="mod">
          <ac:chgData name="Oh, Sang-Yong" userId="S::szo5310@psu.edu::91260832-bcf9-4f0a-afae-0efbb54633d7" providerId="AD" clId="Web-{41A64B94-8662-06A0-25E7-4A2A069CACDB}" dt="2026-04-12T14:28:10.591" v="56"/>
          <ac:spMkLst>
            <pc:docMk/>
            <pc:sldMk cId="2970709955" sldId="283"/>
            <ac:spMk id="4" creationId="{AB3A537C-B91C-2202-B8EB-52234F09561D}"/>
          </ac:spMkLst>
        </pc:spChg>
      </pc:sldChg>
      <pc:sldChg chg="modSp">
        <pc:chgData name="Oh, Sang-Yong" userId="S::szo5310@psu.edu::91260832-bcf9-4f0a-afae-0efbb54633d7" providerId="AD" clId="Web-{41A64B94-8662-06A0-25E7-4A2A069CACDB}" dt="2026-04-12T14:25:40.383" v="54" actId="20577"/>
        <pc:sldMkLst>
          <pc:docMk/>
          <pc:sldMk cId="4190751418" sldId="285"/>
        </pc:sldMkLst>
        <pc:spChg chg="mod">
          <ac:chgData name="Oh, Sang-Yong" userId="S::szo5310@psu.edu::91260832-bcf9-4f0a-afae-0efbb54633d7" providerId="AD" clId="Web-{41A64B94-8662-06A0-25E7-4A2A069CACDB}" dt="2026-04-12T14:25:40.383" v="54" actId="20577"/>
          <ac:spMkLst>
            <pc:docMk/>
            <pc:sldMk cId="4190751418" sldId="285"/>
            <ac:spMk id="6" creationId="{29807AA3-09F9-A5C2-F614-D93B1E03A6E2}"/>
          </ac:spMkLst>
        </pc:spChg>
      </pc:sldChg>
      <pc:sldChg chg="modSp">
        <pc:chgData name="Oh, Sang-Yong" userId="S::szo5310@psu.edu::91260832-bcf9-4f0a-afae-0efbb54633d7" providerId="AD" clId="Web-{41A64B94-8662-06A0-25E7-4A2A069CACDB}" dt="2026-04-12T14:29:10.076" v="59"/>
        <pc:sldMkLst>
          <pc:docMk/>
          <pc:sldMk cId="1982449965" sldId="290"/>
        </pc:sldMkLst>
        <pc:spChg chg="mod">
          <ac:chgData name="Oh, Sang-Yong" userId="S::szo5310@psu.edu::91260832-bcf9-4f0a-afae-0efbb54633d7" providerId="AD" clId="Web-{41A64B94-8662-06A0-25E7-4A2A069CACDB}" dt="2026-04-12T14:29:10.076" v="59"/>
          <ac:spMkLst>
            <pc:docMk/>
            <pc:sldMk cId="1982449965" sldId="290"/>
            <ac:spMk id="2" creationId="{25E8282C-20FA-43BA-8971-4BC7782BA91C}"/>
          </ac:spMkLst>
        </pc:spChg>
        <pc:spChg chg="mod">
          <ac:chgData name="Oh, Sang-Yong" userId="S::szo5310@psu.edu::91260832-bcf9-4f0a-afae-0efbb54633d7" providerId="AD" clId="Web-{41A64B94-8662-06A0-25E7-4A2A069CACDB}" dt="2026-04-12T14:24:01.379" v="36" actId="1076"/>
          <ac:spMkLst>
            <pc:docMk/>
            <pc:sldMk cId="1982449965" sldId="290"/>
            <ac:spMk id="3" creationId="{39EDF6BF-27C8-636F-F115-A51661F10B7A}"/>
          </ac:spMkLst>
        </pc:spChg>
      </pc:sldChg>
      <pc:sldChg chg="modSp">
        <pc:chgData name="Oh, Sang-Yong" userId="S::szo5310@psu.edu::91260832-bcf9-4f0a-afae-0efbb54633d7" providerId="AD" clId="Web-{41A64B94-8662-06A0-25E7-4A2A069CACDB}" dt="2026-04-12T14:30:04.390" v="66" actId="20577"/>
        <pc:sldMkLst>
          <pc:docMk/>
          <pc:sldMk cId="4005342983" sldId="291"/>
        </pc:sldMkLst>
        <pc:spChg chg="mod">
          <ac:chgData name="Oh, Sang-Yong" userId="S::szo5310@psu.edu::91260832-bcf9-4f0a-afae-0efbb54633d7" providerId="AD" clId="Web-{41A64B94-8662-06A0-25E7-4A2A069CACDB}" dt="2026-04-12T14:30:04.390" v="66" actId="20577"/>
          <ac:spMkLst>
            <pc:docMk/>
            <pc:sldMk cId="4005342983" sldId="291"/>
            <ac:spMk id="2" creationId="{11663CBD-0488-20AE-87D2-68D74F91001B}"/>
          </ac:spMkLst>
        </pc:spChg>
      </pc:sldChg>
      <pc:sldChg chg="modSp">
        <pc:chgData name="Oh, Sang-Yong" userId="S::szo5310@psu.edu::91260832-bcf9-4f0a-afae-0efbb54633d7" providerId="AD" clId="Web-{41A64B94-8662-06A0-25E7-4A2A069CACDB}" dt="2026-04-12T14:30:01.531" v="65" actId="20577"/>
        <pc:sldMkLst>
          <pc:docMk/>
          <pc:sldMk cId="2652026606" sldId="292"/>
        </pc:sldMkLst>
        <pc:spChg chg="mod">
          <ac:chgData name="Oh, Sang-Yong" userId="S::szo5310@psu.edu::91260832-bcf9-4f0a-afae-0efbb54633d7" providerId="AD" clId="Web-{41A64B94-8662-06A0-25E7-4A2A069CACDB}" dt="2026-04-12T14:30:01.531" v="65" actId="20577"/>
          <ac:spMkLst>
            <pc:docMk/>
            <pc:sldMk cId="2652026606" sldId="292"/>
            <ac:spMk id="2" creationId="{BE5435A6-7C09-B01A-985A-1C37690C9C36}"/>
          </ac:spMkLst>
        </pc:spChg>
      </pc:sldChg>
      <pc:sldChg chg="modSp">
        <pc:chgData name="Oh, Sang-Yong" userId="S::szo5310@psu.edu::91260832-bcf9-4f0a-afae-0efbb54633d7" providerId="AD" clId="Web-{41A64B94-8662-06A0-25E7-4A2A069CACDB}" dt="2026-04-12T14:29:57.468" v="64" actId="20577"/>
        <pc:sldMkLst>
          <pc:docMk/>
          <pc:sldMk cId="1558198725" sldId="293"/>
        </pc:sldMkLst>
        <pc:spChg chg="mod">
          <ac:chgData name="Oh, Sang-Yong" userId="S::szo5310@psu.edu::91260832-bcf9-4f0a-afae-0efbb54633d7" providerId="AD" clId="Web-{41A64B94-8662-06A0-25E7-4A2A069CACDB}" dt="2026-04-12T14:29:57.468" v="64" actId="20577"/>
          <ac:spMkLst>
            <pc:docMk/>
            <pc:sldMk cId="1558198725" sldId="293"/>
            <ac:spMk id="2" creationId="{0C2A5F2E-CC38-F34A-39B9-EBB9362AE311}"/>
          </ac:spMkLst>
        </pc:spChg>
        <pc:spChg chg="mod">
          <ac:chgData name="Oh, Sang-Yong" userId="S::szo5310@psu.edu::91260832-bcf9-4f0a-afae-0efbb54633d7" providerId="AD" clId="Web-{41A64B94-8662-06A0-25E7-4A2A069CACDB}" dt="2026-04-12T14:24:43.694" v="46" actId="1076"/>
          <ac:spMkLst>
            <pc:docMk/>
            <pc:sldMk cId="1558198725" sldId="293"/>
            <ac:spMk id="3" creationId="{A02FA413-C709-41DF-8A1B-2F8CF1B2FF1C}"/>
          </ac:spMkLst>
        </pc:spChg>
      </pc:sldChg>
      <pc:sldChg chg="modSp ord">
        <pc:chgData name="Oh, Sang-Yong" userId="S::szo5310@psu.edu::91260832-bcf9-4f0a-afae-0efbb54633d7" providerId="AD" clId="Web-{41A64B94-8662-06A0-25E7-4A2A069CACDB}" dt="2026-04-12T14:29:43.436" v="63"/>
        <pc:sldMkLst>
          <pc:docMk/>
          <pc:sldMk cId="2586777246" sldId="294"/>
        </pc:sldMkLst>
        <pc:spChg chg="mod">
          <ac:chgData name="Oh, Sang-Yong" userId="S::szo5310@psu.edu::91260832-bcf9-4f0a-afae-0efbb54633d7" providerId="AD" clId="Web-{41A64B94-8662-06A0-25E7-4A2A069CACDB}" dt="2026-04-12T14:29:43.436" v="63"/>
          <ac:spMkLst>
            <pc:docMk/>
            <pc:sldMk cId="2586777246" sldId="294"/>
            <ac:spMk id="2" creationId="{39F65028-5EDD-89BA-460B-7BB418B3BE29}"/>
          </ac:spMkLst>
        </pc:spChg>
        <pc:spChg chg="mod">
          <ac:chgData name="Oh, Sang-Yong" userId="S::szo5310@psu.edu::91260832-bcf9-4f0a-afae-0efbb54633d7" providerId="AD" clId="Web-{41A64B94-8662-06A0-25E7-4A2A069CACDB}" dt="2026-04-12T14:25:12.757" v="53" actId="1076"/>
          <ac:spMkLst>
            <pc:docMk/>
            <pc:sldMk cId="2586777246" sldId="294"/>
            <ac:spMk id="3" creationId="{FC894BEC-399C-916C-D04B-9EED798D6C26}"/>
          </ac:spMkLst>
        </pc:spChg>
      </pc:sldChg>
      <pc:sldChg chg="modSp">
        <pc:chgData name="Oh, Sang-Yong" userId="S::szo5310@psu.edu::91260832-bcf9-4f0a-afae-0efbb54633d7" providerId="AD" clId="Web-{41A64B94-8662-06A0-25E7-4A2A069CACDB}" dt="2026-04-12T14:28:39.123" v="57"/>
        <pc:sldMkLst>
          <pc:docMk/>
          <pc:sldMk cId="618833902" sldId="295"/>
        </pc:sldMkLst>
        <pc:spChg chg="mod">
          <ac:chgData name="Oh, Sang-Yong" userId="S::szo5310@psu.edu::91260832-bcf9-4f0a-afae-0efbb54633d7" providerId="AD" clId="Web-{41A64B94-8662-06A0-25E7-4A2A069CACDB}" dt="2026-04-12T14:28:39.123" v="57"/>
          <ac:spMkLst>
            <pc:docMk/>
            <pc:sldMk cId="618833902" sldId="295"/>
            <ac:spMk id="2" creationId="{0E118473-8005-45D2-36DB-DD2D7D598593}"/>
          </ac:spMkLst>
        </pc:spChg>
      </pc:sldChg>
    </pc:docChg>
  </pc:docChgLst>
  <pc:docChgLst>
    <pc:chgData name="Durrance, Jason Randolf" userId="230bb8dd-2208-4e2c-975d-1b2d3ee92ab0" providerId="ADAL" clId="{828C41C7-4995-4CFF-8FBB-1B638A63E3A5}"/>
    <pc:docChg chg="undo custSel addSld delSld modSld sldOrd modSection">
      <pc:chgData name="Durrance, Jason Randolf" userId="230bb8dd-2208-4e2c-975d-1b2d3ee92ab0" providerId="ADAL" clId="{828C41C7-4995-4CFF-8FBB-1B638A63E3A5}" dt="2026-04-12T13:11:13.320" v="486" actId="2696"/>
      <pc:docMkLst>
        <pc:docMk/>
      </pc:docMkLst>
      <pc:sldChg chg="del">
        <pc:chgData name="Durrance, Jason Randolf" userId="230bb8dd-2208-4e2c-975d-1b2d3ee92ab0" providerId="ADAL" clId="{828C41C7-4995-4CFF-8FBB-1B638A63E3A5}" dt="2026-04-12T12:43:31.583" v="0" actId="2696"/>
        <pc:sldMkLst>
          <pc:docMk/>
          <pc:sldMk cId="3420505346" sldId="267"/>
        </pc:sldMkLst>
      </pc:sldChg>
      <pc:sldChg chg="add del">
        <pc:chgData name="Durrance, Jason Randolf" userId="230bb8dd-2208-4e2c-975d-1b2d3ee92ab0" providerId="ADAL" clId="{828C41C7-4995-4CFF-8FBB-1B638A63E3A5}" dt="2026-04-12T12:44:19.626" v="3" actId="2696"/>
        <pc:sldMkLst>
          <pc:docMk/>
          <pc:sldMk cId="377760242" sldId="268"/>
        </pc:sldMkLst>
      </pc:sldChg>
      <pc:sldChg chg="del">
        <pc:chgData name="Durrance, Jason Randolf" userId="230bb8dd-2208-4e2c-975d-1b2d3ee92ab0" providerId="ADAL" clId="{828C41C7-4995-4CFF-8FBB-1B638A63E3A5}" dt="2026-04-12T13:10:36.532" v="477" actId="2696"/>
        <pc:sldMkLst>
          <pc:docMk/>
          <pc:sldMk cId="4272290552" sldId="269"/>
        </pc:sldMkLst>
      </pc:sldChg>
      <pc:sldChg chg="addSp delSp modSp mod">
        <pc:chgData name="Durrance, Jason Randolf" userId="230bb8dd-2208-4e2c-975d-1b2d3ee92ab0" providerId="ADAL" clId="{828C41C7-4995-4CFF-8FBB-1B638A63E3A5}" dt="2026-04-12T12:53:59.234" v="284" actId="478"/>
        <pc:sldMkLst>
          <pc:docMk/>
          <pc:sldMk cId="3041719553" sldId="270"/>
        </pc:sldMkLst>
        <pc:spChg chg="del mod">
          <ac:chgData name="Durrance, Jason Randolf" userId="230bb8dd-2208-4e2c-975d-1b2d3ee92ab0" providerId="ADAL" clId="{828C41C7-4995-4CFF-8FBB-1B638A63E3A5}" dt="2026-04-12T12:47:33.237" v="23" actId="478"/>
          <ac:spMkLst>
            <pc:docMk/>
            <pc:sldMk cId="3041719553" sldId="270"/>
            <ac:spMk id="2" creationId="{A40CE773-69EB-6C18-235D-E7B2C73B7DA3}"/>
          </ac:spMkLst>
        </pc:spChg>
        <pc:spChg chg="del mod">
          <ac:chgData name="Durrance, Jason Randolf" userId="230bb8dd-2208-4e2c-975d-1b2d3ee92ab0" providerId="ADAL" clId="{828C41C7-4995-4CFF-8FBB-1B638A63E3A5}" dt="2026-04-12T12:53:55.163" v="283" actId="478"/>
          <ac:spMkLst>
            <pc:docMk/>
            <pc:sldMk cId="3041719553" sldId="270"/>
            <ac:spMk id="3" creationId="{32AF01FC-3A92-976B-99AD-40709E0D1372}"/>
          </ac:spMkLst>
        </pc:spChg>
        <pc:spChg chg="add del mod">
          <ac:chgData name="Durrance, Jason Randolf" userId="230bb8dd-2208-4e2c-975d-1b2d3ee92ab0" providerId="ADAL" clId="{828C41C7-4995-4CFF-8FBB-1B638A63E3A5}" dt="2026-04-12T12:47:35.196" v="24" actId="478"/>
          <ac:spMkLst>
            <pc:docMk/>
            <pc:sldMk cId="3041719553" sldId="270"/>
            <ac:spMk id="5" creationId="{F197B13B-3EA2-7937-D8F4-198F394DC645}"/>
          </ac:spMkLst>
        </pc:spChg>
        <pc:spChg chg="add mod">
          <ac:chgData name="Durrance, Jason Randolf" userId="230bb8dd-2208-4e2c-975d-1b2d3ee92ab0" providerId="ADAL" clId="{828C41C7-4995-4CFF-8FBB-1B638A63E3A5}" dt="2026-04-12T12:47:37.618" v="25"/>
          <ac:spMkLst>
            <pc:docMk/>
            <pc:sldMk cId="3041719553" sldId="270"/>
            <ac:spMk id="6" creationId="{E49C247F-506D-F442-93C8-939BC26806A8}"/>
          </ac:spMkLst>
        </pc:spChg>
        <pc:spChg chg="add mod">
          <ac:chgData name="Durrance, Jason Randolf" userId="230bb8dd-2208-4e2c-975d-1b2d3ee92ab0" providerId="ADAL" clId="{828C41C7-4995-4CFF-8FBB-1B638A63E3A5}" dt="2026-04-12T12:49:15.208" v="105" actId="6549"/>
          <ac:spMkLst>
            <pc:docMk/>
            <pc:sldMk cId="3041719553" sldId="270"/>
            <ac:spMk id="7" creationId="{8A8A71F7-C990-9607-DF71-85F73075A8F3}"/>
          </ac:spMkLst>
        </pc:spChg>
        <pc:spChg chg="add mod">
          <ac:chgData name="Durrance, Jason Randolf" userId="230bb8dd-2208-4e2c-975d-1b2d3ee92ab0" providerId="ADAL" clId="{828C41C7-4995-4CFF-8FBB-1B638A63E3A5}" dt="2026-04-12T12:53:45.325" v="282" actId="20577"/>
          <ac:spMkLst>
            <pc:docMk/>
            <pc:sldMk cId="3041719553" sldId="270"/>
            <ac:spMk id="8" creationId="{2D149046-CF99-974D-3A32-9044622F95A2}"/>
          </ac:spMkLst>
        </pc:spChg>
        <pc:spChg chg="add del mod">
          <ac:chgData name="Durrance, Jason Randolf" userId="230bb8dd-2208-4e2c-975d-1b2d3ee92ab0" providerId="ADAL" clId="{828C41C7-4995-4CFF-8FBB-1B638A63E3A5}" dt="2026-04-12T12:53:59.234" v="284" actId="478"/>
          <ac:spMkLst>
            <pc:docMk/>
            <pc:sldMk cId="3041719553" sldId="270"/>
            <ac:spMk id="10" creationId="{911336CA-EB95-B66E-DB25-BCB6C3B75575}"/>
          </ac:spMkLst>
        </pc:spChg>
      </pc:sldChg>
      <pc:sldChg chg="del">
        <pc:chgData name="Durrance, Jason Randolf" userId="230bb8dd-2208-4e2c-975d-1b2d3ee92ab0" providerId="ADAL" clId="{828C41C7-4995-4CFF-8FBB-1B638A63E3A5}" dt="2026-04-12T12:45:02.672" v="4" actId="2696"/>
        <pc:sldMkLst>
          <pc:docMk/>
          <pc:sldMk cId="1080861054" sldId="271"/>
        </pc:sldMkLst>
      </pc:sldChg>
      <pc:sldChg chg="addSp delSp modSp mod ord">
        <pc:chgData name="Durrance, Jason Randolf" userId="230bb8dd-2208-4e2c-975d-1b2d3ee92ab0" providerId="ADAL" clId="{828C41C7-4995-4CFF-8FBB-1B638A63E3A5}" dt="2026-04-12T13:07:18.822" v="464" actId="1036"/>
        <pc:sldMkLst>
          <pc:docMk/>
          <pc:sldMk cId="435420253" sldId="272"/>
        </pc:sldMkLst>
        <pc:spChg chg="del">
          <ac:chgData name="Durrance, Jason Randolf" userId="230bb8dd-2208-4e2c-975d-1b2d3ee92ab0" providerId="ADAL" clId="{828C41C7-4995-4CFF-8FBB-1B638A63E3A5}" dt="2026-04-12T13:05:04.791" v="400" actId="478"/>
          <ac:spMkLst>
            <pc:docMk/>
            <pc:sldMk cId="435420253" sldId="272"/>
            <ac:spMk id="2" creationId="{2FC6F22A-E212-67DE-3097-52A2D68EB354}"/>
          </ac:spMkLst>
        </pc:spChg>
        <pc:spChg chg="add del mod">
          <ac:chgData name="Durrance, Jason Randolf" userId="230bb8dd-2208-4e2c-975d-1b2d3ee92ab0" providerId="ADAL" clId="{828C41C7-4995-4CFF-8FBB-1B638A63E3A5}" dt="2026-04-12T13:05:06.614" v="401" actId="478"/>
          <ac:spMkLst>
            <pc:docMk/>
            <pc:sldMk cId="435420253" sldId="272"/>
            <ac:spMk id="4" creationId="{B17441CA-D42F-D7D8-C494-D964BDD4DF36}"/>
          </ac:spMkLst>
        </pc:spChg>
        <pc:spChg chg="add mod">
          <ac:chgData name="Durrance, Jason Randolf" userId="230bb8dd-2208-4e2c-975d-1b2d3ee92ab0" providerId="ADAL" clId="{828C41C7-4995-4CFF-8FBB-1B638A63E3A5}" dt="2026-04-12T13:05:19.523" v="414" actId="20577"/>
          <ac:spMkLst>
            <pc:docMk/>
            <pc:sldMk cId="435420253" sldId="272"/>
            <ac:spMk id="5" creationId="{C0940147-AF5B-16F5-84F9-34B1FD033656}"/>
          </ac:spMkLst>
        </pc:spChg>
        <pc:spChg chg="mod">
          <ac:chgData name="Durrance, Jason Randolf" userId="230bb8dd-2208-4e2c-975d-1b2d3ee92ab0" providerId="ADAL" clId="{828C41C7-4995-4CFF-8FBB-1B638A63E3A5}" dt="2026-04-12T13:07:04.734" v="449" actId="2711"/>
          <ac:spMkLst>
            <pc:docMk/>
            <pc:sldMk cId="435420253" sldId="272"/>
            <ac:spMk id="6" creationId="{792AC8CF-99AA-684B-A5E8-2F0134390394}"/>
          </ac:spMkLst>
        </pc:spChg>
        <pc:spChg chg="add mod">
          <ac:chgData name="Durrance, Jason Randolf" userId="230bb8dd-2208-4e2c-975d-1b2d3ee92ab0" providerId="ADAL" clId="{828C41C7-4995-4CFF-8FBB-1B638A63E3A5}" dt="2026-04-12T13:06:06.839" v="447" actId="20577"/>
          <ac:spMkLst>
            <pc:docMk/>
            <pc:sldMk cId="435420253" sldId="272"/>
            <ac:spMk id="9" creationId="{5CCB404C-5B30-4E5D-CB59-608488207DAD}"/>
          </ac:spMkLst>
        </pc:spChg>
        <pc:picChg chg="mod">
          <ac:chgData name="Durrance, Jason Randolf" userId="230bb8dd-2208-4e2c-975d-1b2d3ee92ab0" providerId="ADAL" clId="{828C41C7-4995-4CFF-8FBB-1B638A63E3A5}" dt="2026-04-12T13:07:18.822" v="464" actId="1036"/>
          <ac:picMkLst>
            <pc:docMk/>
            <pc:sldMk cId="435420253" sldId="272"/>
            <ac:picMk id="7" creationId="{50404C56-B3EE-272A-3CC3-DE3B1232D7EA}"/>
          </ac:picMkLst>
        </pc:picChg>
        <pc:picChg chg="del mod">
          <ac:chgData name="Durrance, Jason Randolf" userId="230bb8dd-2208-4e2c-975d-1b2d3ee92ab0" providerId="ADAL" clId="{828C41C7-4995-4CFF-8FBB-1B638A63E3A5}" dt="2026-04-12T13:04:18.690" v="347" actId="478"/>
          <ac:picMkLst>
            <pc:docMk/>
            <pc:sldMk cId="435420253" sldId="272"/>
            <ac:picMk id="8" creationId="{B060104E-61F5-7C76-7147-3EFD1743ADA1}"/>
          </ac:picMkLst>
        </pc:picChg>
      </pc:sldChg>
      <pc:sldChg chg="del">
        <pc:chgData name="Durrance, Jason Randolf" userId="230bb8dd-2208-4e2c-975d-1b2d3ee92ab0" providerId="ADAL" clId="{828C41C7-4995-4CFF-8FBB-1B638A63E3A5}" dt="2026-04-12T12:58:19.190" v="285" actId="2696"/>
        <pc:sldMkLst>
          <pc:docMk/>
          <pc:sldMk cId="870246321" sldId="273"/>
        </pc:sldMkLst>
      </pc:sldChg>
      <pc:sldChg chg="del ord">
        <pc:chgData name="Durrance, Jason Randolf" userId="230bb8dd-2208-4e2c-975d-1b2d3ee92ab0" providerId="ADAL" clId="{828C41C7-4995-4CFF-8FBB-1B638A63E3A5}" dt="2026-04-12T13:11:13.320" v="486" actId="2696"/>
        <pc:sldMkLst>
          <pc:docMk/>
          <pc:sldMk cId="500759178" sldId="275"/>
        </pc:sldMkLst>
      </pc:sldChg>
      <pc:sldChg chg="addSp modSp mod">
        <pc:chgData name="Durrance, Jason Randolf" userId="230bb8dd-2208-4e2c-975d-1b2d3ee92ab0" providerId="ADAL" clId="{828C41C7-4995-4CFF-8FBB-1B638A63E3A5}" dt="2026-04-12T13:04:04.180" v="346" actId="1035"/>
        <pc:sldMkLst>
          <pc:docMk/>
          <pc:sldMk cId="2563445779" sldId="288"/>
        </pc:sldMkLst>
        <pc:picChg chg="add mod">
          <ac:chgData name="Durrance, Jason Randolf" userId="230bb8dd-2208-4e2c-975d-1b2d3ee92ab0" providerId="ADAL" clId="{828C41C7-4995-4CFF-8FBB-1B638A63E3A5}" dt="2026-04-12T13:04:04.180" v="346" actId="1035"/>
          <ac:picMkLst>
            <pc:docMk/>
            <pc:sldMk cId="2563445779" sldId="288"/>
            <ac:picMk id="2" creationId="{761A31F7-5C93-942D-A00D-338BA60D21E4}"/>
          </ac:picMkLst>
        </pc:picChg>
      </pc:sldChg>
      <pc:sldChg chg="modSp mod ord">
        <pc:chgData name="Durrance, Jason Randolf" userId="230bb8dd-2208-4e2c-975d-1b2d3ee92ab0" providerId="ADAL" clId="{828C41C7-4995-4CFF-8FBB-1B638A63E3A5}" dt="2026-04-12T13:11:05" v="485" actId="20577"/>
        <pc:sldMkLst>
          <pc:docMk/>
          <pc:sldMk cId="618833902" sldId="295"/>
        </pc:sldMkLst>
        <pc:spChg chg="mod">
          <ac:chgData name="Durrance, Jason Randolf" userId="230bb8dd-2208-4e2c-975d-1b2d3ee92ab0" providerId="ADAL" clId="{828C41C7-4995-4CFF-8FBB-1B638A63E3A5}" dt="2026-04-12T13:11:05" v="485" actId="20577"/>
          <ac:spMkLst>
            <pc:docMk/>
            <pc:sldMk cId="618833902" sldId="295"/>
            <ac:spMk id="2" creationId="{0E118473-8005-45D2-36DB-DD2D7D59859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E61490-0E8B-644D-8D6F-07FD60935E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808BC33-5051-4F47-9BDC-B6BF899F995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30B59F-B68B-F44C-8E5A-5E36736389EC}" type="datetime1">
              <a:rPr lang="en-US" smtClean="0"/>
              <a:t>4/12/2026</a:t>
            </a:fld>
            <a:endParaRPr lang="en-US"/>
          </a:p>
        </p:txBody>
      </p:sp>
      <p:sp>
        <p:nvSpPr>
          <p:cNvPr id="4" name="Footer Placeholder 3">
            <a:extLst>
              <a:ext uri="{FF2B5EF4-FFF2-40B4-BE49-F238E27FC236}">
                <a16:creationId xmlns:a16="http://schemas.microsoft.com/office/drawing/2014/main" id="{A4B2F1AE-0268-9D47-9C57-E38840087F7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B1B0A12-556D-4040-BD94-D45B66FF4E9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D7D9D23-156F-764B-89C5-48BBF252807B}" type="slidenum">
              <a:rPr lang="en-US" smtClean="0"/>
              <a:t>‹#›</a:t>
            </a:fld>
            <a:endParaRPr lang="en-US"/>
          </a:p>
        </p:txBody>
      </p:sp>
    </p:spTree>
    <p:extLst>
      <p:ext uri="{BB962C8B-B14F-4D97-AF65-F5344CB8AC3E}">
        <p14:creationId xmlns:p14="http://schemas.microsoft.com/office/powerpoint/2010/main" val="3802231976"/>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F39DE-44BD-9F4B-B4BB-A575182E7BAB}" type="datetime1">
              <a:rPr lang="en-US" smtClean="0"/>
              <a:t>4/12/2026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60C0C2-B960-6944-9880-3960BE984E8C}" type="slidenum">
              <a:rPr lang="en-US" smtClean="0"/>
              <a:t>‹#›</a:t>
            </a:fld>
            <a:endParaRPr lang="en-US"/>
          </a:p>
        </p:txBody>
      </p:sp>
    </p:spTree>
    <p:extLst>
      <p:ext uri="{BB962C8B-B14F-4D97-AF65-F5344CB8AC3E}">
        <p14:creationId xmlns:p14="http://schemas.microsoft.com/office/powerpoint/2010/main" val="3518556500"/>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dataset contains 100,000 train and 10,000 dev sentences, perfectly balanced at 10K and 1K per language respectively. Lesson 6 defines the RNN-acceptor pattern for sentence classification, where the encoder reads the sequence, pooling collapses it to a fixed vector, and MLP with </a:t>
            </a:r>
            <a:r>
              <a:rPr lang="en-US" err="1"/>
              <a:t>softmax</a:t>
            </a:r>
            <a:r>
              <a:rPr lang="en-US"/>
              <a:t> produces the label distribution.</a:t>
            </a:r>
          </a:p>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AEEF39DE-44BD-9F4B-B4BB-A575182E7BAB}" type="datetime1">
              <a:rPr lang="en-US" smtClean="0"/>
              <a:t>4/12/2026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6160C0C2-B960-6944-9880-3960BE984E8C}" type="slidenum">
              <a:rPr lang="en-US" smtClean="0"/>
              <a:t>2</a:t>
            </a:fld>
            <a:endParaRPr lang="en-US"/>
          </a:p>
        </p:txBody>
      </p:sp>
    </p:spTree>
    <p:extLst>
      <p:ext uri="{BB962C8B-B14F-4D97-AF65-F5344CB8AC3E}">
        <p14:creationId xmlns:p14="http://schemas.microsoft.com/office/powerpoint/2010/main" val="2840012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 word-level model would require a massive shared vocabulary across 10 languages and would fail on unseen words. Character-level input is both more compact and more informative for this task because language identity is primarily an orthographic property.</a:t>
            </a:r>
          </a:p>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AEEF39DE-44BD-9F4B-B4BB-A575182E7BAB}" type="datetime1">
              <a:rPr lang="en-US" smtClean="0"/>
              <a:t>4/12/2026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6160C0C2-B960-6944-9880-3960BE984E8C}" type="slidenum">
              <a:rPr lang="en-US" smtClean="0"/>
              <a:t>3</a:t>
            </a:fld>
            <a:endParaRPr lang="en-US"/>
          </a:p>
        </p:txBody>
      </p:sp>
    </p:spTree>
    <p:extLst>
      <p:ext uri="{BB962C8B-B14F-4D97-AF65-F5344CB8AC3E}">
        <p14:creationId xmlns:p14="http://schemas.microsoft.com/office/powerpoint/2010/main" val="2927350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GRU reduces parameters ~25% vs LSTM with no separate cell state. On short sequences (20 to 50 chars) like in our use case, GRU and LSTM perform comparably. Layer 1 learns digraphs/trigraphs, where Layer 2 learns morpheme boundaries and word shapes.</a:t>
            </a:r>
          </a:p>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AEEF39DE-44BD-9F4B-B4BB-A575182E7BAB}" type="datetime1">
              <a:rPr lang="en-US" smtClean="0"/>
              <a:t>4/12/2026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6160C0C2-B960-6944-9880-3960BE984E8C}" type="slidenum">
              <a:rPr lang="en-US" smtClean="0"/>
              <a:t>5</a:t>
            </a:fld>
            <a:endParaRPr lang="en-US"/>
          </a:p>
        </p:txBody>
      </p:sp>
    </p:spTree>
    <p:extLst>
      <p:ext uri="{BB962C8B-B14F-4D97-AF65-F5344CB8AC3E}">
        <p14:creationId xmlns:p14="http://schemas.microsoft.com/office/powerpoint/2010/main" val="2103416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Max pooling captures sparse decisive cues, where mean pooling captures global orthographic style. Concatenating both is strictly better than either alone. Masking prevents padded positions from polluting the pooled representation.</a:t>
            </a:r>
          </a:p>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AEEF39DE-44BD-9F4B-B4BB-A575182E7BAB}" type="datetime1">
              <a:rPr lang="en-US" smtClean="0"/>
              <a:t>4/12/2026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6160C0C2-B960-6944-9880-3960BE984E8C}" type="slidenum">
              <a:rPr lang="en-US" smtClean="0"/>
              <a:t>6</a:t>
            </a:fld>
            <a:endParaRPr lang="en-US"/>
          </a:p>
        </p:txBody>
      </p:sp>
    </p:spTree>
    <p:extLst>
      <p:ext uri="{BB962C8B-B14F-4D97-AF65-F5344CB8AC3E}">
        <p14:creationId xmlns:p14="http://schemas.microsoft.com/office/powerpoint/2010/main" val="962092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Vocabulary is built from train only. NFC normalization standardizes equivalent Unicode representations. Binary mask tensor ensures pooling ignores padding. No class weighting needed because dataset is perfectly balanced.</a:t>
            </a:r>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AEEF39DE-44BD-9F4B-B4BB-A575182E7BAB}" type="datetime1">
              <a:rPr lang="en-US" smtClean="0"/>
              <a:t>4/12/2026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6160C0C2-B960-6944-9880-3960BE984E8C}" type="slidenum">
              <a:rPr lang="en-US" smtClean="0"/>
              <a:t>8</a:t>
            </a:fld>
            <a:endParaRPr lang="en-US"/>
          </a:p>
        </p:txBody>
      </p:sp>
    </p:spTree>
    <p:extLst>
      <p:ext uri="{BB962C8B-B14F-4D97-AF65-F5344CB8AC3E}">
        <p14:creationId xmlns:p14="http://schemas.microsoft.com/office/powerpoint/2010/main" val="2976060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Spanish vs Portuguese is the hardest pair based on EDA. Ablation experiments will empirically validate max with mean over mean-only. Char n-gram baseline quantifies the value of the recurrent architecture.</a:t>
            </a:r>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AEEF39DE-44BD-9F4B-B4BB-A575182E7BAB}" type="datetime1">
              <a:rPr lang="en-US" smtClean="0"/>
              <a:t>4/12/2026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6160C0C2-B960-6944-9880-3960BE984E8C}" type="slidenum">
              <a:rPr lang="en-US" smtClean="0"/>
              <a:t>10</a:t>
            </a:fld>
            <a:endParaRPr lang="en-US"/>
          </a:p>
        </p:txBody>
      </p:sp>
    </p:spTree>
    <p:extLst>
      <p:ext uri="{BB962C8B-B14F-4D97-AF65-F5344CB8AC3E}">
        <p14:creationId xmlns:p14="http://schemas.microsoft.com/office/powerpoint/2010/main" val="586968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Seq2seq is for generation, not classification. Attention helps decoders and not pooled encoders. Transfer learning (</a:t>
            </a:r>
            <a:r>
              <a:rPr lang="en-US" err="1"/>
              <a:t>mBERT</a:t>
            </a:r>
            <a:r>
              <a:rPr lang="en-US"/>
              <a:t>/</a:t>
            </a:r>
            <a:r>
              <a:rPr lang="en-US" err="1"/>
              <a:t>XLM</a:t>
            </a:r>
            <a:r>
              <a:rPr lang="en-US"/>
              <a:t>-R) could be an upper-bound comparison but shifts away from the RNN framing in Lesson 6.</a:t>
            </a:r>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AEEF39DE-44BD-9F4B-B4BB-A575182E7BAB}" type="datetime1">
              <a:rPr lang="en-US" smtClean="0"/>
              <a:t>4/12/2026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6160C0C2-B960-6944-9880-3960BE984E8C}" type="slidenum">
              <a:rPr lang="en-US" smtClean="0"/>
              <a:t>17</a:t>
            </a:fld>
            <a:endParaRPr lang="en-US"/>
          </a:p>
        </p:txBody>
      </p:sp>
    </p:spTree>
    <p:extLst>
      <p:ext uri="{BB962C8B-B14F-4D97-AF65-F5344CB8AC3E}">
        <p14:creationId xmlns:p14="http://schemas.microsoft.com/office/powerpoint/2010/main" val="37273920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820FC6C-C2D0-784B-96BF-963AD9FF954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1B35FC4C-0992-9C4F-887E-D7F68C1AA685}"/>
              </a:ext>
            </a:extLst>
          </p:cNvPr>
          <p:cNvSpPr>
            <a:spLocks noGrp="1"/>
          </p:cNvSpPr>
          <p:nvPr>
            <p:ph type="subTitle" idx="1" hasCustomPrompt="1"/>
          </p:nvPr>
        </p:nvSpPr>
        <p:spPr>
          <a:xfrm>
            <a:off x="1524000" y="2690571"/>
            <a:ext cx="9144000" cy="668855"/>
          </a:xfrm>
          <a:prstGeom prst="rect">
            <a:avLst/>
          </a:prstGeom>
        </p:spPr>
        <p:txBody>
          <a:bodyPr/>
          <a:lstStyle>
            <a:lvl1pPr marL="0" indent="0" algn="l">
              <a:buNone/>
              <a:defRPr sz="2400" b="0" i="0">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1" name="Title 10">
            <a:extLst>
              <a:ext uri="{FF2B5EF4-FFF2-40B4-BE49-F238E27FC236}">
                <a16:creationId xmlns:a16="http://schemas.microsoft.com/office/drawing/2014/main" id="{1E46AAA0-E2EF-E44A-A6D5-B65457731966}"/>
              </a:ext>
            </a:extLst>
          </p:cNvPr>
          <p:cNvSpPr>
            <a:spLocks noGrp="1"/>
          </p:cNvSpPr>
          <p:nvPr>
            <p:ph type="title" hasCustomPrompt="1"/>
          </p:nvPr>
        </p:nvSpPr>
        <p:spPr>
          <a:xfrm>
            <a:off x="1524000" y="1113184"/>
            <a:ext cx="9144000" cy="1507606"/>
          </a:xfrm>
          <a:prstGeom prst="rect">
            <a:avLst/>
          </a:prstGeom>
        </p:spPr>
        <p:txBody>
          <a:bodyPr anchor="b"/>
          <a:lstStyle>
            <a:lvl1pPr>
              <a:defRPr b="0" i="0">
                <a:solidFill>
                  <a:srgbClr val="234078"/>
                </a:solidFill>
                <a:latin typeface="Franklin Gothic Medium" panose="020B0603020102020204" pitchFamily="34" charset="0"/>
              </a:defRPr>
            </a:lvl1pPr>
          </a:lstStyle>
          <a:p>
            <a:r>
              <a:rPr lang="en-US"/>
              <a:t>Click to add title</a:t>
            </a:r>
          </a:p>
        </p:txBody>
      </p:sp>
      <p:sp>
        <p:nvSpPr>
          <p:cNvPr id="2" name="Rectangle 1">
            <a:extLst>
              <a:ext uri="{FF2B5EF4-FFF2-40B4-BE49-F238E27FC236}">
                <a16:creationId xmlns:a16="http://schemas.microsoft.com/office/drawing/2014/main" id="{5CF9CF5A-D21C-4764-BB77-13406E404CC4}"/>
              </a:ext>
            </a:extLst>
          </p:cNvPr>
          <p:cNvSpPr/>
          <p:nvPr userDrawn="1"/>
        </p:nvSpPr>
        <p:spPr>
          <a:xfrm>
            <a:off x="2334409" y="5862918"/>
            <a:ext cx="1602890" cy="4518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282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A188F5E-23B4-8345-B2A5-105EF759DFE1}"/>
              </a:ext>
            </a:extLst>
          </p:cNvPr>
          <p:cNvPicPr>
            <a:picLocks noChangeAspect="1"/>
          </p:cNvPicPr>
          <p:nvPr userDrawn="1"/>
        </p:nvPicPr>
        <p:blipFill>
          <a:blip r:embed="rId2"/>
          <a:stretch>
            <a:fillRect/>
          </a:stretch>
        </p:blipFill>
        <p:spPr>
          <a:xfrm>
            <a:off x="-2" y="-1"/>
            <a:ext cx="12192002" cy="6858001"/>
          </a:xfrm>
          <a:prstGeom prst="rect">
            <a:avLst/>
          </a:prstGeom>
        </p:spPr>
      </p:pic>
      <p:sp>
        <p:nvSpPr>
          <p:cNvPr id="2" name="Title 1">
            <a:extLst>
              <a:ext uri="{FF2B5EF4-FFF2-40B4-BE49-F238E27FC236}">
                <a16:creationId xmlns:a16="http://schemas.microsoft.com/office/drawing/2014/main" id="{3FACD065-015B-2A4A-91EC-6E198CAAB3C9}"/>
              </a:ext>
            </a:extLst>
          </p:cNvPr>
          <p:cNvSpPr>
            <a:spLocks noGrp="1"/>
          </p:cNvSpPr>
          <p:nvPr>
            <p:ph type="title" hasCustomPrompt="1"/>
          </p:nvPr>
        </p:nvSpPr>
        <p:spPr>
          <a:xfrm>
            <a:off x="838200" y="365125"/>
            <a:ext cx="10515600" cy="1026353"/>
          </a:xfrm>
          <a:prstGeom prst="rect">
            <a:avLst/>
          </a:prstGeom>
        </p:spPr>
        <p:txBody>
          <a:bodyPr anchor="ctr"/>
          <a:lstStyle>
            <a:lvl1pPr>
              <a:defRPr b="0" i="0">
                <a:solidFill>
                  <a:srgbClr val="7E9FC3"/>
                </a:solidFill>
                <a:latin typeface="Franklin Gothic Medium" panose="020B0603020102020204" pitchFamily="34" charset="0"/>
              </a:defRPr>
            </a:lvl1pPr>
          </a:lstStyle>
          <a:p>
            <a:r>
              <a:rPr lang="en-US"/>
              <a:t>Click to add title</a:t>
            </a:r>
          </a:p>
        </p:txBody>
      </p:sp>
      <p:sp>
        <p:nvSpPr>
          <p:cNvPr id="3" name="Content Placeholder 2">
            <a:extLst>
              <a:ext uri="{FF2B5EF4-FFF2-40B4-BE49-F238E27FC236}">
                <a16:creationId xmlns:a16="http://schemas.microsoft.com/office/drawing/2014/main" id="{E28639DD-54B2-D940-A95F-4337D9FDCCA3}"/>
              </a:ext>
            </a:extLst>
          </p:cNvPr>
          <p:cNvSpPr>
            <a:spLocks noGrp="1"/>
          </p:cNvSpPr>
          <p:nvPr>
            <p:ph sz="half" idx="1"/>
          </p:nvPr>
        </p:nvSpPr>
        <p:spPr>
          <a:xfrm>
            <a:off x="838199" y="1391478"/>
            <a:ext cx="10515599" cy="4785485"/>
          </a:xfrm>
          <a:prstGeom prst="rect">
            <a:avLst/>
          </a:prstGeom>
        </p:spPr>
        <p:txBody>
          <a:bodyPr/>
          <a:lstStyle>
            <a:lvl1pPr>
              <a:defRPr b="0" i="0">
                <a:latin typeface="Franklin Gothic Book" panose="020B0503020102020204" pitchFamily="34" charset="0"/>
              </a:defRPr>
            </a:lvl1pPr>
          </a:lstStyle>
          <a:p>
            <a:pPr lvl="0"/>
            <a:r>
              <a:rPr lang="en-US"/>
              <a:t>Edit Master text styles</a:t>
            </a:r>
          </a:p>
        </p:txBody>
      </p:sp>
      <p:sp>
        <p:nvSpPr>
          <p:cNvPr id="5" name="TextBox 4">
            <a:extLst>
              <a:ext uri="{FF2B5EF4-FFF2-40B4-BE49-F238E27FC236}">
                <a16:creationId xmlns:a16="http://schemas.microsoft.com/office/drawing/2014/main" id="{0D99DC2A-0A86-AC42-B596-6044546DBD64}"/>
              </a:ext>
            </a:extLst>
          </p:cNvPr>
          <p:cNvSpPr txBox="1"/>
          <p:nvPr userDrawn="1"/>
        </p:nvSpPr>
        <p:spPr>
          <a:xfrm>
            <a:off x="11625944" y="6383515"/>
            <a:ext cx="457176" cy="369332"/>
          </a:xfrm>
          <a:prstGeom prst="rect">
            <a:avLst/>
          </a:prstGeom>
          <a:noFill/>
        </p:spPr>
        <p:txBody>
          <a:bodyPr wrap="none" rtlCol="0">
            <a:spAutoFit/>
          </a:bodyPr>
          <a:lstStyle/>
          <a:p>
            <a:fld id="{8CE81201-A5F3-B248-8E6A-3DAD79E0A584}" type="slidenum">
              <a:rPr lang="en-US" smtClean="0">
                <a:solidFill>
                  <a:schemeClr val="bg1"/>
                </a:solidFill>
              </a:rPr>
              <a:t>‹#›</a:t>
            </a:fld>
            <a:endParaRPr lang="en-US">
              <a:solidFill>
                <a:schemeClr val="bg1"/>
              </a:solidFill>
            </a:endParaRPr>
          </a:p>
        </p:txBody>
      </p:sp>
      <p:sp>
        <p:nvSpPr>
          <p:cNvPr id="4" name="Rectangle 3">
            <a:extLst>
              <a:ext uri="{FF2B5EF4-FFF2-40B4-BE49-F238E27FC236}">
                <a16:creationId xmlns:a16="http://schemas.microsoft.com/office/drawing/2014/main" id="{E074B976-95EC-46B9-A72A-572617394883}"/>
              </a:ext>
            </a:extLst>
          </p:cNvPr>
          <p:cNvSpPr/>
          <p:nvPr userDrawn="1"/>
        </p:nvSpPr>
        <p:spPr>
          <a:xfrm>
            <a:off x="8659906" y="6492875"/>
            <a:ext cx="1000461" cy="259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17419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4176280"/>
      </p:ext>
    </p:extLst>
  </p:cSld>
  <p:clrMap bg1="lt1" tx1="dk1" bg2="lt2" tx2="dk2" accent1="accent1" accent2="accent2" accent3="accent3" accent4="accent4" accent5="accent5" accent6="accent6" hlink="hlink" folHlink="folHlink"/>
  <p:sldLayoutIdLst>
    <p:sldLayoutId id="2147483649" r:id="rId1"/>
    <p:sldLayoutId id="2147483652"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0">
            <a:extLst>
              <a:ext uri="{FF2B5EF4-FFF2-40B4-BE49-F238E27FC236}">
                <a16:creationId xmlns:a16="http://schemas.microsoft.com/office/drawing/2014/main" id="{C818E022-282C-8DE2-0575-610AE6A8CD14}"/>
              </a:ext>
            </a:extLst>
          </p:cNvPr>
          <p:cNvSpPr/>
          <p:nvPr/>
        </p:nvSpPr>
        <p:spPr>
          <a:xfrm>
            <a:off x="975360" y="853440"/>
            <a:ext cx="8534400" cy="1219200"/>
          </a:xfrm>
          <a:prstGeom prst="rect">
            <a:avLst/>
          </a:prstGeom>
          <a:noFill/>
          <a:ln/>
        </p:spPr>
        <p:txBody>
          <a:bodyPr wrap="square" lIns="0" tIns="0" rIns="0" bIns="0" rtlCol="0" anchor="ctr"/>
          <a:lstStyle/>
          <a:p>
            <a:pPr defTabSz="1219170"/>
            <a:r>
              <a:rPr lang="en-US" sz="5067" b="1">
                <a:solidFill>
                  <a:srgbClr val="1E407C"/>
                </a:solidFill>
                <a:latin typeface="Calibri" pitchFamily="34" charset="0"/>
                <a:ea typeface="Calibri" pitchFamily="34" charset="-122"/>
                <a:cs typeface="Calibri" pitchFamily="34" charset="-120"/>
              </a:rPr>
              <a:t>Group Discussion 4</a:t>
            </a:r>
            <a:endParaRPr lang="en-US" sz="5067">
              <a:solidFill>
                <a:prstClr val="black"/>
              </a:solidFill>
              <a:latin typeface="Calibri" panose="020F0502020204030204"/>
            </a:endParaRPr>
          </a:p>
        </p:txBody>
      </p:sp>
      <p:sp>
        <p:nvSpPr>
          <p:cNvPr id="9" name="Text 1">
            <a:extLst>
              <a:ext uri="{FF2B5EF4-FFF2-40B4-BE49-F238E27FC236}">
                <a16:creationId xmlns:a16="http://schemas.microsoft.com/office/drawing/2014/main" id="{2A7BF04B-87F2-B9E8-8B8D-DACC5571FE14}"/>
              </a:ext>
            </a:extLst>
          </p:cNvPr>
          <p:cNvSpPr/>
          <p:nvPr/>
        </p:nvSpPr>
        <p:spPr>
          <a:xfrm>
            <a:off x="975360" y="2072640"/>
            <a:ext cx="7924800" cy="853440"/>
          </a:xfrm>
          <a:prstGeom prst="rect">
            <a:avLst/>
          </a:prstGeom>
          <a:noFill/>
          <a:ln/>
        </p:spPr>
        <p:txBody>
          <a:bodyPr wrap="square" lIns="0" tIns="0" rIns="0" bIns="0" rtlCol="0" anchor="ctr"/>
          <a:lstStyle/>
          <a:p>
            <a:pPr defTabSz="1219170"/>
            <a:r>
              <a:rPr lang="en-US" sz="2400">
                <a:solidFill>
                  <a:srgbClr val="1E407C"/>
                </a:solidFill>
                <a:latin typeface="Calibri" pitchFamily="34" charset="0"/>
                <a:ea typeface="Calibri" pitchFamily="34" charset="-122"/>
                <a:cs typeface="Calibri" pitchFamily="34" charset="-120"/>
              </a:rPr>
              <a:t>Proposed RNN Architecture for Language Detection</a:t>
            </a:r>
            <a:endParaRPr lang="en-US" sz="2400">
              <a:solidFill>
                <a:prstClr val="black"/>
              </a:solidFill>
              <a:latin typeface="Calibri" panose="020F0502020204030204"/>
            </a:endParaRPr>
          </a:p>
        </p:txBody>
      </p:sp>
      <p:sp>
        <p:nvSpPr>
          <p:cNvPr id="10" name="Text 2">
            <a:extLst>
              <a:ext uri="{FF2B5EF4-FFF2-40B4-BE49-F238E27FC236}">
                <a16:creationId xmlns:a16="http://schemas.microsoft.com/office/drawing/2014/main" id="{59A17849-8764-37B9-3DB4-65F6C566C97F}"/>
              </a:ext>
            </a:extLst>
          </p:cNvPr>
          <p:cNvSpPr/>
          <p:nvPr/>
        </p:nvSpPr>
        <p:spPr>
          <a:xfrm>
            <a:off x="975360" y="2804160"/>
            <a:ext cx="7924800" cy="609600"/>
          </a:xfrm>
          <a:prstGeom prst="rect">
            <a:avLst/>
          </a:prstGeom>
          <a:noFill/>
          <a:ln/>
        </p:spPr>
        <p:txBody>
          <a:bodyPr wrap="square" lIns="0" tIns="0" rIns="0" bIns="0" rtlCol="0" anchor="ctr"/>
          <a:lstStyle/>
          <a:p>
            <a:pPr defTabSz="1219170"/>
            <a:r>
              <a:rPr lang="en-US" sz="1867" i="1">
                <a:solidFill>
                  <a:srgbClr val="6B7280"/>
                </a:solidFill>
                <a:latin typeface="Calibri" pitchFamily="34" charset="0"/>
                <a:ea typeface="Calibri" pitchFamily="34" charset="-122"/>
                <a:cs typeface="Calibri" pitchFamily="34" charset="-120"/>
              </a:rPr>
              <a:t>Character-Level BiGRU Sentence Classifier</a:t>
            </a:r>
            <a:endParaRPr lang="en-US" sz="1867">
              <a:solidFill>
                <a:prstClr val="black"/>
              </a:solidFill>
              <a:latin typeface="Calibri" panose="020F0502020204030204"/>
            </a:endParaRPr>
          </a:p>
        </p:txBody>
      </p:sp>
      <p:sp>
        <p:nvSpPr>
          <p:cNvPr id="11" name="Text 3">
            <a:extLst>
              <a:ext uri="{FF2B5EF4-FFF2-40B4-BE49-F238E27FC236}">
                <a16:creationId xmlns:a16="http://schemas.microsoft.com/office/drawing/2014/main" id="{C17FEAB3-C663-85EA-7E77-27C41C640789}"/>
              </a:ext>
            </a:extLst>
          </p:cNvPr>
          <p:cNvSpPr/>
          <p:nvPr/>
        </p:nvSpPr>
        <p:spPr>
          <a:xfrm>
            <a:off x="975360" y="4145280"/>
            <a:ext cx="8534400" cy="487680"/>
          </a:xfrm>
          <a:prstGeom prst="rect">
            <a:avLst/>
          </a:prstGeom>
          <a:noFill/>
          <a:ln/>
        </p:spPr>
        <p:txBody>
          <a:bodyPr wrap="square" lIns="0" tIns="0" rIns="0" bIns="0" rtlCol="0" anchor="ctr"/>
          <a:lstStyle/>
          <a:p>
            <a:pPr defTabSz="1219170"/>
            <a:r>
              <a:rPr lang="en-US" sz="1733">
                <a:solidFill>
                  <a:srgbClr val="6B7280"/>
                </a:solidFill>
                <a:latin typeface="Calibri" pitchFamily="34" charset="0"/>
                <a:ea typeface="Calibri" pitchFamily="34" charset="-122"/>
                <a:cs typeface="Calibri" pitchFamily="34" charset="-120"/>
              </a:rPr>
              <a:t>Bilal Khan  •  Jason Durrance  •  Sang-Yong Oh  •  Timothy Meyer</a:t>
            </a:r>
            <a:endParaRPr lang="en-US" sz="1733">
              <a:solidFill>
                <a:prstClr val="black"/>
              </a:solidFill>
              <a:latin typeface="Calibri" panose="020F0502020204030204"/>
            </a:endParaRPr>
          </a:p>
        </p:txBody>
      </p:sp>
      <p:sp>
        <p:nvSpPr>
          <p:cNvPr id="12" name="Text 4">
            <a:extLst>
              <a:ext uri="{FF2B5EF4-FFF2-40B4-BE49-F238E27FC236}">
                <a16:creationId xmlns:a16="http://schemas.microsoft.com/office/drawing/2014/main" id="{79801102-72A7-AAA0-0535-988152F36777}"/>
              </a:ext>
            </a:extLst>
          </p:cNvPr>
          <p:cNvSpPr/>
          <p:nvPr/>
        </p:nvSpPr>
        <p:spPr>
          <a:xfrm>
            <a:off x="975360" y="4754880"/>
            <a:ext cx="8534400" cy="426720"/>
          </a:xfrm>
          <a:prstGeom prst="rect">
            <a:avLst/>
          </a:prstGeom>
          <a:noFill/>
          <a:ln/>
        </p:spPr>
        <p:txBody>
          <a:bodyPr wrap="square" lIns="0" tIns="0" rIns="0" bIns="0" rtlCol="0" anchor="ctr"/>
          <a:lstStyle/>
          <a:p>
            <a:pPr defTabSz="1219170"/>
            <a:r>
              <a:rPr lang="en-US" sz="1467">
                <a:solidFill>
                  <a:srgbClr val="6B7280"/>
                </a:solidFill>
                <a:latin typeface="Calibri" pitchFamily="34" charset="0"/>
                <a:ea typeface="Calibri" pitchFamily="34" charset="-122"/>
                <a:cs typeface="Calibri" pitchFamily="34" charset="-120"/>
              </a:rPr>
              <a:t>AI 574 - Natural Language Processing  |  Tatoeba Top-10 Languages</a:t>
            </a:r>
            <a:endParaRPr lang="en-US" sz="1467">
              <a:solidFill>
                <a:prstClr val="black"/>
              </a:solidFill>
              <a:latin typeface="Calibri" panose="020F0502020204030204"/>
            </a:endParaRPr>
          </a:p>
        </p:txBody>
      </p:sp>
    </p:spTree>
    <p:extLst>
      <p:ext uri="{BB962C8B-B14F-4D97-AF65-F5344CB8AC3E}">
        <p14:creationId xmlns:p14="http://schemas.microsoft.com/office/powerpoint/2010/main" val="1999593507"/>
      </p:ext>
    </p:extLst>
  </p:cSld>
  <p:clrMapOvr>
    <a:masterClrMapping/>
  </p:clrMapOvr>
  <mc:AlternateContent xmlns:mc="http://schemas.openxmlformats.org/markup-compatibility/2006">
    <mc:Choice xmlns:p14="http://schemas.microsoft.com/office/powerpoint/2010/main" Requires="p14">
      <p:transition spd="slow" p14:dur="2000" advTm="65050"/>
    </mc:Choice>
    <mc:Fallback>
      <p:transition spd="slow" advTm="6505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7EC2F1C5-69D6-134E-7F34-24E18F88686A}"/>
              </a:ext>
            </a:extLst>
          </p:cNvPr>
          <p:cNvSpPr/>
          <p:nvPr/>
        </p:nvSpPr>
        <p:spPr>
          <a:xfrm>
            <a:off x="731520" y="365760"/>
            <a:ext cx="10363200" cy="731520"/>
          </a:xfrm>
          <a:prstGeom prst="rect">
            <a:avLst/>
          </a:prstGeom>
          <a:noFill/>
          <a:ln/>
        </p:spPr>
        <p:txBody>
          <a:bodyPr wrap="square" lIns="0" tIns="0" rIns="0" bIns="0" rtlCol="0" anchor="ctr"/>
          <a:lstStyle/>
          <a:p>
            <a:r>
              <a:rPr lang="en-US" sz="3467" b="1">
                <a:solidFill>
                  <a:srgbClr val="1E407C"/>
                </a:solidFill>
                <a:latin typeface="Calibri" pitchFamily="34" charset="0"/>
                <a:ea typeface="Calibri" pitchFamily="34" charset="-122"/>
                <a:cs typeface="Calibri" pitchFamily="34" charset="-120"/>
              </a:rPr>
              <a:t>Language Detection as Sentence Classification</a:t>
            </a:r>
            <a:endParaRPr lang="en-US" sz="3467"/>
          </a:p>
        </p:txBody>
      </p:sp>
      <p:sp>
        <p:nvSpPr>
          <p:cNvPr id="5" name="Text 1">
            <a:extLst>
              <a:ext uri="{FF2B5EF4-FFF2-40B4-BE49-F238E27FC236}">
                <a16:creationId xmlns:a16="http://schemas.microsoft.com/office/drawing/2014/main" id="{2031D874-15EC-72B8-80B8-70B48A4CD0A4}"/>
              </a:ext>
            </a:extLst>
          </p:cNvPr>
          <p:cNvSpPr/>
          <p:nvPr/>
        </p:nvSpPr>
        <p:spPr>
          <a:xfrm>
            <a:off x="731520" y="1158240"/>
            <a:ext cx="10363200" cy="365760"/>
          </a:xfrm>
          <a:prstGeom prst="rect">
            <a:avLst/>
          </a:prstGeom>
          <a:noFill/>
          <a:ln/>
        </p:spPr>
        <p:txBody>
          <a:bodyPr wrap="square" lIns="0" tIns="0" rIns="0" bIns="0" rtlCol="0" anchor="ctr"/>
          <a:lstStyle/>
          <a:p>
            <a:r>
              <a:rPr lang="en-US" sz="1600">
                <a:solidFill>
                  <a:srgbClr val="1A1A2E"/>
                </a:solidFill>
                <a:latin typeface="Calibri" pitchFamily="34" charset="0"/>
                <a:ea typeface="Calibri" pitchFamily="34" charset="-122"/>
                <a:cs typeface="Calibri" pitchFamily="34" charset="-120"/>
              </a:rPr>
              <a:t>The core difference from sentiment analysis is the input representation:</a:t>
            </a:r>
            <a:endParaRPr lang="en-US" sz="1600"/>
          </a:p>
        </p:txBody>
      </p:sp>
      <p:graphicFrame>
        <p:nvGraphicFramePr>
          <p:cNvPr id="6" name="Table 0">
            <a:extLst>
              <a:ext uri="{FF2B5EF4-FFF2-40B4-BE49-F238E27FC236}">
                <a16:creationId xmlns:a16="http://schemas.microsoft.com/office/drawing/2014/main" id="{E37AC098-69D1-72F0-DD47-BE609ED18CA7}"/>
              </a:ext>
            </a:extLst>
          </p:cNvPr>
          <p:cNvGraphicFramePr>
            <a:graphicFrameLocks noGrp="1"/>
          </p:cNvGraphicFramePr>
          <p:nvPr/>
        </p:nvGraphicFramePr>
        <p:xfrm>
          <a:off x="731520" y="1584960"/>
          <a:ext cx="10119360" cy="1503680"/>
        </p:xfrm>
        <a:graphic>
          <a:graphicData uri="http://schemas.openxmlformats.org/drawingml/2006/table">
            <a:tbl>
              <a:tblPr/>
              <a:tblGrid>
                <a:gridCol w="24384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852160">
                  <a:extLst>
                    <a:ext uri="{9D8B030D-6E8A-4147-A177-3AD203B41FA5}">
                      <a16:colId xmlns:a16="http://schemas.microsoft.com/office/drawing/2014/main" val="20002"/>
                    </a:ext>
                  </a:extLst>
                </a:gridCol>
              </a:tblGrid>
              <a:tr h="365760">
                <a:tc>
                  <a:txBody>
                    <a:bodyPr/>
                    <a:lstStyle/>
                    <a:p>
                      <a:pPr marL="0" indent="0">
                        <a:buNone/>
                      </a:pPr>
                      <a:r>
                        <a:rPr lang="en-US" sz="1500" b="1">
                          <a:solidFill>
                            <a:srgbClr val="FFFFFF"/>
                          </a:solidFill>
                          <a:latin typeface="Calibri" pitchFamily="34" charset="0"/>
                          <a:ea typeface="Calibri" pitchFamily="34" charset="-122"/>
                          <a:cs typeface="Calibri" pitchFamily="34" charset="-120"/>
                        </a:rPr>
                        <a:t>Task</a:t>
                      </a:r>
                      <a:endParaRPr lang="en-US" sz="15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407C"/>
                    </a:solidFill>
                  </a:tcPr>
                </a:tc>
                <a:tc>
                  <a:txBody>
                    <a:bodyPr/>
                    <a:lstStyle/>
                    <a:p>
                      <a:pPr marL="0" indent="0">
                        <a:buNone/>
                      </a:pPr>
                      <a:r>
                        <a:rPr lang="en-US" sz="1500" b="1">
                          <a:solidFill>
                            <a:srgbClr val="FFFFFF"/>
                          </a:solidFill>
                          <a:latin typeface="Calibri" pitchFamily="34" charset="0"/>
                          <a:ea typeface="Calibri" pitchFamily="34" charset="-122"/>
                          <a:cs typeface="Calibri" pitchFamily="34" charset="-120"/>
                        </a:rPr>
                        <a:t>Input Unit</a:t>
                      </a:r>
                      <a:endParaRPr lang="en-US" sz="15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407C"/>
                    </a:solidFill>
                  </a:tcPr>
                </a:tc>
                <a:tc>
                  <a:txBody>
                    <a:bodyPr/>
                    <a:lstStyle/>
                    <a:p>
                      <a:pPr marL="0" indent="0">
                        <a:buNone/>
                      </a:pPr>
                      <a:r>
                        <a:rPr lang="en-US" sz="1500" b="1">
                          <a:solidFill>
                            <a:srgbClr val="FFFFFF"/>
                          </a:solidFill>
                          <a:latin typeface="Calibri" pitchFamily="34" charset="0"/>
                          <a:ea typeface="Calibri" pitchFamily="34" charset="-122"/>
                          <a:cs typeface="Calibri" pitchFamily="34" charset="-120"/>
                        </a:rPr>
                        <a:t>Why</a:t>
                      </a:r>
                      <a:endParaRPr lang="en-US" sz="15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407C"/>
                    </a:solidFill>
                  </a:tcPr>
                </a:tc>
                <a:extLst>
                  <a:ext uri="{0D108BD9-81ED-4DB2-BD59-A6C34878D82A}">
                    <a16:rowId xmlns:a16="http://schemas.microsoft.com/office/drawing/2014/main" val="10000"/>
                  </a:ext>
                </a:extLst>
              </a:tr>
              <a:tr h="528320">
                <a:tc>
                  <a:txBody>
                    <a:bodyPr/>
                    <a:lstStyle/>
                    <a:p>
                      <a:pPr marL="0" indent="0">
                        <a:buNone/>
                      </a:pPr>
                      <a:r>
                        <a:rPr lang="en-US" sz="1500">
                          <a:solidFill>
                            <a:srgbClr val="000000"/>
                          </a:solidFill>
                          <a:latin typeface="Calibri" pitchFamily="34" charset="0"/>
                          <a:ea typeface="Calibri" pitchFamily="34" charset="-122"/>
                          <a:cs typeface="Calibri" pitchFamily="34" charset="-120"/>
                        </a:rPr>
                        <a:t>Sentiment analysis</a:t>
                      </a:r>
                      <a:endParaRPr lang="en-US" sz="15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500" b="1">
                          <a:solidFill>
                            <a:srgbClr val="000000"/>
                          </a:solidFill>
                          <a:latin typeface="Calibri" pitchFamily="34" charset="0"/>
                          <a:ea typeface="Calibri" pitchFamily="34" charset="-122"/>
                          <a:cs typeface="Calibri" pitchFamily="34" charset="-120"/>
                        </a:rPr>
                        <a:t>Word tokens</a:t>
                      </a:r>
                      <a:endParaRPr lang="en-US" sz="15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a:solidFill>
                            <a:srgbClr val="000000"/>
                          </a:solidFill>
                          <a:latin typeface="Calibri" pitchFamily="34" charset="0"/>
                          <a:ea typeface="Calibri" pitchFamily="34" charset="-122"/>
                          <a:cs typeface="Calibri" pitchFamily="34" charset="-120"/>
                        </a:rPr>
                        <a:t>Semantic meaning lives in words and phrases; polarity is a function of word-level features</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609600">
                <a:tc>
                  <a:txBody>
                    <a:bodyPr/>
                    <a:lstStyle/>
                    <a:p>
                      <a:pPr marL="0" indent="0">
                        <a:buNone/>
                      </a:pPr>
                      <a:r>
                        <a:rPr lang="en-US" sz="1500">
                          <a:solidFill>
                            <a:srgbClr val="000000"/>
                          </a:solidFill>
                          <a:latin typeface="Calibri" pitchFamily="34" charset="0"/>
                          <a:ea typeface="Calibri" pitchFamily="34" charset="-122"/>
                          <a:cs typeface="Calibri" pitchFamily="34" charset="-120"/>
                        </a:rPr>
                        <a:t>Language detection</a:t>
                      </a:r>
                      <a:endParaRPr lang="en-US" sz="15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500" b="1">
                          <a:solidFill>
                            <a:srgbClr val="000000"/>
                          </a:solidFill>
                          <a:latin typeface="Calibri" pitchFamily="34" charset="0"/>
                          <a:ea typeface="Calibri" pitchFamily="34" charset="-122"/>
                          <a:cs typeface="Calibri" pitchFamily="34" charset="-120"/>
                        </a:rPr>
                        <a:t>Characters</a:t>
                      </a:r>
                      <a:endParaRPr lang="en-US" sz="15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a:solidFill>
                            <a:srgbClr val="000000"/>
                          </a:solidFill>
                          <a:latin typeface="Calibri" pitchFamily="34" charset="0"/>
                          <a:ea typeface="Calibri" pitchFamily="34" charset="-122"/>
                          <a:cs typeface="Calibri" pitchFamily="34" charset="-120"/>
                        </a:rPr>
                        <a:t>Language identity is encoded in character distributions, diacritical marks, script choice, and subword morphology — not in word-level semantics</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Shape 2">
            <a:extLst>
              <a:ext uri="{FF2B5EF4-FFF2-40B4-BE49-F238E27FC236}">
                <a16:creationId xmlns:a16="http://schemas.microsoft.com/office/drawing/2014/main" id="{F05883D0-6B1B-0837-1BE5-AA94D393D4C1}"/>
              </a:ext>
            </a:extLst>
          </p:cNvPr>
          <p:cNvSpPr/>
          <p:nvPr/>
        </p:nvSpPr>
        <p:spPr>
          <a:xfrm>
            <a:off x="731520" y="3455322"/>
            <a:ext cx="3048000" cy="1036320"/>
          </a:xfrm>
          <a:prstGeom prst="rect">
            <a:avLst/>
          </a:prstGeom>
          <a:solidFill>
            <a:srgbClr val="F2F4F7"/>
          </a:solidFill>
          <a:ln/>
          <a:effectLst>
            <a:outerShdw blurRad="38100" dist="12700" dir="8100000" algn="bl" rotWithShape="0">
              <a:srgbClr val="000000">
                <a:alpha val="10000"/>
              </a:srgbClr>
            </a:outerShdw>
          </a:effectLst>
        </p:spPr>
        <p:txBody>
          <a:bodyPr/>
          <a:lstStyle/>
          <a:p>
            <a:endParaRPr lang="en-US" sz="2400"/>
          </a:p>
        </p:txBody>
      </p:sp>
      <p:sp>
        <p:nvSpPr>
          <p:cNvPr id="8" name="Text 3">
            <a:extLst>
              <a:ext uri="{FF2B5EF4-FFF2-40B4-BE49-F238E27FC236}">
                <a16:creationId xmlns:a16="http://schemas.microsoft.com/office/drawing/2014/main" id="{FEE831D5-02A6-1672-5A12-F5ABDBBD7377}"/>
              </a:ext>
            </a:extLst>
          </p:cNvPr>
          <p:cNvSpPr/>
          <p:nvPr/>
        </p:nvSpPr>
        <p:spPr>
          <a:xfrm>
            <a:off x="731520" y="3479706"/>
            <a:ext cx="3048000" cy="585216"/>
          </a:xfrm>
          <a:prstGeom prst="rect">
            <a:avLst/>
          </a:prstGeom>
          <a:noFill/>
          <a:ln/>
        </p:spPr>
        <p:txBody>
          <a:bodyPr wrap="square" lIns="0" tIns="0" rIns="0" bIns="0" rtlCol="0" anchor="ctr"/>
          <a:lstStyle/>
          <a:p>
            <a:pPr algn="ctr"/>
            <a:r>
              <a:rPr lang="en-US" sz="3200" b="1">
                <a:solidFill>
                  <a:srgbClr val="1E407C"/>
                </a:solidFill>
                <a:latin typeface="Calibri" pitchFamily="34" charset="0"/>
                <a:ea typeface="Calibri" pitchFamily="34" charset="-122"/>
                <a:cs typeface="Calibri" pitchFamily="34" charset="-120"/>
              </a:rPr>
              <a:t>100,000</a:t>
            </a:r>
            <a:endParaRPr lang="en-US" sz="3200"/>
          </a:p>
        </p:txBody>
      </p:sp>
      <p:sp>
        <p:nvSpPr>
          <p:cNvPr id="9" name="Text 4">
            <a:extLst>
              <a:ext uri="{FF2B5EF4-FFF2-40B4-BE49-F238E27FC236}">
                <a16:creationId xmlns:a16="http://schemas.microsoft.com/office/drawing/2014/main" id="{FA4A63B0-8DCC-50FD-EE2F-C9359D98158C}"/>
              </a:ext>
            </a:extLst>
          </p:cNvPr>
          <p:cNvSpPr/>
          <p:nvPr/>
        </p:nvSpPr>
        <p:spPr>
          <a:xfrm>
            <a:off x="731520" y="4028346"/>
            <a:ext cx="3048000" cy="341376"/>
          </a:xfrm>
          <a:prstGeom prst="rect">
            <a:avLst/>
          </a:prstGeom>
          <a:noFill/>
          <a:ln/>
        </p:spPr>
        <p:txBody>
          <a:bodyPr wrap="square" lIns="0" tIns="0" rIns="0" bIns="0" rtlCol="0" anchor="ctr"/>
          <a:lstStyle/>
          <a:p>
            <a:pPr algn="ctr"/>
            <a:r>
              <a:rPr lang="en-US" sz="1333">
                <a:solidFill>
                  <a:srgbClr val="6B7280"/>
                </a:solidFill>
                <a:latin typeface="Calibri" pitchFamily="34" charset="0"/>
                <a:ea typeface="Calibri" pitchFamily="34" charset="-122"/>
                <a:cs typeface="Calibri" pitchFamily="34" charset="-120"/>
              </a:rPr>
              <a:t>train sentences (10K/lang)</a:t>
            </a:r>
            <a:endParaRPr lang="en-US" sz="1333"/>
          </a:p>
        </p:txBody>
      </p:sp>
      <p:sp>
        <p:nvSpPr>
          <p:cNvPr id="10" name="Shape 5">
            <a:extLst>
              <a:ext uri="{FF2B5EF4-FFF2-40B4-BE49-F238E27FC236}">
                <a16:creationId xmlns:a16="http://schemas.microsoft.com/office/drawing/2014/main" id="{9FD9B2A5-86C8-206D-B9A8-9C2560B96830}"/>
              </a:ext>
            </a:extLst>
          </p:cNvPr>
          <p:cNvSpPr/>
          <p:nvPr/>
        </p:nvSpPr>
        <p:spPr>
          <a:xfrm>
            <a:off x="4267200" y="3455322"/>
            <a:ext cx="3048000" cy="1036320"/>
          </a:xfrm>
          <a:prstGeom prst="rect">
            <a:avLst/>
          </a:prstGeom>
          <a:solidFill>
            <a:srgbClr val="F2F4F7"/>
          </a:solidFill>
          <a:ln/>
          <a:effectLst>
            <a:outerShdw blurRad="38100" dist="12700" dir="8100000" algn="bl" rotWithShape="0">
              <a:srgbClr val="000000">
                <a:alpha val="10000"/>
              </a:srgbClr>
            </a:outerShdw>
          </a:effectLst>
        </p:spPr>
        <p:txBody>
          <a:bodyPr/>
          <a:lstStyle/>
          <a:p>
            <a:endParaRPr lang="en-US" sz="2400"/>
          </a:p>
        </p:txBody>
      </p:sp>
      <p:sp>
        <p:nvSpPr>
          <p:cNvPr id="11" name="Text 6">
            <a:extLst>
              <a:ext uri="{FF2B5EF4-FFF2-40B4-BE49-F238E27FC236}">
                <a16:creationId xmlns:a16="http://schemas.microsoft.com/office/drawing/2014/main" id="{2F698F64-4610-46F6-EBE1-C2584469089C}"/>
              </a:ext>
            </a:extLst>
          </p:cNvPr>
          <p:cNvSpPr/>
          <p:nvPr/>
        </p:nvSpPr>
        <p:spPr>
          <a:xfrm>
            <a:off x="4267200" y="3479706"/>
            <a:ext cx="3048000" cy="585216"/>
          </a:xfrm>
          <a:prstGeom prst="rect">
            <a:avLst/>
          </a:prstGeom>
          <a:noFill/>
          <a:ln/>
        </p:spPr>
        <p:txBody>
          <a:bodyPr wrap="square" lIns="0" tIns="0" rIns="0" bIns="0" rtlCol="0" anchor="ctr"/>
          <a:lstStyle/>
          <a:p>
            <a:pPr algn="ctr"/>
            <a:r>
              <a:rPr lang="en-US" sz="3200" b="1">
                <a:solidFill>
                  <a:srgbClr val="1E407C"/>
                </a:solidFill>
                <a:latin typeface="Calibri" pitchFamily="34" charset="0"/>
                <a:ea typeface="Calibri" pitchFamily="34" charset="-122"/>
                <a:cs typeface="Calibri" pitchFamily="34" charset="-120"/>
              </a:rPr>
              <a:t>10,000</a:t>
            </a:r>
            <a:endParaRPr lang="en-US" sz="3200"/>
          </a:p>
        </p:txBody>
      </p:sp>
      <p:sp>
        <p:nvSpPr>
          <p:cNvPr id="12" name="Text 7">
            <a:extLst>
              <a:ext uri="{FF2B5EF4-FFF2-40B4-BE49-F238E27FC236}">
                <a16:creationId xmlns:a16="http://schemas.microsoft.com/office/drawing/2014/main" id="{4ADF9556-5ED1-9D2A-000C-20FFA6DDC306}"/>
              </a:ext>
            </a:extLst>
          </p:cNvPr>
          <p:cNvSpPr/>
          <p:nvPr/>
        </p:nvSpPr>
        <p:spPr>
          <a:xfrm>
            <a:off x="4267200" y="4028346"/>
            <a:ext cx="3048000" cy="341376"/>
          </a:xfrm>
          <a:prstGeom prst="rect">
            <a:avLst/>
          </a:prstGeom>
          <a:noFill/>
          <a:ln/>
        </p:spPr>
        <p:txBody>
          <a:bodyPr wrap="square" lIns="0" tIns="0" rIns="0" bIns="0" rtlCol="0" anchor="ctr"/>
          <a:lstStyle/>
          <a:p>
            <a:pPr algn="ctr"/>
            <a:r>
              <a:rPr lang="en-US" sz="1333">
                <a:solidFill>
                  <a:srgbClr val="6B7280"/>
                </a:solidFill>
                <a:latin typeface="Calibri" pitchFamily="34" charset="0"/>
                <a:ea typeface="Calibri" pitchFamily="34" charset="-122"/>
                <a:cs typeface="Calibri" pitchFamily="34" charset="-120"/>
              </a:rPr>
              <a:t>dev sentences (1K/lang)</a:t>
            </a:r>
            <a:endParaRPr lang="en-US" sz="1333"/>
          </a:p>
        </p:txBody>
      </p:sp>
      <p:sp>
        <p:nvSpPr>
          <p:cNvPr id="13" name="Shape 8">
            <a:extLst>
              <a:ext uri="{FF2B5EF4-FFF2-40B4-BE49-F238E27FC236}">
                <a16:creationId xmlns:a16="http://schemas.microsoft.com/office/drawing/2014/main" id="{AD2A9688-9888-A55A-0A53-CA2C0B2A61C8}"/>
              </a:ext>
            </a:extLst>
          </p:cNvPr>
          <p:cNvSpPr/>
          <p:nvPr/>
        </p:nvSpPr>
        <p:spPr>
          <a:xfrm>
            <a:off x="7802880" y="3455322"/>
            <a:ext cx="3048000" cy="1036320"/>
          </a:xfrm>
          <a:prstGeom prst="rect">
            <a:avLst/>
          </a:prstGeom>
          <a:solidFill>
            <a:srgbClr val="F2F4F7"/>
          </a:solidFill>
          <a:ln/>
          <a:effectLst>
            <a:outerShdw blurRad="38100" dist="12700" dir="8100000" algn="bl" rotWithShape="0">
              <a:srgbClr val="000000">
                <a:alpha val="10000"/>
              </a:srgbClr>
            </a:outerShdw>
          </a:effectLst>
        </p:spPr>
        <p:txBody>
          <a:bodyPr/>
          <a:lstStyle/>
          <a:p>
            <a:endParaRPr lang="en-US" sz="2400"/>
          </a:p>
        </p:txBody>
      </p:sp>
      <p:sp>
        <p:nvSpPr>
          <p:cNvPr id="14" name="Text 9">
            <a:extLst>
              <a:ext uri="{FF2B5EF4-FFF2-40B4-BE49-F238E27FC236}">
                <a16:creationId xmlns:a16="http://schemas.microsoft.com/office/drawing/2014/main" id="{66411A1B-0F7E-90A6-123E-798F889C3BE6}"/>
              </a:ext>
            </a:extLst>
          </p:cNvPr>
          <p:cNvSpPr/>
          <p:nvPr/>
        </p:nvSpPr>
        <p:spPr>
          <a:xfrm>
            <a:off x="7802880" y="3479706"/>
            <a:ext cx="3048000" cy="585216"/>
          </a:xfrm>
          <a:prstGeom prst="rect">
            <a:avLst/>
          </a:prstGeom>
          <a:noFill/>
          <a:ln/>
        </p:spPr>
        <p:txBody>
          <a:bodyPr wrap="square" lIns="0" tIns="0" rIns="0" bIns="0" rtlCol="0" anchor="ctr"/>
          <a:lstStyle/>
          <a:p>
            <a:pPr algn="ctr"/>
            <a:r>
              <a:rPr lang="en-US" sz="3200" b="1">
                <a:solidFill>
                  <a:srgbClr val="1E407C"/>
                </a:solidFill>
                <a:latin typeface="Calibri" pitchFamily="34" charset="0"/>
                <a:ea typeface="Calibri" pitchFamily="34" charset="-122"/>
                <a:cs typeface="Calibri" pitchFamily="34" charset="-120"/>
              </a:rPr>
              <a:t>10</a:t>
            </a:r>
            <a:endParaRPr lang="en-US" sz="3200"/>
          </a:p>
        </p:txBody>
      </p:sp>
      <p:sp>
        <p:nvSpPr>
          <p:cNvPr id="15" name="Text 10">
            <a:extLst>
              <a:ext uri="{FF2B5EF4-FFF2-40B4-BE49-F238E27FC236}">
                <a16:creationId xmlns:a16="http://schemas.microsoft.com/office/drawing/2014/main" id="{2578859E-D1E6-3486-FA65-61DCC4883C40}"/>
              </a:ext>
            </a:extLst>
          </p:cNvPr>
          <p:cNvSpPr/>
          <p:nvPr/>
        </p:nvSpPr>
        <p:spPr>
          <a:xfrm>
            <a:off x="7802880" y="4028346"/>
            <a:ext cx="3048000" cy="341376"/>
          </a:xfrm>
          <a:prstGeom prst="rect">
            <a:avLst/>
          </a:prstGeom>
          <a:noFill/>
          <a:ln/>
        </p:spPr>
        <p:txBody>
          <a:bodyPr wrap="square" lIns="0" tIns="0" rIns="0" bIns="0" rtlCol="0" anchor="ctr"/>
          <a:lstStyle/>
          <a:p>
            <a:pPr algn="ctr"/>
            <a:r>
              <a:rPr lang="en-US" sz="1333">
                <a:solidFill>
                  <a:srgbClr val="6B7280"/>
                </a:solidFill>
                <a:latin typeface="Calibri" pitchFamily="34" charset="0"/>
                <a:ea typeface="Calibri" pitchFamily="34" charset="-122"/>
                <a:cs typeface="Calibri" pitchFamily="34" charset="-120"/>
              </a:rPr>
              <a:t>balanced language classes</a:t>
            </a:r>
            <a:endParaRPr lang="en-US" sz="1333"/>
          </a:p>
        </p:txBody>
      </p:sp>
      <p:sp>
        <p:nvSpPr>
          <p:cNvPr id="16" name="Text 11">
            <a:extLst>
              <a:ext uri="{FF2B5EF4-FFF2-40B4-BE49-F238E27FC236}">
                <a16:creationId xmlns:a16="http://schemas.microsoft.com/office/drawing/2014/main" id="{B6C42770-7CF3-4AB8-FCDD-D68DF6325C24}"/>
              </a:ext>
            </a:extLst>
          </p:cNvPr>
          <p:cNvSpPr/>
          <p:nvPr/>
        </p:nvSpPr>
        <p:spPr>
          <a:xfrm>
            <a:off x="731520" y="4574775"/>
            <a:ext cx="10119360" cy="1341120"/>
          </a:xfrm>
          <a:prstGeom prst="rect">
            <a:avLst/>
          </a:prstGeom>
          <a:noFill/>
          <a:ln/>
        </p:spPr>
        <p:txBody>
          <a:bodyPr wrap="square" lIns="0" tIns="0" rIns="0" bIns="0" rtlCol="0" anchor="ctr"/>
          <a:lstStyle/>
          <a:p>
            <a:r>
              <a:rPr lang="en-US" sz="1467">
                <a:solidFill>
                  <a:srgbClr val="1A1A2E"/>
                </a:solidFill>
                <a:latin typeface="Calibri" pitchFamily="34" charset="0"/>
                <a:ea typeface="Calibri" pitchFamily="34" charset="-122"/>
                <a:cs typeface="Calibri" pitchFamily="34" charset="-120"/>
              </a:rPr>
              <a:t>Lesson 6 frames this as an RNN-acceptor problem, where the recurrent encoder reads the full input sequence, produces a fixed-dimensional representation, and passes it to an MLP classifier with softmax output. Because there is no sequential output to generate, encoder/decoder architectures (Lessons 8 to 9) and beam search are out of scope. The correct formulation is a 10-class single label classification over the full input sequence.</a:t>
            </a:r>
            <a:endParaRPr lang="en-US" sz="1467"/>
          </a:p>
        </p:txBody>
      </p:sp>
    </p:spTree>
    <p:extLst>
      <p:ext uri="{BB962C8B-B14F-4D97-AF65-F5344CB8AC3E}">
        <p14:creationId xmlns:p14="http://schemas.microsoft.com/office/powerpoint/2010/main" val="628690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AB3A537C-B91C-2202-B8EB-52234F09561D}"/>
              </a:ext>
            </a:extLst>
          </p:cNvPr>
          <p:cNvSpPr/>
          <p:nvPr/>
        </p:nvSpPr>
        <p:spPr>
          <a:xfrm>
            <a:off x="731520" y="365760"/>
            <a:ext cx="10363200" cy="731520"/>
          </a:xfrm>
          <a:prstGeom prst="rect">
            <a:avLst/>
          </a:prstGeom>
          <a:noFill/>
          <a:ln/>
        </p:spPr>
        <p:txBody>
          <a:bodyPr wrap="square" lIns="0" tIns="0" rIns="0" bIns="0" rtlCol="0" anchor="ctr"/>
          <a:lstStyle/>
          <a:p>
            <a:r>
              <a:rPr lang="en-US" sz="3467" b="1">
                <a:solidFill>
                  <a:srgbClr val="1E407C"/>
                </a:solidFill>
                <a:latin typeface="Calibri" pitchFamily="34" charset="0"/>
                <a:ea typeface="Calibri" pitchFamily="34" charset="-122"/>
                <a:cs typeface="Calibri" pitchFamily="34" charset="-120"/>
              </a:rPr>
              <a:t>Key Design Decision: Character-Level Input</a:t>
            </a:r>
            <a:endParaRPr lang="en-US" sz="3467"/>
          </a:p>
        </p:txBody>
      </p:sp>
      <p:pic>
        <p:nvPicPr>
          <p:cNvPr id="5" name="Image 0" descr="preencoded.png">
            <a:extLst>
              <a:ext uri="{FF2B5EF4-FFF2-40B4-BE49-F238E27FC236}">
                <a16:creationId xmlns:a16="http://schemas.microsoft.com/office/drawing/2014/main" id="{3BCA4ADF-2344-19C7-C098-DB97EF20ACD9}"/>
              </a:ext>
            </a:extLst>
          </p:cNvPr>
          <p:cNvPicPr>
            <a:picLocks noChangeAspect="1"/>
          </p:cNvPicPr>
          <p:nvPr/>
        </p:nvPicPr>
        <p:blipFill>
          <a:blip r:embed="rId3"/>
          <a:stretch>
            <a:fillRect/>
          </a:stretch>
        </p:blipFill>
        <p:spPr>
          <a:xfrm>
            <a:off x="792480" y="1255776"/>
            <a:ext cx="243840" cy="243840"/>
          </a:xfrm>
          <a:prstGeom prst="rect">
            <a:avLst/>
          </a:prstGeom>
        </p:spPr>
      </p:pic>
      <p:sp>
        <p:nvSpPr>
          <p:cNvPr id="6" name="Text 1">
            <a:extLst>
              <a:ext uri="{FF2B5EF4-FFF2-40B4-BE49-F238E27FC236}">
                <a16:creationId xmlns:a16="http://schemas.microsoft.com/office/drawing/2014/main" id="{EFD5DD12-E7B6-DC8E-C41A-8762BDD5281B}"/>
              </a:ext>
            </a:extLst>
          </p:cNvPr>
          <p:cNvSpPr/>
          <p:nvPr/>
        </p:nvSpPr>
        <p:spPr>
          <a:xfrm>
            <a:off x="1158240" y="1219200"/>
            <a:ext cx="9753600" cy="304800"/>
          </a:xfrm>
          <a:prstGeom prst="rect">
            <a:avLst/>
          </a:prstGeom>
          <a:noFill/>
          <a:ln/>
        </p:spPr>
        <p:txBody>
          <a:bodyPr wrap="square" lIns="0" tIns="0" rIns="0" bIns="0" rtlCol="0" anchor="ctr"/>
          <a:lstStyle/>
          <a:p>
            <a:r>
              <a:rPr lang="en-US" sz="1600" b="1">
                <a:solidFill>
                  <a:srgbClr val="1E407C"/>
                </a:solidFill>
                <a:latin typeface="Calibri" pitchFamily="34" charset="0"/>
                <a:ea typeface="Calibri" pitchFamily="34" charset="-122"/>
                <a:cs typeface="Calibri" pitchFamily="34" charset="-120"/>
              </a:rPr>
              <a:t>Languages have distinctive character inventories</a:t>
            </a:r>
            <a:endParaRPr lang="en-US" sz="1600"/>
          </a:p>
        </p:txBody>
      </p:sp>
      <p:sp>
        <p:nvSpPr>
          <p:cNvPr id="7" name="Text 2">
            <a:extLst>
              <a:ext uri="{FF2B5EF4-FFF2-40B4-BE49-F238E27FC236}">
                <a16:creationId xmlns:a16="http://schemas.microsoft.com/office/drawing/2014/main" id="{40ACA959-B9F1-2F85-B8C1-69B92719D615}"/>
              </a:ext>
            </a:extLst>
          </p:cNvPr>
          <p:cNvSpPr/>
          <p:nvPr/>
        </p:nvSpPr>
        <p:spPr>
          <a:xfrm>
            <a:off x="1158240" y="1560576"/>
            <a:ext cx="9753600" cy="792480"/>
          </a:xfrm>
          <a:prstGeom prst="rect">
            <a:avLst/>
          </a:prstGeom>
          <a:noFill/>
          <a:ln/>
        </p:spPr>
        <p:txBody>
          <a:bodyPr wrap="square" lIns="0" tIns="0" rIns="0" bIns="0" rtlCol="0" anchor="ctr"/>
          <a:lstStyle/>
          <a:p>
            <a:r>
              <a:rPr lang="en-US" sz="1333">
                <a:solidFill>
                  <a:srgbClr val="1A1A2E"/>
                </a:solidFill>
                <a:latin typeface="Calibri" pitchFamily="34" charset="0"/>
                <a:ea typeface="Calibri" pitchFamily="34" charset="-122"/>
                <a:cs typeface="Calibri" pitchFamily="34" charset="-120"/>
              </a:rPr>
              <a:t>French uses é, è, ê, ç, and frequent apostrophes; Hungarian uses ő and ű which appear in no other Tatoeba language; Turkish uses ğ, ı, and ş alongside agglutinative suffix chains; Berber may include Tifinagh script characters entirely absent from the Latin-alphabet languages.</a:t>
            </a:r>
            <a:endParaRPr lang="en-US" sz="1333"/>
          </a:p>
        </p:txBody>
      </p:sp>
      <p:pic>
        <p:nvPicPr>
          <p:cNvPr id="8" name="Image 1" descr="preencoded.png">
            <a:extLst>
              <a:ext uri="{FF2B5EF4-FFF2-40B4-BE49-F238E27FC236}">
                <a16:creationId xmlns:a16="http://schemas.microsoft.com/office/drawing/2014/main" id="{7F69CCEB-5DFB-DC5C-2347-0FF5BD06FCE2}"/>
              </a:ext>
            </a:extLst>
          </p:cNvPr>
          <p:cNvPicPr>
            <a:picLocks noChangeAspect="1"/>
          </p:cNvPicPr>
          <p:nvPr/>
        </p:nvPicPr>
        <p:blipFill>
          <a:blip r:embed="rId3"/>
          <a:stretch>
            <a:fillRect/>
          </a:stretch>
        </p:blipFill>
        <p:spPr>
          <a:xfrm>
            <a:off x="792480" y="2494371"/>
            <a:ext cx="243840" cy="243840"/>
          </a:xfrm>
          <a:prstGeom prst="rect">
            <a:avLst/>
          </a:prstGeom>
        </p:spPr>
      </p:pic>
      <p:sp>
        <p:nvSpPr>
          <p:cNvPr id="9" name="Text 3">
            <a:extLst>
              <a:ext uri="{FF2B5EF4-FFF2-40B4-BE49-F238E27FC236}">
                <a16:creationId xmlns:a16="http://schemas.microsoft.com/office/drawing/2014/main" id="{E681C511-7A8D-8F71-6661-4F75D3D5B553}"/>
              </a:ext>
            </a:extLst>
          </p:cNvPr>
          <p:cNvSpPr/>
          <p:nvPr/>
        </p:nvSpPr>
        <p:spPr>
          <a:xfrm>
            <a:off x="1158240" y="2457795"/>
            <a:ext cx="9753600" cy="304800"/>
          </a:xfrm>
          <a:prstGeom prst="rect">
            <a:avLst/>
          </a:prstGeom>
          <a:noFill/>
          <a:ln/>
        </p:spPr>
        <p:txBody>
          <a:bodyPr wrap="square" lIns="0" tIns="0" rIns="0" bIns="0" rtlCol="0" anchor="ctr"/>
          <a:lstStyle/>
          <a:p>
            <a:r>
              <a:rPr lang="en-US" sz="1600" b="1">
                <a:solidFill>
                  <a:srgbClr val="1E407C"/>
                </a:solidFill>
                <a:latin typeface="Calibri" pitchFamily="34" charset="0"/>
                <a:ea typeface="Calibri" pitchFamily="34" charset="-122"/>
                <a:cs typeface="Calibri" pitchFamily="34" charset="-120"/>
              </a:rPr>
              <a:t>A single character vocabulary (~150–200 unique chars) covers all 10 languages</a:t>
            </a:r>
            <a:endParaRPr lang="en-US" sz="1600"/>
          </a:p>
        </p:txBody>
      </p:sp>
      <p:sp>
        <p:nvSpPr>
          <p:cNvPr id="10" name="Text 4">
            <a:extLst>
              <a:ext uri="{FF2B5EF4-FFF2-40B4-BE49-F238E27FC236}">
                <a16:creationId xmlns:a16="http://schemas.microsoft.com/office/drawing/2014/main" id="{38DB3025-D9D6-911A-1B7C-5339BE7E2265}"/>
              </a:ext>
            </a:extLst>
          </p:cNvPr>
          <p:cNvSpPr/>
          <p:nvPr/>
        </p:nvSpPr>
        <p:spPr>
          <a:xfrm>
            <a:off x="1158240" y="2799171"/>
            <a:ext cx="9753600" cy="792480"/>
          </a:xfrm>
          <a:prstGeom prst="rect">
            <a:avLst/>
          </a:prstGeom>
          <a:noFill/>
          <a:ln/>
        </p:spPr>
        <p:txBody>
          <a:bodyPr wrap="square" lIns="0" tIns="0" rIns="0" bIns="0" rtlCol="0" anchor="ctr"/>
          <a:lstStyle/>
          <a:p>
            <a:r>
              <a:rPr lang="en-US" sz="1333">
                <a:solidFill>
                  <a:srgbClr val="1A1A2E"/>
                </a:solidFill>
                <a:latin typeface="Calibri" pitchFamily="34" charset="0"/>
                <a:ea typeface="Calibri" pitchFamily="34" charset="-122"/>
                <a:cs typeface="Calibri" pitchFamily="34" charset="-120"/>
              </a:rPr>
              <a:t>No shared cross-lingual word vocabulary is needed, eliminating the OOV problem that plagues word-level models on multilingual corpora. A character-level model remains robust on short inputs, partial words, and unseen lexical items.</a:t>
            </a:r>
            <a:endParaRPr lang="en-US" sz="1333"/>
          </a:p>
        </p:txBody>
      </p:sp>
      <p:pic>
        <p:nvPicPr>
          <p:cNvPr id="11" name="Image 2" descr="preencoded.png">
            <a:extLst>
              <a:ext uri="{FF2B5EF4-FFF2-40B4-BE49-F238E27FC236}">
                <a16:creationId xmlns:a16="http://schemas.microsoft.com/office/drawing/2014/main" id="{04167B88-E62F-E177-87ED-0D326040B549}"/>
              </a:ext>
            </a:extLst>
          </p:cNvPr>
          <p:cNvPicPr>
            <a:picLocks noChangeAspect="1"/>
          </p:cNvPicPr>
          <p:nvPr/>
        </p:nvPicPr>
        <p:blipFill>
          <a:blip r:embed="rId3"/>
          <a:stretch>
            <a:fillRect/>
          </a:stretch>
        </p:blipFill>
        <p:spPr>
          <a:xfrm>
            <a:off x="792480" y="3732966"/>
            <a:ext cx="243840" cy="243840"/>
          </a:xfrm>
          <a:prstGeom prst="rect">
            <a:avLst/>
          </a:prstGeom>
        </p:spPr>
      </p:pic>
      <p:sp>
        <p:nvSpPr>
          <p:cNvPr id="12" name="Text 5">
            <a:extLst>
              <a:ext uri="{FF2B5EF4-FFF2-40B4-BE49-F238E27FC236}">
                <a16:creationId xmlns:a16="http://schemas.microsoft.com/office/drawing/2014/main" id="{C943EF0E-465A-1E66-67F0-A79F1F78A928}"/>
              </a:ext>
            </a:extLst>
          </p:cNvPr>
          <p:cNvSpPr/>
          <p:nvPr/>
        </p:nvSpPr>
        <p:spPr>
          <a:xfrm>
            <a:off x="1158240" y="3696390"/>
            <a:ext cx="9753600" cy="304800"/>
          </a:xfrm>
          <a:prstGeom prst="rect">
            <a:avLst/>
          </a:prstGeom>
          <a:noFill/>
          <a:ln/>
        </p:spPr>
        <p:txBody>
          <a:bodyPr wrap="square" lIns="0" tIns="0" rIns="0" bIns="0" rtlCol="0" anchor="ctr"/>
          <a:lstStyle/>
          <a:p>
            <a:r>
              <a:rPr lang="en-US" sz="1600" b="1">
                <a:solidFill>
                  <a:srgbClr val="1E407C"/>
                </a:solidFill>
                <a:latin typeface="Calibri" pitchFamily="34" charset="0"/>
                <a:ea typeface="Calibri" pitchFamily="34" charset="-122"/>
                <a:cs typeface="Calibri" pitchFamily="34" charset="-120"/>
              </a:rPr>
              <a:t>Morphology and spelling patterns are visible at the character level</a:t>
            </a:r>
            <a:endParaRPr lang="en-US" sz="1600"/>
          </a:p>
        </p:txBody>
      </p:sp>
      <p:sp>
        <p:nvSpPr>
          <p:cNvPr id="13" name="Text 6">
            <a:extLst>
              <a:ext uri="{FF2B5EF4-FFF2-40B4-BE49-F238E27FC236}">
                <a16:creationId xmlns:a16="http://schemas.microsoft.com/office/drawing/2014/main" id="{B5491A89-22CA-2131-EEF9-69F98698896C}"/>
              </a:ext>
            </a:extLst>
          </p:cNvPr>
          <p:cNvSpPr/>
          <p:nvPr/>
        </p:nvSpPr>
        <p:spPr>
          <a:xfrm>
            <a:off x="1158240" y="4037766"/>
            <a:ext cx="9753600" cy="792480"/>
          </a:xfrm>
          <a:prstGeom prst="rect">
            <a:avLst/>
          </a:prstGeom>
          <a:noFill/>
          <a:ln/>
        </p:spPr>
        <p:txBody>
          <a:bodyPr wrap="square" lIns="0" tIns="0" rIns="0" bIns="0" rtlCol="0" anchor="ctr"/>
          <a:lstStyle/>
          <a:p>
            <a:r>
              <a:rPr lang="en-US" sz="1333">
                <a:solidFill>
                  <a:srgbClr val="1A1A2E"/>
                </a:solidFill>
                <a:latin typeface="Calibri" pitchFamily="34" charset="0"/>
                <a:ea typeface="Calibri" pitchFamily="34" charset="-122"/>
                <a:cs typeface="Calibri" pitchFamily="34" charset="-120"/>
              </a:rPr>
              <a:t>Turkish agglutination (-yor, -dı, -lar), German compound nouns, Spanish -ción/-mente suffixes, and Portuguese -ão endings are all captured by character sequences. A word-level model would need to segment and recognize each of these as separate vocabulary entries.</a:t>
            </a:r>
            <a:endParaRPr lang="en-US" sz="1333"/>
          </a:p>
        </p:txBody>
      </p:sp>
      <p:pic>
        <p:nvPicPr>
          <p:cNvPr id="14" name="Image 3" descr="preencoded.png">
            <a:extLst>
              <a:ext uri="{FF2B5EF4-FFF2-40B4-BE49-F238E27FC236}">
                <a16:creationId xmlns:a16="http://schemas.microsoft.com/office/drawing/2014/main" id="{86A09EEF-7417-BDF7-A9D1-050F36966168}"/>
              </a:ext>
            </a:extLst>
          </p:cNvPr>
          <p:cNvPicPr>
            <a:picLocks noChangeAspect="1"/>
          </p:cNvPicPr>
          <p:nvPr/>
        </p:nvPicPr>
        <p:blipFill>
          <a:blip r:embed="rId3"/>
          <a:stretch>
            <a:fillRect/>
          </a:stretch>
        </p:blipFill>
        <p:spPr>
          <a:xfrm>
            <a:off x="792480" y="4971561"/>
            <a:ext cx="243840" cy="243840"/>
          </a:xfrm>
          <a:prstGeom prst="rect">
            <a:avLst/>
          </a:prstGeom>
        </p:spPr>
      </p:pic>
      <p:sp>
        <p:nvSpPr>
          <p:cNvPr id="15" name="Text 7">
            <a:extLst>
              <a:ext uri="{FF2B5EF4-FFF2-40B4-BE49-F238E27FC236}">
                <a16:creationId xmlns:a16="http://schemas.microsoft.com/office/drawing/2014/main" id="{0CE92F1C-1B00-4103-99A0-B335C5D85F00}"/>
              </a:ext>
            </a:extLst>
          </p:cNvPr>
          <p:cNvSpPr/>
          <p:nvPr/>
        </p:nvSpPr>
        <p:spPr>
          <a:xfrm>
            <a:off x="1158240" y="4934985"/>
            <a:ext cx="9753600" cy="304800"/>
          </a:xfrm>
          <a:prstGeom prst="rect">
            <a:avLst/>
          </a:prstGeom>
          <a:noFill/>
          <a:ln/>
        </p:spPr>
        <p:txBody>
          <a:bodyPr wrap="square" lIns="0" tIns="0" rIns="0" bIns="0" rtlCol="0" anchor="ctr"/>
          <a:lstStyle/>
          <a:p>
            <a:r>
              <a:rPr lang="en-US" sz="1600" b="1">
                <a:solidFill>
                  <a:srgbClr val="1E407C"/>
                </a:solidFill>
                <a:latin typeface="Calibri" pitchFamily="34" charset="0"/>
                <a:ea typeface="Calibri" pitchFamily="34" charset="-122"/>
                <a:cs typeface="Calibri" pitchFamily="34" charset="-120"/>
              </a:rPr>
              <a:t>Our dataset EDA confirms orthographic dominance</a:t>
            </a:r>
            <a:endParaRPr lang="en-US" sz="1600"/>
          </a:p>
        </p:txBody>
      </p:sp>
      <p:sp>
        <p:nvSpPr>
          <p:cNvPr id="16" name="Text 8">
            <a:extLst>
              <a:ext uri="{FF2B5EF4-FFF2-40B4-BE49-F238E27FC236}">
                <a16:creationId xmlns:a16="http://schemas.microsoft.com/office/drawing/2014/main" id="{B61184C7-81CE-7000-7255-A24065258795}"/>
              </a:ext>
            </a:extLst>
          </p:cNvPr>
          <p:cNvSpPr/>
          <p:nvPr/>
        </p:nvSpPr>
        <p:spPr>
          <a:xfrm>
            <a:off x="1158240" y="5276361"/>
            <a:ext cx="9753600" cy="792480"/>
          </a:xfrm>
          <a:prstGeom prst="rect">
            <a:avLst/>
          </a:prstGeom>
          <a:noFill/>
          <a:ln/>
        </p:spPr>
        <p:txBody>
          <a:bodyPr wrap="square" lIns="0" tIns="0" rIns="0" bIns="0" rtlCol="0" anchor="ctr"/>
          <a:lstStyle/>
          <a:p>
            <a:r>
              <a:rPr lang="en-US" sz="1333">
                <a:solidFill>
                  <a:srgbClr val="1A1A2E"/>
                </a:solidFill>
                <a:latin typeface="Calibri" pitchFamily="34" charset="0"/>
                <a:ea typeface="Calibri" pitchFamily="34" charset="-122"/>
                <a:cs typeface="Calibri" pitchFamily="34" charset="-120"/>
              </a:rPr>
              <a:t>The Tatoeba sentences are short (median ≈33 chars, 95th percentile ≈75 chars) and right-skewed. The main confusion frontier is Spanish vs. Portuguese, where the distinguishing cues are character-level (ão vs. ón, ê vs. ie). A word-level model adds vocabulary overhead without addressing this.</a:t>
            </a:r>
            <a:endParaRPr lang="en-US" sz="1333"/>
          </a:p>
        </p:txBody>
      </p:sp>
      <p:sp>
        <p:nvSpPr>
          <p:cNvPr id="17" name="Shape 9">
            <a:extLst>
              <a:ext uri="{FF2B5EF4-FFF2-40B4-BE49-F238E27FC236}">
                <a16:creationId xmlns:a16="http://schemas.microsoft.com/office/drawing/2014/main" id="{A150F10A-3A94-3D4F-D84E-F4CC7586ABE5}"/>
              </a:ext>
            </a:extLst>
          </p:cNvPr>
          <p:cNvSpPr/>
          <p:nvPr/>
        </p:nvSpPr>
        <p:spPr>
          <a:xfrm>
            <a:off x="731520" y="6096000"/>
            <a:ext cx="10119360" cy="60960"/>
          </a:xfrm>
          <a:prstGeom prst="rect">
            <a:avLst/>
          </a:prstGeom>
          <a:solidFill>
            <a:srgbClr val="009CDE"/>
          </a:solidFill>
          <a:ln/>
        </p:spPr>
        <p:txBody>
          <a:bodyPr/>
          <a:lstStyle/>
          <a:p>
            <a:endParaRPr lang="en-US" sz="2400"/>
          </a:p>
        </p:txBody>
      </p:sp>
    </p:spTree>
    <p:extLst>
      <p:ext uri="{BB962C8B-B14F-4D97-AF65-F5344CB8AC3E}">
        <p14:creationId xmlns:p14="http://schemas.microsoft.com/office/powerpoint/2010/main" val="2970709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18473-8005-45D2-36DB-DD2D7D598593}"/>
              </a:ext>
            </a:extLst>
          </p:cNvPr>
          <p:cNvSpPr>
            <a:spLocks noGrp="1"/>
          </p:cNvSpPr>
          <p:nvPr>
            <p:ph type="title"/>
          </p:nvPr>
        </p:nvSpPr>
        <p:spPr/>
        <p:txBody>
          <a:bodyPr lIns="91440" tIns="45720" rIns="91440" bIns="45720" anchor="ctr"/>
          <a:lstStyle/>
          <a:p>
            <a:r>
              <a:rPr lang="en-US" sz="3467" b="1">
                <a:solidFill>
                  <a:srgbClr val="1E407C"/>
                </a:solidFill>
                <a:latin typeface="Calibri" pitchFamily="34" charset="0"/>
                <a:ea typeface="Calibri" pitchFamily="34" charset="-122"/>
                <a:cs typeface="Calibri" pitchFamily="34" charset="-120"/>
              </a:rPr>
              <a:t>Architecture</a:t>
            </a:r>
          </a:p>
          <a:p>
            <a:endParaRPr lang="en-US"/>
          </a:p>
        </p:txBody>
      </p:sp>
      <p:pic>
        <p:nvPicPr>
          <p:cNvPr id="4" name="Content Placeholder 3" descr="A screenshot of a computer&#10;&#10;AI-generated content may be incorrect.">
            <a:extLst>
              <a:ext uri="{FF2B5EF4-FFF2-40B4-BE49-F238E27FC236}">
                <a16:creationId xmlns:a16="http://schemas.microsoft.com/office/drawing/2014/main" id="{F6AE262B-9527-B885-357C-7A3D61E35341}"/>
              </a:ext>
            </a:extLst>
          </p:cNvPr>
          <p:cNvPicPr>
            <a:picLocks noGrp="1" noChangeAspect="1"/>
          </p:cNvPicPr>
          <p:nvPr>
            <p:ph sz="half" idx="1"/>
          </p:nvPr>
        </p:nvPicPr>
        <p:blipFill>
          <a:blip r:embed="rId2"/>
          <a:stretch>
            <a:fillRect/>
          </a:stretch>
        </p:blipFill>
        <p:spPr>
          <a:xfrm>
            <a:off x="1777240" y="915990"/>
            <a:ext cx="4022845" cy="5577965"/>
          </a:xfrm>
          <a:prstGeom prst="rect">
            <a:avLst/>
          </a:prstGeom>
        </p:spPr>
      </p:pic>
    </p:spTree>
    <p:extLst>
      <p:ext uri="{BB962C8B-B14F-4D97-AF65-F5344CB8AC3E}">
        <p14:creationId xmlns:p14="http://schemas.microsoft.com/office/powerpoint/2010/main" val="618833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6031D1BE-8466-CBE4-3E00-C6D70BB6FE27}"/>
              </a:ext>
            </a:extLst>
          </p:cNvPr>
          <p:cNvSpPr/>
          <p:nvPr/>
        </p:nvSpPr>
        <p:spPr>
          <a:xfrm>
            <a:off x="731520" y="365760"/>
            <a:ext cx="10363200" cy="731520"/>
          </a:xfrm>
          <a:prstGeom prst="rect">
            <a:avLst/>
          </a:prstGeom>
          <a:noFill/>
          <a:ln/>
        </p:spPr>
        <p:txBody>
          <a:bodyPr wrap="square" lIns="0" tIns="0" rIns="0" bIns="0" rtlCol="0" anchor="ctr"/>
          <a:lstStyle/>
          <a:p>
            <a:r>
              <a:rPr lang="en-US" sz="3467" b="1">
                <a:solidFill>
                  <a:srgbClr val="1E407C"/>
                </a:solidFill>
                <a:latin typeface="Calibri" pitchFamily="34" charset="0"/>
                <a:ea typeface="Calibri" pitchFamily="34" charset="-122"/>
                <a:cs typeface="Calibri" pitchFamily="34" charset="-120"/>
              </a:rPr>
              <a:t>Component Justifications</a:t>
            </a:r>
            <a:endParaRPr lang="en-US" sz="3467"/>
          </a:p>
        </p:txBody>
      </p:sp>
      <p:sp>
        <p:nvSpPr>
          <p:cNvPr id="5" name="Text 1">
            <a:extLst>
              <a:ext uri="{FF2B5EF4-FFF2-40B4-BE49-F238E27FC236}">
                <a16:creationId xmlns:a16="http://schemas.microsoft.com/office/drawing/2014/main" id="{34E55CBC-7F31-757A-BF81-7E7799792167}"/>
              </a:ext>
            </a:extLst>
          </p:cNvPr>
          <p:cNvSpPr/>
          <p:nvPr/>
        </p:nvSpPr>
        <p:spPr>
          <a:xfrm>
            <a:off x="731520" y="1219200"/>
            <a:ext cx="10119360" cy="365760"/>
          </a:xfrm>
          <a:prstGeom prst="rect">
            <a:avLst/>
          </a:prstGeom>
          <a:noFill/>
          <a:ln/>
        </p:spPr>
        <p:txBody>
          <a:bodyPr wrap="square" lIns="0" tIns="0" rIns="0" bIns="0" rtlCol="0" anchor="ctr"/>
          <a:lstStyle/>
          <a:p>
            <a:r>
              <a:rPr lang="en-US" sz="2000" b="1">
                <a:solidFill>
                  <a:srgbClr val="1E407C"/>
                </a:solidFill>
                <a:latin typeface="Calibri" pitchFamily="34" charset="0"/>
                <a:ea typeface="Calibri" pitchFamily="34" charset="-122"/>
                <a:cs typeface="Calibri" pitchFamily="34" charset="-120"/>
              </a:rPr>
              <a:t>GRU over LSTM</a:t>
            </a:r>
            <a:endParaRPr lang="en-US" sz="2000"/>
          </a:p>
        </p:txBody>
      </p:sp>
      <p:sp>
        <p:nvSpPr>
          <p:cNvPr id="6" name="Text 2">
            <a:extLst>
              <a:ext uri="{FF2B5EF4-FFF2-40B4-BE49-F238E27FC236}">
                <a16:creationId xmlns:a16="http://schemas.microsoft.com/office/drawing/2014/main" id="{29807AA3-09F9-A5C2-F614-D93B1E03A6E2}"/>
              </a:ext>
            </a:extLst>
          </p:cNvPr>
          <p:cNvSpPr/>
          <p:nvPr/>
        </p:nvSpPr>
        <p:spPr>
          <a:xfrm>
            <a:off x="731520" y="1645920"/>
            <a:ext cx="10119360" cy="1158240"/>
          </a:xfrm>
          <a:prstGeom prst="rect">
            <a:avLst/>
          </a:prstGeom>
          <a:noFill/>
          <a:ln/>
        </p:spPr>
        <p:txBody>
          <a:bodyPr wrap="square" lIns="0" tIns="0" rIns="0" bIns="0" rtlCol="0" anchor="ctr"/>
          <a:lstStyle/>
          <a:p>
            <a:r>
              <a:rPr lang="en-US" sz="1450">
                <a:solidFill>
                  <a:srgbClr val="1A1A2E"/>
                </a:solidFill>
                <a:latin typeface="Calibri"/>
                <a:ea typeface="Calibri"/>
                <a:cs typeface="Calibri"/>
              </a:rPr>
              <a:t>GRU uses two gates (reset and update) instead of LSTM’s three (input, forget, output) and has no separate cell state, reducing the parameter count by ~25% per recurrent layer. On short sequences (mean 5 to 8 words ≈ 20 to 50 chars), empirical differences between GRU and LSTM are negligible for classification accuracy, so the simpler architecture is preferred since the GRU is faster to train per epoch because fewer matrix multiplications are required at each timestamp, thereby reducing the computation resource load requirements. Given ~95% of the sentences in our dataset application are short sentences, the GRU is the natural best fit.</a:t>
            </a:r>
            <a:endParaRPr lang="en-US" sz="1450">
              <a:latin typeface="Calibri"/>
              <a:ea typeface="Calibri"/>
              <a:cs typeface="Calibri"/>
            </a:endParaRPr>
          </a:p>
        </p:txBody>
      </p:sp>
      <p:sp>
        <p:nvSpPr>
          <p:cNvPr id="7" name="Text 3">
            <a:extLst>
              <a:ext uri="{FF2B5EF4-FFF2-40B4-BE49-F238E27FC236}">
                <a16:creationId xmlns:a16="http://schemas.microsoft.com/office/drawing/2014/main" id="{92AE57E8-5AB4-5AC7-3270-DADEAA9C1217}"/>
              </a:ext>
            </a:extLst>
          </p:cNvPr>
          <p:cNvSpPr/>
          <p:nvPr/>
        </p:nvSpPr>
        <p:spPr>
          <a:xfrm>
            <a:off x="731520" y="2926080"/>
            <a:ext cx="10119360" cy="365760"/>
          </a:xfrm>
          <a:prstGeom prst="rect">
            <a:avLst/>
          </a:prstGeom>
          <a:noFill/>
          <a:ln/>
        </p:spPr>
        <p:txBody>
          <a:bodyPr wrap="square" lIns="0" tIns="0" rIns="0" bIns="0" rtlCol="0" anchor="ctr"/>
          <a:lstStyle/>
          <a:p>
            <a:r>
              <a:rPr lang="en-US" sz="2000" b="1">
                <a:solidFill>
                  <a:srgbClr val="1E407C"/>
                </a:solidFill>
                <a:latin typeface="Calibri" pitchFamily="34" charset="0"/>
                <a:ea typeface="Calibri" pitchFamily="34" charset="-122"/>
                <a:cs typeface="Calibri" pitchFamily="34" charset="-120"/>
              </a:rPr>
              <a:t>Bidirectional Encoding</a:t>
            </a:r>
            <a:endParaRPr lang="en-US" sz="2000"/>
          </a:p>
        </p:txBody>
      </p:sp>
      <p:sp>
        <p:nvSpPr>
          <p:cNvPr id="8" name="Text 4">
            <a:extLst>
              <a:ext uri="{FF2B5EF4-FFF2-40B4-BE49-F238E27FC236}">
                <a16:creationId xmlns:a16="http://schemas.microsoft.com/office/drawing/2014/main" id="{9BE241BC-A4D8-F5A3-AA8E-36C62C968250}"/>
              </a:ext>
            </a:extLst>
          </p:cNvPr>
          <p:cNvSpPr/>
          <p:nvPr/>
        </p:nvSpPr>
        <p:spPr>
          <a:xfrm>
            <a:off x="731520" y="3352800"/>
            <a:ext cx="10119360" cy="1341120"/>
          </a:xfrm>
          <a:prstGeom prst="rect">
            <a:avLst/>
          </a:prstGeom>
          <a:noFill/>
          <a:ln/>
        </p:spPr>
        <p:txBody>
          <a:bodyPr wrap="square" lIns="0" tIns="0" rIns="0" bIns="0" rtlCol="0" anchor="ctr"/>
          <a:lstStyle/>
          <a:p>
            <a:r>
              <a:rPr lang="en-US" sz="1467">
                <a:solidFill>
                  <a:srgbClr val="1A1A2E"/>
                </a:solidFill>
                <a:latin typeface="Calibri" pitchFamily="34" charset="0"/>
                <a:ea typeface="Calibri" pitchFamily="34" charset="-122"/>
                <a:cs typeface="Calibri" pitchFamily="34" charset="-120"/>
              </a:rPr>
              <a:t>A unidirectional RNN encodes only left-to-right context at each position. For language detection, the suffix of a word is often as informative as its prefix (e.g., Turkish </a:t>
            </a:r>
            <a:r>
              <a:rPr lang="en-US" sz="1467" i="1">
                <a:solidFill>
                  <a:srgbClr val="1A1A2E"/>
                </a:solidFill>
                <a:latin typeface="Calibri" pitchFamily="34" charset="0"/>
                <a:ea typeface="Calibri" pitchFamily="34" charset="-122"/>
                <a:cs typeface="Calibri" pitchFamily="34" charset="-120"/>
              </a:rPr>
              <a:t>-yor</a:t>
            </a:r>
            <a:r>
              <a:rPr lang="en-US" sz="1467">
                <a:solidFill>
                  <a:srgbClr val="1A1A2E"/>
                </a:solidFill>
                <a:latin typeface="Calibri" pitchFamily="34" charset="0"/>
                <a:ea typeface="Calibri" pitchFamily="34" charset="-122"/>
                <a:cs typeface="Calibri" pitchFamily="34" charset="-120"/>
              </a:rPr>
              <a:t>, </a:t>
            </a:r>
            <a:r>
              <a:rPr lang="en-US" sz="1467" i="1">
                <a:solidFill>
                  <a:srgbClr val="1A1A2E"/>
                </a:solidFill>
                <a:latin typeface="Calibri" pitchFamily="34" charset="0"/>
                <a:ea typeface="Calibri" pitchFamily="34" charset="-122"/>
                <a:cs typeface="Calibri" pitchFamily="34" charset="-120"/>
              </a:rPr>
              <a:t>-dı</a:t>
            </a:r>
            <a:r>
              <a:rPr lang="en-US" sz="1467">
                <a:solidFill>
                  <a:srgbClr val="1A1A2E"/>
                </a:solidFill>
                <a:latin typeface="Calibri" pitchFamily="34" charset="0"/>
                <a:ea typeface="Calibri" pitchFamily="34" charset="-122"/>
                <a:cs typeface="Calibri" pitchFamily="34" charset="-120"/>
              </a:rPr>
              <a:t>; French </a:t>
            </a:r>
            <a:r>
              <a:rPr lang="en-US" sz="1467" i="1">
                <a:solidFill>
                  <a:srgbClr val="1A1A2E"/>
                </a:solidFill>
                <a:latin typeface="Calibri" pitchFamily="34" charset="0"/>
                <a:ea typeface="Calibri" pitchFamily="34" charset="-122"/>
                <a:cs typeface="Calibri" pitchFamily="34" charset="-120"/>
              </a:rPr>
              <a:t>-tion</a:t>
            </a:r>
            <a:r>
              <a:rPr lang="en-US" sz="1467">
                <a:solidFill>
                  <a:srgbClr val="1A1A2E"/>
                </a:solidFill>
                <a:latin typeface="Calibri" pitchFamily="34" charset="0"/>
                <a:ea typeface="Calibri" pitchFamily="34" charset="-122"/>
                <a:cs typeface="Calibri" pitchFamily="34" charset="-120"/>
              </a:rPr>
              <a:t>, </a:t>
            </a:r>
            <a:r>
              <a:rPr lang="en-US" sz="1467" i="1">
                <a:solidFill>
                  <a:srgbClr val="1A1A2E"/>
                </a:solidFill>
                <a:latin typeface="Calibri" pitchFamily="34" charset="0"/>
                <a:ea typeface="Calibri" pitchFamily="34" charset="-122"/>
                <a:cs typeface="Calibri" pitchFamily="34" charset="-120"/>
              </a:rPr>
              <a:t>-ment</a:t>
            </a:r>
            <a:r>
              <a:rPr lang="en-US" sz="1467">
                <a:solidFill>
                  <a:srgbClr val="1A1A2E"/>
                </a:solidFill>
                <a:latin typeface="Calibri" pitchFamily="34" charset="0"/>
                <a:ea typeface="Calibri" pitchFamily="34" charset="-122"/>
                <a:cs typeface="Calibri" pitchFamily="34" charset="-120"/>
              </a:rPr>
              <a:t>; Spanish </a:t>
            </a:r>
            <a:r>
              <a:rPr lang="en-US" sz="1467" i="1">
                <a:solidFill>
                  <a:srgbClr val="1A1A2E"/>
                </a:solidFill>
                <a:latin typeface="Calibri" pitchFamily="34" charset="0"/>
                <a:ea typeface="Calibri" pitchFamily="34" charset="-122"/>
                <a:cs typeface="Calibri" pitchFamily="34" charset="-120"/>
              </a:rPr>
              <a:t>-ción</a:t>
            </a:r>
            <a:r>
              <a:rPr lang="en-US" sz="1467">
                <a:solidFill>
                  <a:srgbClr val="1A1A2E"/>
                </a:solidFill>
                <a:latin typeface="Calibri" pitchFamily="34" charset="0"/>
                <a:ea typeface="Calibri" pitchFamily="34" charset="-122"/>
                <a:cs typeface="Calibri" pitchFamily="34" charset="-120"/>
              </a:rPr>
              <a:t>). Bidirectionality lets both the forward and backward pass contribute evidence at every timestep. The forward hidden state captures prefix and positional context, where the backward hidden state captures suffix and trailing context. Their concatenation at each position yields a richer representation for pooling than either direction alone for our application.</a:t>
            </a:r>
            <a:endParaRPr lang="en-US" sz="1467"/>
          </a:p>
        </p:txBody>
      </p:sp>
      <p:sp>
        <p:nvSpPr>
          <p:cNvPr id="9" name="Text 5">
            <a:extLst>
              <a:ext uri="{FF2B5EF4-FFF2-40B4-BE49-F238E27FC236}">
                <a16:creationId xmlns:a16="http://schemas.microsoft.com/office/drawing/2014/main" id="{61240669-DE75-06CE-490E-03A132C3804E}"/>
              </a:ext>
            </a:extLst>
          </p:cNvPr>
          <p:cNvSpPr/>
          <p:nvPr/>
        </p:nvSpPr>
        <p:spPr>
          <a:xfrm>
            <a:off x="731520" y="4815840"/>
            <a:ext cx="10119360" cy="365760"/>
          </a:xfrm>
          <a:prstGeom prst="rect">
            <a:avLst/>
          </a:prstGeom>
          <a:noFill/>
          <a:ln/>
        </p:spPr>
        <p:txBody>
          <a:bodyPr wrap="square" lIns="0" tIns="0" rIns="0" bIns="0" rtlCol="0" anchor="ctr"/>
          <a:lstStyle/>
          <a:p>
            <a:r>
              <a:rPr lang="en-US" sz="2000" b="1">
                <a:solidFill>
                  <a:srgbClr val="1E407C"/>
                </a:solidFill>
                <a:latin typeface="Calibri" pitchFamily="34" charset="0"/>
                <a:ea typeface="Calibri" pitchFamily="34" charset="-122"/>
                <a:cs typeface="Calibri" pitchFamily="34" charset="-120"/>
              </a:rPr>
              <a:t>2-Layer Stacking</a:t>
            </a:r>
            <a:endParaRPr lang="en-US" sz="2000"/>
          </a:p>
        </p:txBody>
      </p:sp>
      <p:sp>
        <p:nvSpPr>
          <p:cNvPr id="10" name="Text 6">
            <a:extLst>
              <a:ext uri="{FF2B5EF4-FFF2-40B4-BE49-F238E27FC236}">
                <a16:creationId xmlns:a16="http://schemas.microsoft.com/office/drawing/2014/main" id="{AC550F7E-3C52-0FB1-6009-45AAAA4D7AF0}"/>
              </a:ext>
            </a:extLst>
          </p:cNvPr>
          <p:cNvSpPr/>
          <p:nvPr/>
        </p:nvSpPr>
        <p:spPr>
          <a:xfrm>
            <a:off x="731520" y="5242560"/>
            <a:ext cx="10119360" cy="1158240"/>
          </a:xfrm>
          <a:prstGeom prst="rect">
            <a:avLst/>
          </a:prstGeom>
          <a:noFill/>
          <a:ln/>
        </p:spPr>
        <p:txBody>
          <a:bodyPr wrap="square" lIns="0" tIns="0" rIns="0" bIns="0" rtlCol="0" anchor="ctr"/>
          <a:lstStyle/>
          <a:p>
            <a:r>
              <a:rPr lang="en-US" sz="1467">
                <a:solidFill>
                  <a:srgbClr val="1A1A2E"/>
                </a:solidFill>
                <a:latin typeface="Calibri" pitchFamily="34" charset="0"/>
                <a:ea typeface="Calibri" pitchFamily="34" charset="-122"/>
                <a:cs typeface="Calibri" pitchFamily="34" charset="-120"/>
              </a:rPr>
              <a:t>Layer 1 operates on raw character embeddings and learns local character n-gram features at digraphs (th, qu, sz, gy), trigraphs (sch, tch, ıyor), and short orthographic motifs. Layer 2 receives Layer 1’s hidden states as input and captures longer range compositional patterns (morpheme boundaries, word-shape signatures, and sentence-level orthographic rhythm). More than 2 layers rarely improves accuracy on sequences as short as those in our application and introduces overfitting risk, because the effective receptive field of a 2-layer BiGRU already spans the full 128-character window.</a:t>
            </a:r>
            <a:endParaRPr lang="en-US" sz="1467"/>
          </a:p>
        </p:txBody>
      </p:sp>
    </p:spTree>
    <p:extLst>
      <p:ext uri="{BB962C8B-B14F-4D97-AF65-F5344CB8AC3E}">
        <p14:creationId xmlns:p14="http://schemas.microsoft.com/office/powerpoint/2010/main" val="4190751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EC397FE-0C71-2418-58C7-5A61E491FF23}"/>
              </a:ext>
            </a:extLst>
          </p:cNvPr>
          <p:cNvSpPr/>
          <p:nvPr/>
        </p:nvSpPr>
        <p:spPr>
          <a:xfrm>
            <a:off x="731520" y="365760"/>
            <a:ext cx="10363200" cy="731520"/>
          </a:xfrm>
          <a:prstGeom prst="rect">
            <a:avLst/>
          </a:prstGeom>
          <a:noFill/>
          <a:ln/>
        </p:spPr>
        <p:txBody>
          <a:bodyPr wrap="square" lIns="0" tIns="0" rIns="0" bIns="0" rtlCol="0" anchor="ctr"/>
          <a:lstStyle/>
          <a:p>
            <a:r>
              <a:rPr lang="en-US" sz="3467" b="1">
                <a:solidFill>
                  <a:srgbClr val="1E407C"/>
                </a:solidFill>
                <a:latin typeface="Calibri" pitchFamily="34" charset="0"/>
                <a:ea typeface="Calibri" pitchFamily="34" charset="-122"/>
                <a:cs typeface="Calibri" pitchFamily="34" charset="-120"/>
              </a:rPr>
              <a:t>Component Justifications (continued)</a:t>
            </a:r>
            <a:endParaRPr lang="en-US" sz="3467"/>
          </a:p>
        </p:txBody>
      </p:sp>
      <p:sp>
        <p:nvSpPr>
          <p:cNvPr id="5" name="Text 1">
            <a:extLst>
              <a:ext uri="{FF2B5EF4-FFF2-40B4-BE49-F238E27FC236}">
                <a16:creationId xmlns:a16="http://schemas.microsoft.com/office/drawing/2014/main" id="{07A603D8-801B-2A86-E2BE-FFC7F8EE5E3F}"/>
              </a:ext>
            </a:extLst>
          </p:cNvPr>
          <p:cNvSpPr/>
          <p:nvPr/>
        </p:nvSpPr>
        <p:spPr>
          <a:xfrm>
            <a:off x="731520" y="1219200"/>
            <a:ext cx="10119360" cy="365760"/>
          </a:xfrm>
          <a:prstGeom prst="rect">
            <a:avLst/>
          </a:prstGeom>
          <a:noFill/>
          <a:ln/>
        </p:spPr>
        <p:txBody>
          <a:bodyPr wrap="square" lIns="0" tIns="0" rIns="0" bIns="0" rtlCol="0" anchor="ctr"/>
          <a:lstStyle/>
          <a:p>
            <a:r>
              <a:rPr lang="en-US" sz="2000" b="1">
                <a:solidFill>
                  <a:srgbClr val="1E407C"/>
                </a:solidFill>
                <a:latin typeface="Calibri" pitchFamily="34" charset="0"/>
                <a:ea typeface="Calibri" pitchFamily="34" charset="-122"/>
                <a:cs typeface="Calibri" pitchFamily="34" charset="-120"/>
              </a:rPr>
              <a:t>Masked Max With Mean Pooling (not last hidden state)</a:t>
            </a:r>
            <a:endParaRPr lang="en-US" sz="2000"/>
          </a:p>
        </p:txBody>
      </p:sp>
      <p:sp>
        <p:nvSpPr>
          <p:cNvPr id="6" name="Text 2">
            <a:extLst>
              <a:ext uri="{FF2B5EF4-FFF2-40B4-BE49-F238E27FC236}">
                <a16:creationId xmlns:a16="http://schemas.microsoft.com/office/drawing/2014/main" id="{6DC101E1-14F6-73D5-5058-721EACCB411E}"/>
              </a:ext>
            </a:extLst>
          </p:cNvPr>
          <p:cNvSpPr/>
          <p:nvPr/>
        </p:nvSpPr>
        <p:spPr>
          <a:xfrm>
            <a:off x="731520" y="1645920"/>
            <a:ext cx="10119360" cy="1036320"/>
          </a:xfrm>
          <a:prstGeom prst="rect">
            <a:avLst/>
          </a:prstGeom>
          <a:noFill/>
          <a:ln/>
        </p:spPr>
        <p:txBody>
          <a:bodyPr wrap="square" lIns="0" tIns="0" rIns="0" bIns="0" rtlCol="0" anchor="ctr"/>
          <a:lstStyle/>
          <a:p>
            <a:r>
              <a:rPr lang="en-US" sz="1467">
                <a:solidFill>
                  <a:srgbClr val="1A1A2E"/>
                </a:solidFill>
                <a:latin typeface="Calibri" pitchFamily="34" charset="0"/>
                <a:ea typeface="Calibri" pitchFamily="34" charset="-122"/>
                <a:cs typeface="Calibri" pitchFamily="34" charset="-120"/>
              </a:rPr>
              <a:t>Using only the final hidden state is the simplest sequence-to-vector reduction, but it over-emphasizes the last few characters in the sentence and under-weights evidence appearing earlier. Mean pooling alone is better - it aggregates evidence from all timesteps - but it can dilute rare, highly discriminative cues such as a single </a:t>
            </a:r>
            <a:r>
              <a:rPr lang="en-US" sz="1600">
                <a:solidFill>
                  <a:srgbClr val="1E407C"/>
                </a:solidFill>
                <a:latin typeface="Calibri" pitchFamily="34" charset="0"/>
                <a:ea typeface="Calibri" pitchFamily="34" charset="-122"/>
                <a:cs typeface="Calibri" pitchFamily="34" charset="-120"/>
              </a:rPr>
              <a:t>ñ</a:t>
            </a:r>
            <a:r>
              <a:rPr lang="en-US" sz="1467">
                <a:solidFill>
                  <a:srgbClr val="1A1A2E"/>
                </a:solidFill>
                <a:latin typeface="Calibri" pitchFamily="34" charset="0"/>
                <a:ea typeface="Calibri" pitchFamily="34" charset="-122"/>
                <a:cs typeface="Calibri" pitchFamily="34" charset="-120"/>
              </a:rPr>
              <a:t> (Spanish), </a:t>
            </a:r>
            <a:r>
              <a:rPr lang="en-US" sz="1600">
                <a:solidFill>
                  <a:srgbClr val="1E407C"/>
                </a:solidFill>
                <a:latin typeface="Calibri" pitchFamily="34" charset="0"/>
                <a:ea typeface="Calibri" pitchFamily="34" charset="-122"/>
                <a:cs typeface="Calibri" pitchFamily="34" charset="-120"/>
              </a:rPr>
              <a:t>ç</a:t>
            </a:r>
            <a:r>
              <a:rPr lang="en-US" sz="1467">
                <a:solidFill>
                  <a:srgbClr val="1A1A2E"/>
                </a:solidFill>
                <a:latin typeface="Calibri" pitchFamily="34" charset="0"/>
                <a:ea typeface="Calibri" pitchFamily="34" charset="-122"/>
                <a:cs typeface="Calibri" pitchFamily="34" charset="-120"/>
              </a:rPr>
              <a:t> (French/Turkish), or </a:t>
            </a:r>
            <a:r>
              <a:rPr lang="en-US" sz="1600">
                <a:solidFill>
                  <a:srgbClr val="1E407C"/>
                </a:solidFill>
                <a:latin typeface="Calibri" pitchFamily="34" charset="0"/>
                <a:ea typeface="Calibri" pitchFamily="34" charset="-122"/>
                <a:cs typeface="Calibri" pitchFamily="34" charset="-120"/>
              </a:rPr>
              <a:t>ő</a:t>
            </a:r>
            <a:r>
              <a:rPr lang="en-US" sz="1467">
                <a:solidFill>
                  <a:srgbClr val="1A1A2E"/>
                </a:solidFill>
                <a:latin typeface="Calibri" pitchFamily="34" charset="0"/>
                <a:ea typeface="Calibri" pitchFamily="34" charset="-122"/>
                <a:cs typeface="Calibri" pitchFamily="34" charset="-120"/>
              </a:rPr>
              <a:t> (Hungarian) that appears once in an otherwise ambiguous string.</a:t>
            </a:r>
            <a:endParaRPr lang="en-US" sz="1467"/>
          </a:p>
        </p:txBody>
      </p:sp>
      <p:sp>
        <p:nvSpPr>
          <p:cNvPr id="7" name="Text 3">
            <a:extLst>
              <a:ext uri="{FF2B5EF4-FFF2-40B4-BE49-F238E27FC236}">
                <a16:creationId xmlns:a16="http://schemas.microsoft.com/office/drawing/2014/main" id="{D3473654-B975-71FD-6F98-5E3C61B6153E}"/>
              </a:ext>
            </a:extLst>
          </p:cNvPr>
          <p:cNvSpPr/>
          <p:nvPr/>
        </p:nvSpPr>
        <p:spPr>
          <a:xfrm>
            <a:off x="731520" y="2743200"/>
            <a:ext cx="10119360" cy="1097280"/>
          </a:xfrm>
          <a:prstGeom prst="rect">
            <a:avLst/>
          </a:prstGeom>
          <a:noFill/>
          <a:ln/>
        </p:spPr>
        <p:txBody>
          <a:bodyPr wrap="square" lIns="0" tIns="0" rIns="0" bIns="0" rtlCol="0" anchor="ctr"/>
          <a:lstStyle/>
          <a:p>
            <a:r>
              <a:rPr lang="en-US" sz="1467">
                <a:solidFill>
                  <a:srgbClr val="1A1A2E"/>
                </a:solidFill>
                <a:latin typeface="Calibri" pitchFamily="34" charset="0"/>
                <a:ea typeface="Calibri" pitchFamily="34" charset="-122"/>
                <a:cs typeface="Calibri" pitchFamily="34" charset="-120"/>
              </a:rPr>
              <a:t>Max pooling selects the strongest activation in each hidden dimension across all timesteps, capturing the single most decisive signal anywhere in the sequence. Mean pooling captures the overall distributional style of the character sequence. Concatenating both produces a 4h-dimensional (512-d) sentence vector that preserves both sparse critical evidence and global orthographic texture. Masking is applied to both operations so that padded positions (which exist because sentences are shorter than the 128-char cap) contribute zero signal to the pooled representation.</a:t>
            </a:r>
            <a:endParaRPr lang="en-US" sz="1467"/>
          </a:p>
        </p:txBody>
      </p:sp>
      <p:sp>
        <p:nvSpPr>
          <p:cNvPr id="8" name="Text 4">
            <a:extLst>
              <a:ext uri="{FF2B5EF4-FFF2-40B4-BE49-F238E27FC236}">
                <a16:creationId xmlns:a16="http://schemas.microsoft.com/office/drawing/2014/main" id="{33A505B2-07FA-BE5F-E77B-912D382203DB}"/>
              </a:ext>
            </a:extLst>
          </p:cNvPr>
          <p:cNvSpPr/>
          <p:nvPr/>
        </p:nvSpPr>
        <p:spPr>
          <a:xfrm>
            <a:off x="731520" y="3870955"/>
            <a:ext cx="6096000" cy="365760"/>
          </a:xfrm>
          <a:prstGeom prst="rect">
            <a:avLst/>
          </a:prstGeom>
          <a:noFill/>
          <a:ln/>
        </p:spPr>
        <p:txBody>
          <a:bodyPr wrap="square" lIns="0" tIns="0" rIns="0" bIns="0" rtlCol="0" anchor="ctr"/>
          <a:lstStyle/>
          <a:p>
            <a:r>
              <a:rPr lang="en-US" sz="1733" b="1">
                <a:solidFill>
                  <a:srgbClr val="1E407C"/>
                </a:solidFill>
                <a:latin typeface="Calibri" pitchFamily="34" charset="0"/>
                <a:ea typeface="Calibri" pitchFamily="34" charset="-122"/>
                <a:cs typeface="Calibri" pitchFamily="34" charset="-120"/>
              </a:rPr>
              <a:t>Pooling Strategy Comparison</a:t>
            </a:r>
            <a:endParaRPr lang="en-US" sz="1733"/>
          </a:p>
        </p:txBody>
      </p:sp>
      <p:graphicFrame>
        <p:nvGraphicFramePr>
          <p:cNvPr id="9" name="Table 0">
            <a:extLst>
              <a:ext uri="{FF2B5EF4-FFF2-40B4-BE49-F238E27FC236}">
                <a16:creationId xmlns:a16="http://schemas.microsoft.com/office/drawing/2014/main" id="{66A51768-52EC-3BC7-8A49-C80B2838C234}"/>
              </a:ext>
            </a:extLst>
          </p:cNvPr>
          <p:cNvGraphicFramePr>
            <a:graphicFrameLocks noGrp="1"/>
          </p:cNvGraphicFramePr>
          <p:nvPr>
            <p:extLst>
              <p:ext uri="{D42A27DB-BD31-4B8C-83A1-F6EECF244321}">
                <p14:modId xmlns:p14="http://schemas.microsoft.com/office/powerpoint/2010/main" val="860170409"/>
              </p:ext>
            </p:extLst>
          </p:nvPr>
        </p:nvGraphicFramePr>
        <p:xfrm>
          <a:off x="731520" y="4236715"/>
          <a:ext cx="10119360" cy="1926336"/>
        </p:xfrm>
        <a:graphic>
          <a:graphicData uri="http://schemas.openxmlformats.org/drawingml/2006/table">
            <a:tbl>
              <a:tblPr/>
              <a:tblGrid>
                <a:gridCol w="219456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41376">
                <a:tc>
                  <a:txBody>
                    <a:bodyPr/>
                    <a:lstStyle/>
                    <a:p>
                      <a:pPr marL="0" indent="0">
                        <a:buNone/>
                      </a:pPr>
                      <a:r>
                        <a:rPr lang="en-US" sz="1300" b="1">
                          <a:solidFill>
                            <a:srgbClr val="FFFFFF"/>
                          </a:solidFill>
                          <a:latin typeface="Calibri" pitchFamily="34" charset="0"/>
                          <a:ea typeface="Calibri" pitchFamily="34" charset="-122"/>
                          <a:cs typeface="Calibri" pitchFamily="34" charset="-120"/>
                        </a:rPr>
                        <a:t>Strategy</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407C"/>
                    </a:solidFill>
                  </a:tcPr>
                </a:tc>
                <a:tc>
                  <a:txBody>
                    <a:bodyPr/>
                    <a:lstStyle/>
                    <a:p>
                      <a:pPr marL="0" indent="0">
                        <a:buNone/>
                      </a:pPr>
                      <a:r>
                        <a:rPr lang="en-US" sz="1300" b="1">
                          <a:solidFill>
                            <a:srgbClr val="FFFFFF"/>
                          </a:solidFill>
                          <a:latin typeface="Calibri" pitchFamily="34" charset="0"/>
                          <a:ea typeface="Calibri" pitchFamily="34" charset="-122"/>
                          <a:cs typeface="Calibri" pitchFamily="34" charset="-120"/>
                        </a:rPr>
                        <a:t>Captures</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407C"/>
                    </a:solidFill>
                  </a:tcPr>
                </a:tc>
                <a:tc>
                  <a:txBody>
                    <a:bodyPr/>
                    <a:lstStyle/>
                    <a:p>
                      <a:pPr marL="0" indent="0">
                        <a:buNone/>
                      </a:pPr>
                      <a:r>
                        <a:rPr lang="en-US" sz="1300" b="1">
                          <a:solidFill>
                            <a:srgbClr val="FFFFFF"/>
                          </a:solidFill>
                          <a:latin typeface="Calibri" pitchFamily="34" charset="0"/>
                          <a:ea typeface="Calibri" pitchFamily="34" charset="-122"/>
                          <a:cs typeface="Calibri" pitchFamily="34" charset="-120"/>
                        </a:rPr>
                        <a:t>Misses</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407C"/>
                    </a:solidFill>
                  </a:tcPr>
                </a:tc>
                <a:tc>
                  <a:txBody>
                    <a:bodyPr/>
                    <a:lstStyle/>
                    <a:p>
                      <a:pPr marL="0" indent="0">
                        <a:buNone/>
                      </a:pPr>
                      <a:r>
                        <a:rPr lang="en-US" sz="1300" b="1">
                          <a:solidFill>
                            <a:srgbClr val="FFFFFF"/>
                          </a:solidFill>
                          <a:latin typeface="Calibri" pitchFamily="34" charset="0"/>
                          <a:ea typeface="Calibri" pitchFamily="34" charset="-122"/>
                          <a:cs typeface="Calibri" pitchFamily="34" charset="-120"/>
                        </a:rPr>
                        <a:t>Output dim</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407C"/>
                    </a:solidFill>
                  </a:tcPr>
                </a:tc>
                <a:extLst>
                  <a:ext uri="{0D108BD9-81ED-4DB2-BD59-A6C34878D82A}">
                    <a16:rowId xmlns:a16="http://schemas.microsoft.com/office/drawing/2014/main" val="10000"/>
                  </a:ext>
                </a:extLst>
              </a:tr>
              <a:tr h="528320">
                <a:tc>
                  <a:txBody>
                    <a:bodyPr/>
                    <a:lstStyle/>
                    <a:p>
                      <a:pPr marL="0" indent="0">
                        <a:buNone/>
                      </a:pPr>
                      <a:r>
                        <a:rPr lang="en-US" sz="1300">
                          <a:solidFill>
                            <a:srgbClr val="000000"/>
                          </a:solidFill>
                          <a:latin typeface="Calibri" pitchFamily="34" charset="0"/>
                          <a:ea typeface="Calibri" pitchFamily="34" charset="-122"/>
                          <a:cs typeface="Calibri" pitchFamily="34" charset="-120"/>
                        </a:rPr>
                        <a:t>Last hidden state</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a:solidFill>
                            <a:srgbClr val="000000"/>
                          </a:solidFill>
                          <a:latin typeface="Calibri" pitchFamily="34" charset="0"/>
                          <a:ea typeface="Calibri" pitchFamily="34" charset="-122"/>
                          <a:cs typeface="Calibri" pitchFamily="34" charset="-120"/>
                        </a:rPr>
                        <a:t>End-of-sequence context</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a:solidFill>
                            <a:srgbClr val="000000"/>
                          </a:solidFill>
                          <a:latin typeface="Calibri" pitchFamily="34" charset="0"/>
                          <a:ea typeface="Calibri" pitchFamily="34" charset="-122"/>
                          <a:cs typeface="Calibri" pitchFamily="34" charset="-120"/>
                        </a:rPr>
                        <a:t>Early position cues, dilutes mid-sentence signals</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a:solidFill>
                            <a:srgbClr val="000000"/>
                          </a:solidFill>
                          <a:latin typeface="Calibri" pitchFamily="34" charset="0"/>
                          <a:ea typeface="Calibri" pitchFamily="34" charset="-122"/>
                          <a:cs typeface="Calibri" pitchFamily="34" charset="-120"/>
                        </a:rPr>
                        <a:t>2h = 256</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528320">
                <a:tc>
                  <a:txBody>
                    <a:bodyPr/>
                    <a:lstStyle/>
                    <a:p>
                      <a:pPr marL="0" indent="0">
                        <a:buNone/>
                      </a:pPr>
                      <a:r>
                        <a:rPr lang="en-US" sz="1300">
                          <a:solidFill>
                            <a:srgbClr val="000000"/>
                          </a:solidFill>
                          <a:latin typeface="Calibri" pitchFamily="34" charset="0"/>
                          <a:ea typeface="Calibri" pitchFamily="34" charset="-122"/>
                          <a:cs typeface="Calibri" pitchFamily="34" charset="-120"/>
                        </a:rPr>
                        <a:t>Mean pooling only</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a:solidFill>
                            <a:srgbClr val="000000"/>
                          </a:solidFill>
                          <a:latin typeface="Calibri" pitchFamily="34" charset="0"/>
                          <a:ea typeface="Calibri" pitchFamily="34" charset="-122"/>
                          <a:cs typeface="Calibri" pitchFamily="34" charset="-120"/>
                        </a:rPr>
                        <a:t>Global distributional style</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a:solidFill>
                            <a:srgbClr val="000000"/>
                          </a:solidFill>
                          <a:latin typeface="Calibri" pitchFamily="34" charset="0"/>
                          <a:ea typeface="Calibri" pitchFamily="34" charset="-122"/>
                          <a:cs typeface="Calibri" pitchFamily="34" charset="-120"/>
                        </a:rPr>
                        <a:t>Rare decisive characters are averaged away</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a:solidFill>
                            <a:srgbClr val="000000"/>
                          </a:solidFill>
                          <a:latin typeface="Calibri" pitchFamily="34" charset="0"/>
                          <a:ea typeface="Calibri" pitchFamily="34" charset="-122"/>
                          <a:cs typeface="Calibri" pitchFamily="34" charset="-120"/>
                        </a:rPr>
                        <a:t>2h = 256</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528320">
                <a:tc>
                  <a:txBody>
                    <a:bodyPr/>
                    <a:lstStyle/>
                    <a:p>
                      <a:pPr marL="0" indent="0">
                        <a:buNone/>
                      </a:pPr>
                      <a:r>
                        <a:rPr lang="en-US" sz="1300" b="1">
                          <a:solidFill>
                            <a:srgbClr val="000000"/>
                          </a:solidFill>
                          <a:latin typeface="Calibri" pitchFamily="34" charset="0"/>
                          <a:ea typeface="Calibri" pitchFamily="34" charset="-122"/>
                          <a:cs typeface="Calibri" pitchFamily="34" charset="-120"/>
                        </a:rPr>
                        <a:t>Max with Mean (ours)</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b="1">
                          <a:solidFill>
                            <a:srgbClr val="000000"/>
                          </a:solidFill>
                          <a:latin typeface="Calibri" pitchFamily="34" charset="0"/>
                          <a:ea typeface="Calibri" pitchFamily="34" charset="-122"/>
                          <a:cs typeface="Calibri" pitchFamily="34" charset="-120"/>
                        </a:rPr>
                        <a:t>Both sparse critical cues and global style</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b="1" i="1">
                          <a:solidFill>
                            <a:srgbClr val="000000"/>
                          </a:solidFill>
                          <a:latin typeface="Calibri" pitchFamily="34" charset="0"/>
                          <a:ea typeface="Calibri" pitchFamily="34" charset="-122"/>
                          <a:cs typeface="Calibri" pitchFamily="34" charset="-120"/>
                        </a:rPr>
                        <a:t>(minimal - strictly dominates the above strategies)</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b="1">
                          <a:solidFill>
                            <a:srgbClr val="000000"/>
                          </a:solidFill>
                          <a:latin typeface="Calibri" pitchFamily="34" charset="0"/>
                          <a:ea typeface="Calibri" pitchFamily="34" charset="-122"/>
                          <a:cs typeface="Calibri" pitchFamily="34" charset="-120"/>
                        </a:rPr>
                        <a:t>4h = 512</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44190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0">
            <a:extLst>
              <a:ext uri="{FF2B5EF4-FFF2-40B4-BE49-F238E27FC236}">
                <a16:creationId xmlns:a16="http://schemas.microsoft.com/office/drawing/2014/main" id="{E49C247F-506D-F442-93C8-939BC26806A8}"/>
              </a:ext>
            </a:extLst>
          </p:cNvPr>
          <p:cNvSpPr/>
          <p:nvPr/>
        </p:nvSpPr>
        <p:spPr>
          <a:xfrm>
            <a:off x="731520" y="365760"/>
            <a:ext cx="10363200" cy="731520"/>
          </a:xfrm>
          <a:prstGeom prst="rect">
            <a:avLst/>
          </a:prstGeom>
          <a:noFill/>
          <a:ln/>
        </p:spPr>
        <p:txBody>
          <a:bodyPr wrap="square" lIns="0" tIns="0" rIns="0" bIns="0" rtlCol="0" anchor="ctr"/>
          <a:lstStyle/>
          <a:p>
            <a:r>
              <a:rPr lang="en-US" sz="3467" b="1">
                <a:solidFill>
                  <a:srgbClr val="1E407C"/>
                </a:solidFill>
                <a:latin typeface="Calibri" pitchFamily="34" charset="0"/>
                <a:ea typeface="Calibri" pitchFamily="34" charset="-122"/>
                <a:cs typeface="Calibri" pitchFamily="34" charset="-120"/>
              </a:rPr>
              <a:t>Component Justifications (continued)</a:t>
            </a:r>
            <a:endParaRPr lang="en-US" sz="3467"/>
          </a:p>
        </p:txBody>
      </p:sp>
      <p:sp>
        <p:nvSpPr>
          <p:cNvPr id="7" name="Text 1">
            <a:extLst>
              <a:ext uri="{FF2B5EF4-FFF2-40B4-BE49-F238E27FC236}">
                <a16:creationId xmlns:a16="http://schemas.microsoft.com/office/drawing/2014/main" id="{8A8A71F7-C990-9607-DF71-85F73075A8F3}"/>
              </a:ext>
            </a:extLst>
          </p:cNvPr>
          <p:cNvSpPr/>
          <p:nvPr/>
        </p:nvSpPr>
        <p:spPr>
          <a:xfrm>
            <a:off x="731520" y="1219200"/>
            <a:ext cx="10119360" cy="365760"/>
          </a:xfrm>
          <a:prstGeom prst="rect">
            <a:avLst/>
          </a:prstGeom>
          <a:noFill/>
          <a:ln/>
        </p:spPr>
        <p:txBody>
          <a:bodyPr wrap="square" lIns="0" tIns="0" rIns="0" bIns="0" rtlCol="0" anchor="ctr"/>
          <a:lstStyle/>
          <a:p>
            <a:r>
              <a:rPr lang="en-US" sz="2000" b="1">
                <a:solidFill>
                  <a:srgbClr val="1E407C"/>
                </a:solidFill>
                <a:latin typeface="Calibri" pitchFamily="34" charset="0"/>
                <a:ea typeface="Calibri" pitchFamily="34" charset="-122"/>
                <a:cs typeface="Calibri" pitchFamily="34" charset="-120"/>
              </a:rPr>
              <a:t>Character Embedding (dim=64)</a:t>
            </a:r>
            <a:endParaRPr lang="en-US" sz="2000"/>
          </a:p>
        </p:txBody>
      </p:sp>
      <p:sp>
        <p:nvSpPr>
          <p:cNvPr id="8" name="Text 2">
            <a:extLst>
              <a:ext uri="{FF2B5EF4-FFF2-40B4-BE49-F238E27FC236}">
                <a16:creationId xmlns:a16="http://schemas.microsoft.com/office/drawing/2014/main" id="{2D149046-CF99-974D-3A32-9044622F95A2}"/>
              </a:ext>
            </a:extLst>
          </p:cNvPr>
          <p:cNvSpPr/>
          <p:nvPr/>
        </p:nvSpPr>
        <p:spPr>
          <a:xfrm>
            <a:off x="731520" y="1645920"/>
            <a:ext cx="10119360" cy="103632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467">
                <a:solidFill>
                  <a:srgbClr val="1A1A2E"/>
                </a:solidFill>
                <a:latin typeface="Calibri" pitchFamily="34" charset="0"/>
                <a:ea typeface="Calibri" pitchFamily="34" charset="-122"/>
                <a:cs typeface="Calibri" pitchFamily="34" charset="-120"/>
              </a:rPr>
              <a:t>Small embedding is sufficient: character vocabulary is tiny (~200 items compared to word vocabularies (50k+)</a:t>
            </a:r>
          </a:p>
          <a:p>
            <a:pPr marL="285750" indent="-285750">
              <a:buFont typeface="Arial" panose="020B0604020202020204" pitchFamily="34" charset="0"/>
              <a:buChar char="•"/>
            </a:pPr>
            <a:r>
              <a:rPr lang="en-US" sz="1467">
                <a:solidFill>
                  <a:srgbClr val="1A1A2E"/>
                </a:solidFill>
                <a:latin typeface="Calibri" pitchFamily="34" charset="0"/>
                <a:ea typeface="Calibri" pitchFamily="34" charset="-122"/>
                <a:cs typeface="Calibri" pitchFamily="34" charset="-120"/>
              </a:rPr>
              <a:t>The embedding learns e.g., é, è, ê are French-associated, ő, ű are Hungarian, etc.</a:t>
            </a:r>
          </a:p>
        </p:txBody>
      </p:sp>
    </p:spTree>
    <p:extLst>
      <p:ext uri="{BB962C8B-B14F-4D97-AF65-F5344CB8AC3E}">
        <p14:creationId xmlns:p14="http://schemas.microsoft.com/office/powerpoint/2010/main" val="3041719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7F0C2246-723B-8FE3-CE57-6170C13AF547}"/>
              </a:ext>
            </a:extLst>
          </p:cNvPr>
          <p:cNvSpPr/>
          <p:nvPr/>
        </p:nvSpPr>
        <p:spPr>
          <a:xfrm>
            <a:off x="731520" y="365760"/>
            <a:ext cx="10363200" cy="731520"/>
          </a:xfrm>
          <a:prstGeom prst="rect">
            <a:avLst/>
          </a:prstGeom>
          <a:noFill/>
          <a:ln/>
        </p:spPr>
        <p:txBody>
          <a:bodyPr wrap="square" lIns="0" tIns="0" rIns="0" bIns="0" rtlCol="0" anchor="ctr"/>
          <a:lstStyle/>
          <a:p>
            <a:r>
              <a:rPr lang="en-US" sz="3467" b="1">
                <a:solidFill>
                  <a:srgbClr val="1E407C"/>
                </a:solidFill>
                <a:latin typeface="Calibri" pitchFamily="34" charset="0"/>
                <a:ea typeface="Calibri" pitchFamily="34" charset="-122"/>
                <a:cs typeface="Calibri" pitchFamily="34" charset="-120"/>
              </a:rPr>
              <a:t>Input Pipeline and Training Configuration</a:t>
            </a:r>
            <a:endParaRPr lang="en-US" sz="3467"/>
          </a:p>
        </p:txBody>
      </p:sp>
      <p:sp>
        <p:nvSpPr>
          <p:cNvPr id="5" name="Text 1">
            <a:extLst>
              <a:ext uri="{FF2B5EF4-FFF2-40B4-BE49-F238E27FC236}">
                <a16:creationId xmlns:a16="http://schemas.microsoft.com/office/drawing/2014/main" id="{7D670BEA-F773-1067-3304-F68CDA7182A2}"/>
              </a:ext>
            </a:extLst>
          </p:cNvPr>
          <p:cNvSpPr/>
          <p:nvPr/>
        </p:nvSpPr>
        <p:spPr>
          <a:xfrm>
            <a:off x="731520" y="1219200"/>
            <a:ext cx="5120640" cy="365760"/>
          </a:xfrm>
          <a:prstGeom prst="rect">
            <a:avLst/>
          </a:prstGeom>
          <a:noFill/>
          <a:ln/>
        </p:spPr>
        <p:txBody>
          <a:bodyPr wrap="square" lIns="0" tIns="0" rIns="0" bIns="0" rtlCol="0" anchor="ctr"/>
          <a:lstStyle/>
          <a:p>
            <a:r>
              <a:rPr lang="en-US" sz="1867" b="1">
                <a:solidFill>
                  <a:srgbClr val="1E407C"/>
                </a:solidFill>
                <a:latin typeface="Calibri" pitchFamily="34" charset="0"/>
                <a:ea typeface="Calibri" pitchFamily="34" charset="-122"/>
                <a:cs typeface="Calibri" pitchFamily="34" charset="-120"/>
              </a:rPr>
              <a:t>Input Pipeline</a:t>
            </a:r>
            <a:endParaRPr lang="en-US" sz="1867"/>
          </a:p>
        </p:txBody>
      </p:sp>
      <p:pic>
        <p:nvPicPr>
          <p:cNvPr id="6" name="Image 0" descr="preencoded.png">
            <a:extLst>
              <a:ext uri="{FF2B5EF4-FFF2-40B4-BE49-F238E27FC236}">
                <a16:creationId xmlns:a16="http://schemas.microsoft.com/office/drawing/2014/main" id="{584FA335-2984-7BBB-EBF5-BB3E09327065}"/>
              </a:ext>
            </a:extLst>
          </p:cNvPr>
          <p:cNvPicPr>
            <a:picLocks noChangeAspect="1"/>
          </p:cNvPicPr>
          <p:nvPr/>
        </p:nvPicPr>
        <p:blipFill>
          <a:blip r:embed="rId3"/>
          <a:stretch>
            <a:fillRect/>
          </a:stretch>
        </p:blipFill>
        <p:spPr>
          <a:xfrm>
            <a:off x="792480" y="1706880"/>
            <a:ext cx="219456" cy="219456"/>
          </a:xfrm>
          <a:prstGeom prst="rect">
            <a:avLst/>
          </a:prstGeom>
        </p:spPr>
      </p:pic>
      <p:sp>
        <p:nvSpPr>
          <p:cNvPr id="7" name="Text 2">
            <a:extLst>
              <a:ext uri="{FF2B5EF4-FFF2-40B4-BE49-F238E27FC236}">
                <a16:creationId xmlns:a16="http://schemas.microsoft.com/office/drawing/2014/main" id="{F0A49235-12C0-CB36-94D5-E52A888A14FD}"/>
              </a:ext>
            </a:extLst>
          </p:cNvPr>
          <p:cNvSpPr/>
          <p:nvPr/>
        </p:nvSpPr>
        <p:spPr>
          <a:xfrm>
            <a:off x="1121664" y="1645920"/>
            <a:ext cx="4693920" cy="950976"/>
          </a:xfrm>
          <a:prstGeom prst="rect">
            <a:avLst/>
          </a:prstGeom>
          <a:noFill/>
          <a:ln/>
        </p:spPr>
        <p:txBody>
          <a:bodyPr wrap="square" lIns="0" tIns="0" rIns="0" bIns="0" rtlCol="0" anchor="ctr"/>
          <a:lstStyle/>
          <a:p>
            <a:r>
              <a:rPr lang="en-US" sz="1333">
                <a:solidFill>
                  <a:srgbClr val="1A1A2E"/>
                </a:solidFill>
                <a:latin typeface="Calibri" pitchFamily="34" charset="0"/>
                <a:ea typeface="Calibri" pitchFamily="34" charset="-122"/>
                <a:cs typeface="Calibri" pitchFamily="34" charset="-120"/>
              </a:rPr>
              <a:t>Build character vocabulary from train set only; map each Unicode codepoint to an integer index. Reserve index 0 for &lt;PAD&gt; and index 1 for &lt;UNK&gt;. Expected vocabulary size: ~150–200 unique characters across all 10 languages.</a:t>
            </a:r>
            <a:endParaRPr lang="en-US" sz="1333"/>
          </a:p>
        </p:txBody>
      </p:sp>
      <p:pic>
        <p:nvPicPr>
          <p:cNvPr id="8" name="Image 1" descr="preencoded.png">
            <a:extLst>
              <a:ext uri="{FF2B5EF4-FFF2-40B4-BE49-F238E27FC236}">
                <a16:creationId xmlns:a16="http://schemas.microsoft.com/office/drawing/2014/main" id="{88DCAA0F-1604-6E58-F13E-D0B059CADD29}"/>
              </a:ext>
            </a:extLst>
          </p:cNvPr>
          <p:cNvPicPr>
            <a:picLocks noChangeAspect="1"/>
          </p:cNvPicPr>
          <p:nvPr/>
        </p:nvPicPr>
        <p:blipFill>
          <a:blip r:embed="rId3"/>
          <a:stretch>
            <a:fillRect/>
          </a:stretch>
        </p:blipFill>
        <p:spPr>
          <a:xfrm>
            <a:off x="792480" y="2743200"/>
            <a:ext cx="219456" cy="219456"/>
          </a:xfrm>
          <a:prstGeom prst="rect">
            <a:avLst/>
          </a:prstGeom>
        </p:spPr>
      </p:pic>
      <p:sp>
        <p:nvSpPr>
          <p:cNvPr id="9" name="Text 3">
            <a:extLst>
              <a:ext uri="{FF2B5EF4-FFF2-40B4-BE49-F238E27FC236}">
                <a16:creationId xmlns:a16="http://schemas.microsoft.com/office/drawing/2014/main" id="{6940197D-9B26-E36A-52C1-95B67A18C699}"/>
              </a:ext>
            </a:extLst>
          </p:cNvPr>
          <p:cNvSpPr/>
          <p:nvPr/>
        </p:nvSpPr>
        <p:spPr>
          <a:xfrm>
            <a:off x="1121664" y="2682240"/>
            <a:ext cx="4693920" cy="950976"/>
          </a:xfrm>
          <a:prstGeom prst="rect">
            <a:avLst/>
          </a:prstGeom>
          <a:noFill/>
          <a:ln/>
        </p:spPr>
        <p:txBody>
          <a:bodyPr wrap="square" lIns="0" tIns="0" rIns="0" bIns="0" rtlCol="0" anchor="ctr"/>
          <a:lstStyle/>
          <a:p>
            <a:r>
              <a:rPr lang="en-US" sz="1333">
                <a:solidFill>
                  <a:srgbClr val="1A1A2E"/>
                </a:solidFill>
                <a:latin typeface="Calibri" pitchFamily="34" charset="0"/>
                <a:ea typeface="Calibri" pitchFamily="34" charset="-122"/>
                <a:cs typeface="Calibri" pitchFamily="34" charset="-120"/>
              </a:rPr>
              <a:t>Preserve all language informative characters: diacritics (é, ü, ç, ő), punctuation (inverted ¿¡ in Spanish), apostrophes (French l’, Turkish ’), and script specific symbols.</a:t>
            </a:r>
            <a:endParaRPr lang="en-US" sz="1333"/>
          </a:p>
        </p:txBody>
      </p:sp>
      <p:pic>
        <p:nvPicPr>
          <p:cNvPr id="10" name="Image 2" descr="preencoded.png">
            <a:extLst>
              <a:ext uri="{FF2B5EF4-FFF2-40B4-BE49-F238E27FC236}">
                <a16:creationId xmlns:a16="http://schemas.microsoft.com/office/drawing/2014/main" id="{B8E0DAC5-DC6F-134A-6F57-27A6CA5B91C1}"/>
              </a:ext>
            </a:extLst>
          </p:cNvPr>
          <p:cNvPicPr>
            <a:picLocks noChangeAspect="1"/>
          </p:cNvPicPr>
          <p:nvPr/>
        </p:nvPicPr>
        <p:blipFill>
          <a:blip r:embed="rId3"/>
          <a:stretch>
            <a:fillRect/>
          </a:stretch>
        </p:blipFill>
        <p:spPr>
          <a:xfrm>
            <a:off x="792480" y="3779520"/>
            <a:ext cx="219456" cy="219456"/>
          </a:xfrm>
          <a:prstGeom prst="rect">
            <a:avLst/>
          </a:prstGeom>
        </p:spPr>
      </p:pic>
      <p:sp>
        <p:nvSpPr>
          <p:cNvPr id="11" name="Text 4">
            <a:extLst>
              <a:ext uri="{FF2B5EF4-FFF2-40B4-BE49-F238E27FC236}">
                <a16:creationId xmlns:a16="http://schemas.microsoft.com/office/drawing/2014/main" id="{B4C00999-CB48-363D-8DB0-9E65B928C659}"/>
              </a:ext>
            </a:extLst>
          </p:cNvPr>
          <p:cNvSpPr/>
          <p:nvPr/>
        </p:nvSpPr>
        <p:spPr>
          <a:xfrm>
            <a:off x="1121664" y="3718560"/>
            <a:ext cx="4693920" cy="950976"/>
          </a:xfrm>
          <a:prstGeom prst="rect">
            <a:avLst/>
          </a:prstGeom>
          <a:noFill/>
          <a:ln/>
        </p:spPr>
        <p:txBody>
          <a:bodyPr wrap="square" lIns="0" tIns="0" rIns="0" bIns="0" rtlCol="0" anchor="ctr"/>
          <a:lstStyle/>
          <a:p>
            <a:r>
              <a:rPr lang="en-US" sz="1333">
                <a:solidFill>
                  <a:srgbClr val="1A1A2E"/>
                </a:solidFill>
                <a:latin typeface="Calibri" pitchFamily="34" charset="0"/>
                <a:ea typeface="Calibri" pitchFamily="34" charset="-122"/>
                <a:cs typeface="Calibri" pitchFamily="34" charset="-120"/>
              </a:rPr>
              <a:t>Apply conservative formatting normalization only: NFC Unicode normalization, collapse non-standard whitespace to regular spaces, remove invisible formatting characters, trim leading/trailing whitespace.</a:t>
            </a:r>
            <a:endParaRPr lang="en-US" sz="1333"/>
          </a:p>
        </p:txBody>
      </p:sp>
      <p:pic>
        <p:nvPicPr>
          <p:cNvPr id="12" name="Image 3" descr="preencoded.png">
            <a:extLst>
              <a:ext uri="{FF2B5EF4-FFF2-40B4-BE49-F238E27FC236}">
                <a16:creationId xmlns:a16="http://schemas.microsoft.com/office/drawing/2014/main" id="{0E1D4F25-73D6-9B25-79E4-E0B19952A78E}"/>
              </a:ext>
            </a:extLst>
          </p:cNvPr>
          <p:cNvPicPr>
            <a:picLocks noChangeAspect="1"/>
          </p:cNvPicPr>
          <p:nvPr/>
        </p:nvPicPr>
        <p:blipFill>
          <a:blip r:embed="rId3"/>
          <a:stretch>
            <a:fillRect/>
          </a:stretch>
        </p:blipFill>
        <p:spPr>
          <a:xfrm>
            <a:off x="792480" y="4815840"/>
            <a:ext cx="219456" cy="219456"/>
          </a:xfrm>
          <a:prstGeom prst="rect">
            <a:avLst/>
          </a:prstGeom>
        </p:spPr>
      </p:pic>
      <p:sp>
        <p:nvSpPr>
          <p:cNvPr id="13" name="Text 5">
            <a:extLst>
              <a:ext uri="{FF2B5EF4-FFF2-40B4-BE49-F238E27FC236}">
                <a16:creationId xmlns:a16="http://schemas.microsoft.com/office/drawing/2014/main" id="{BC55FB8F-1E66-2AAA-34D1-18A53E55415E}"/>
              </a:ext>
            </a:extLst>
          </p:cNvPr>
          <p:cNvSpPr/>
          <p:nvPr/>
        </p:nvSpPr>
        <p:spPr>
          <a:xfrm>
            <a:off x="1121664" y="4754880"/>
            <a:ext cx="4693920" cy="950976"/>
          </a:xfrm>
          <a:prstGeom prst="rect">
            <a:avLst/>
          </a:prstGeom>
          <a:noFill/>
          <a:ln/>
        </p:spPr>
        <p:txBody>
          <a:bodyPr wrap="square" lIns="0" tIns="0" rIns="0" bIns="0" rtlCol="0" anchor="ctr"/>
          <a:lstStyle/>
          <a:p>
            <a:r>
              <a:rPr lang="en-US" sz="1333">
                <a:solidFill>
                  <a:srgbClr val="1A1A2E"/>
                </a:solidFill>
                <a:latin typeface="Calibri" pitchFamily="34" charset="0"/>
                <a:ea typeface="Calibri" pitchFamily="34" charset="-122"/>
                <a:cs typeface="Calibri" pitchFamily="34" charset="-120"/>
              </a:rPr>
              <a:t>Pad or truncate all sequences to a fixed length of 128 characters. Apply a binary mask tensor so that masked max-pooling and masked mean-pooling operate only on real character positions, not padding.</a:t>
            </a:r>
            <a:endParaRPr lang="en-US" sz="1333"/>
          </a:p>
        </p:txBody>
      </p:sp>
      <p:sp>
        <p:nvSpPr>
          <p:cNvPr id="14" name="Text 6">
            <a:extLst>
              <a:ext uri="{FF2B5EF4-FFF2-40B4-BE49-F238E27FC236}">
                <a16:creationId xmlns:a16="http://schemas.microsoft.com/office/drawing/2014/main" id="{B833492C-D5B4-229B-E468-BC8355555E99}"/>
              </a:ext>
            </a:extLst>
          </p:cNvPr>
          <p:cNvSpPr/>
          <p:nvPr/>
        </p:nvSpPr>
        <p:spPr>
          <a:xfrm>
            <a:off x="6339840" y="1219200"/>
            <a:ext cx="4876800" cy="365760"/>
          </a:xfrm>
          <a:prstGeom prst="rect">
            <a:avLst/>
          </a:prstGeom>
          <a:noFill/>
          <a:ln/>
        </p:spPr>
        <p:txBody>
          <a:bodyPr wrap="square" lIns="0" tIns="0" rIns="0" bIns="0" rtlCol="0" anchor="ctr"/>
          <a:lstStyle/>
          <a:p>
            <a:r>
              <a:rPr lang="en-US" sz="1867" b="1">
                <a:solidFill>
                  <a:srgbClr val="1E407C"/>
                </a:solidFill>
                <a:latin typeface="Calibri" pitchFamily="34" charset="0"/>
                <a:ea typeface="Calibri" pitchFamily="34" charset="-122"/>
                <a:cs typeface="Calibri" pitchFamily="34" charset="-120"/>
              </a:rPr>
              <a:t>Training Configuration</a:t>
            </a:r>
            <a:endParaRPr lang="en-US" sz="1867"/>
          </a:p>
        </p:txBody>
      </p:sp>
      <p:graphicFrame>
        <p:nvGraphicFramePr>
          <p:cNvPr id="15" name="Table 0">
            <a:extLst>
              <a:ext uri="{FF2B5EF4-FFF2-40B4-BE49-F238E27FC236}">
                <a16:creationId xmlns:a16="http://schemas.microsoft.com/office/drawing/2014/main" id="{3E293E7A-EC38-EB0D-CD3B-378178085D86}"/>
              </a:ext>
            </a:extLst>
          </p:cNvPr>
          <p:cNvGraphicFramePr>
            <a:graphicFrameLocks noGrp="1"/>
          </p:cNvGraphicFramePr>
          <p:nvPr>
            <p:extLst>
              <p:ext uri="{D42A27DB-BD31-4B8C-83A1-F6EECF244321}">
                <p14:modId xmlns:p14="http://schemas.microsoft.com/office/powerpoint/2010/main" val="1287413834"/>
              </p:ext>
            </p:extLst>
          </p:nvPr>
        </p:nvGraphicFramePr>
        <p:xfrm>
          <a:off x="6339840" y="1706880"/>
          <a:ext cx="5120640" cy="3657600"/>
        </p:xfrm>
        <a:graphic>
          <a:graphicData uri="http://schemas.openxmlformats.org/drawingml/2006/table">
            <a:tbl>
              <a:tblPr/>
              <a:tblGrid>
                <a:gridCol w="146304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325120">
                <a:tc>
                  <a:txBody>
                    <a:bodyPr/>
                    <a:lstStyle/>
                    <a:p>
                      <a:pPr marL="0" indent="0">
                        <a:buNone/>
                      </a:pPr>
                      <a:r>
                        <a:rPr lang="en-US" sz="1300" b="1">
                          <a:solidFill>
                            <a:srgbClr val="FFFFFF"/>
                          </a:solidFill>
                          <a:latin typeface="Calibri" pitchFamily="34" charset="0"/>
                          <a:ea typeface="Calibri" pitchFamily="34" charset="-122"/>
                          <a:cs typeface="Calibri" pitchFamily="34" charset="-120"/>
                        </a:rPr>
                        <a:t>Hyperparameter</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407C"/>
                    </a:solidFill>
                  </a:tcPr>
                </a:tc>
                <a:tc>
                  <a:txBody>
                    <a:bodyPr/>
                    <a:lstStyle/>
                    <a:p>
                      <a:pPr marL="0" indent="0">
                        <a:buNone/>
                      </a:pPr>
                      <a:r>
                        <a:rPr lang="en-US" sz="1300" b="1">
                          <a:solidFill>
                            <a:srgbClr val="FFFFFF"/>
                          </a:solidFill>
                          <a:latin typeface="Calibri" pitchFamily="34" charset="0"/>
                          <a:ea typeface="Calibri" pitchFamily="34" charset="-122"/>
                          <a:cs typeface="Calibri" pitchFamily="34" charset="-120"/>
                        </a:rPr>
                        <a:t>Value</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407C"/>
                    </a:solidFill>
                  </a:tcPr>
                </a:tc>
                <a:tc>
                  <a:txBody>
                    <a:bodyPr/>
                    <a:lstStyle/>
                    <a:p>
                      <a:pPr marL="0" indent="0">
                        <a:buNone/>
                      </a:pPr>
                      <a:r>
                        <a:rPr lang="en-US" sz="1300" b="1">
                          <a:solidFill>
                            <a:srgbClr val="FFFFFF"/>
                          </a:solidFill>
                          <a:latin typeface="Calibri" pitchFamily="34" charset="0"/>
                          <a:ea typeface="Calibri" pitchFamily="34" charset="-122"/>
                          <a:cs typeface="Calibri" pitchFamily="34" charset="-120"/>
                        </a:rPr>
                        <a:t>Rationale</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407C"/>
                    </a:solidFill>
                  </a:tcPr>
                </a:tc>
                <a:extLst>
                  <a:ext uri="{0D108BD9-81ED-4DB2-BD59-A6C34878D82A}">
                    <a16:rowId xmlns:a16="http://schemas.microsoft.com/office/drawing/2014/main" val="10000"/>
                  </a:ext>
                </a:extLst>
              </a:tr>
              <a:tr h="487680">
                <a:tc>
                  <a:txBody>
                    <a:bodyPr/>
                    <a:lstStyle/>
                    <a:p>
                      <a:pPr marL="0" indent="0">
                        <a:buNone/>
                      </a:pPr>
                      <a:r>
                        <a:rPr lang="en-US" sz="1300">
                          <a:solidFill>
                            <a:srgbClr val="000000"/>
                          </a:solidFill>
                          <a:latin typeface="Calibri" pitchFamily="34" charset="0"/>
                          <a:ea typeface="Calibri" pitchFamily="34" charset="-122"/>
                          <a:cs typeface="Calibri" pitchFamily="34" charset="-120"/>
                        </a:rPr>
                        <a:t>Optimizer</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b="1">
                          <a:solidFill>
                            <a:srgbClr val="000000"/>
                          </a:solidFill>
                          <a:latin typeface="Calibri" pitchFamily="34" charset="0"/>
                          <a:ea typeface="Calibri" pitchFamily="34" charset="-122"/>
                          <a:cs typeface="Calibri" pitchFamily="34" charset="-120"/>
                        </a:rPr>
                        <a:t>AdamW</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a:solidFill>
                            <a:srgbClr val="000000"/>
                          </a:solidFill>
                          <a:latin typeface="Calibri" pitchFamily="34" charset="0"/>
                          <a:ea typeface="Calibri" pitchFamily="34" charset="-122"/>
                          <a:cs typeface="Calibri" pitchFamily="34" charset="-120"/>
                        </a:rPr>
                        <a:t>Decoupled weight decay for better generalization</a:t>
                      </a:r>
                      <a:endParaRPr lang="en-US" sz="12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487680">
                <a:tc>
                  <a:txBody>
                    <a:bodyPr/>
                    <a:lstStyle/>
                    <a:p>
                      <a:pPr marL="0" indent="0">
                        <a:buNone/>
                      </a:pPr>
                      <a:r>
                        <a:rPr lang="en-US" sz="1300">
                          <a:solidFill>
                            <a:srgbClr val="000000"/>
                          </a:solidFill>
                          <a:latin typeface="Calibri" pitchFamily="34" charset="0"/>
                          <a:ea typeface="Calibri" pitchFamily="34" charset="-122"/>
                          <a:cs typeface="Calibri" pitchFamily="34" charset="-120"/>
                        </a:rPr>
                        <a:t>Learning rate</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b="1">
                          <a:solidFill>
                            <a:srgbClr val="000000"/>
                          </a:solidFill>
                          <a:latin typeface="Calibri" pitchFamily="34" charset="0"/>
                          <a:ea typeface="Calibri" pitchFamily="34" charset="-122"/>
                          <a:cs typeface="Calibri" pitchFamily="34" charset="-120"/>
                        </a:rPr>
                        <a:t>1e-3</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a:solidFill>
                            <a:srgbClr val="000000"/>
                          </a:solidFill>
                          <a:latin typeface="Calibri" pitchFamily="34" charset="0"/>
                          <a:ea typeface="Calibri" pitchFamily="34" charset="-122"/>
                          <a:cs typeface="Calibri" pitchFamily="34" charset="-120"/>
                        </a:rPr>
                        <a:t>Standard for RNNs; reduce on plateau</a:t>
                      </a:r>
                      <a:endParaRPr lang="en-US" sz="12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487680">
                <a:tc>
                  <a:txBody>
                    <a:bodyPr/>
                    <a:lstStyle/>
                    <a:p>
                      <a:pPr marL="0" indent="0">
                        <a:buNone/>
                      </a:pPr>
                      <a:r>
                        <a:rPr lang="en-US" sz="1300">
                          <a:solidFill>
                            <a:srgbClr val="000000"/>
                          </a:solidFill>
                          <a:latin typeface="Calibri" pitchFamily="34" charset="0"/>
                          <a:ea typeface="Calibri" pitchFamily="34" charset="-122"/>
                          <a:cs typeface="Calibri" pitchFamily="34" charset="-120"/>
                        </a:rPr>
                        <a:t>Batch size</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b="1">
                          <a:solidFill>
                            <a:srgbClr val="000000"/>
                          </a:solidFill>
                          <a:latin typeface="Calibri" pitchFamily="34" charset="0"/>
                          <a:ea typeface="Calibri" pitchFamily="34" charset="-122"/>
                          <a:cs typeface="Calibri" pitchFamily="34" charset="-120"/>
                        </a:rPr>
                        <a:t>64 to 128</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a:solidFill>
                            <a:srgbClr val="000000"/>
                          </a:solidFill>
                          <a:latin typeface="Calibri" pitchFamily="34" charset="0"/>
                          <a:ea typeface="Calibri" pitchFamily="34" charset="-122"/>
                          <a:cs typeface="Calibri" pitchFamily="34" charset="-120"/>
                        </a:rPr>
                        <a:t>Good gradient estimates; fits GPU memory</a:t>
                      </a:r>
                      <a:endParaRPr lang="en-US" sz="12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300">
                          <a:solidFill>
                            <a:srgbClr val="000000"/>
                          </a:solidFill>
                          <a:latin typeface="Calibri" pitchFamily="34" charset="0"/>
                          <a:ea typeface="Calibri" pitchFamily="34" charset="-122"/>
                          <a:cs typeface="Calibri" pitchFamily="34" charset="-120"/>
                        </a:rPr>
                        <a:t>Loss</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b="1">
                          <a:solidFill>
                            <a:srgbClr val="000000"/>
                          </a:solidFill>
                          <a:latin typeface="Calibri" pitchFamily="34" charset="0"/>
                          <a:ea typeface="Calibri" pitchFamily="34" charset="-122"/>
                          <a:cs typeface="Calibri" pitchFamily="34" charset="-120"/>
                        </a:rPr>
                        <a:t>CrossEntropy</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a:solidFill>
                            <a:srgbClr val="000000"/>
                          </a:solidFill>
                          <a:latin typeface="Calibri" pitchFamily="34" charset="0"/>
                          <a:ea typeface="Calibri" pitchFamily="34" charset="-122"/>
                          <a:cs typeface="Calibri" pitchFamily="34" charset="-120"/>
                        </a:rPr>
                        <a:t>10-class single-label classification</a:t>
                      </a:r>
                      <a:endParaRPr lang="en-US" sz="12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487680">
                <a:tc>
                  <a:txBody>
                    <a:bodyPr/>
                    <a:lstStyle/>
                    <a:p>
                      <a:pPr marL="0" indent="0">
                        <a:buNone/>
                      </a:pPr>
                      <a:r>
                        <a:rPr lang="en-US" sz="1300">
                          <a:solidFill>
                            <a:srgbClr val="000000"/>
                          </a:solidFill>
                          <a:latin typeface="Calibri" pitchFamily="34" charset="0"/>
                          <a:ea typeface="Calibri" pitchFamily="34" charset="-122"/>
                          <a:cs typeface="Calibri" pitchFamily="34" charset="-120"/>
                        </a:rPr>
                        <a:t>Epochs</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b="1">
                          <a:solidFill>
                            <a:srgbClr val="000000"/>
                          </a:solidFill>
                          <a:latin typeface="Calibri" pitchFamily="34" charset="0"/>
                          <a:ea typeface="Calibri" pitchFamily="34" charset="-122"/>
                          <a:cs typeface="Calibri" pitchFamily="34" charset="-120"/>
                        </a:rPr>
                        <a:t>10 to 20</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a:solidFill>
                            <a:srgbClr val="000000"/>
                          </a:solidFill>
                          <a:latin typeface="Calibri" pitchFamily="34" charset="0"/>
                          <a:ea typeface="Calibri" pitchFamily="34" charset="-122"/>
                          <a:cs typeface="Calibri" pitchFamily="34" charset="-120"/>
                        </a:rPr>
                        <a:t>With early stopping on dev accuracy</a:t>
                      </a:r>
                      <a:endParaRPr lang="en-US" sz="12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r h="528320">
                <a:tc>
                  <a:txBody>
                    <a:bodyPr/>
                    <a:lstStyle/>
                    <a:p>
                      <a:pPr marL="0" indent="0">
                        <a:buNone/>
                      </a:pPr>
                      <a:r>
                        <a:rPr lang="en-US" sz="1300">
                          <a:solidFill>
                            <a:srgbClr val="000000"/>
                          </a:solidFill>
                          <a:latin typeface="Calibri" pitchFamily="34" charset="0"/>
                          <a:ea typeface="Calibri" pitchFamily="34" charset="-122"/>
                          <a:cs typeface="Calibri" pitchFamily="34" charset="-120"/>
                        </a:rPr>
                        <a:t>Gradient clip</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b="1">
                          <a:solidFill>
                            <a:srgbClr val="000000"/>
                          </a:solidFill>
                          <a:latin typeface="Calibri" pitchFamily="34" charset="0"/>
                          <a:ea typeface="Calibri" pitchFamily="34" charset="-122"/>
                          <a:cs typeface="Calibri" pitchFamily="34" charset="-120"/>
                        </a:rPr>
                        <a:t>max_norm=1.0</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a:solidFill>
                            <a:srgbClr val="000000"/>
                          </a:solidFill>
                          <a:latin typeface="Calibri" pitchFamily="34" charset="0"/>
                          <a:ea typeface="Calibri" pitchFamily="34" charset="-122"/>
                          <a:cs typeface="Calibri" pitchFamily="34" charset="-120"/>
                        </a:rPr>
                        <a:t>Prevents exploding gradients in RNNs</a:t>
                      </a:r>
                      <a:endParaRPr lang="en-US" sz="12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6"/>
                  </a:ext>
                </a:extLst>
              </a:tr>
              <a:tr h="487680">
                <a:tc>
                  <a:txBody>
                    <a:bodyPr/>
                    <a:lstStyle/>
                    <a:p>
                      <a:pPr marL="0" indent="0">
                        <a:buNone/>
                      </a:pPr>
                      <a:r>
                        <a:rPr lang="en-US" sz="1300">
                          <a:solidFill>
                            <a:srgbClr val="000000"/>
                          </a:solidFill>
                          <a:latin typeface="Calibri" pitchFamily="34" charset="0"/>
                          <a:ea typeface="Calibri" pitchFamily="34" charset="-122"/>
                          <a:cs typeface="Calibri" pitchFamily="34" charset="-120"/>
                        </a:rPr>
                        <a:t>Class weighting</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b="1">
                          <a:solidFill>
                            <a:srgbClr val="000000"/>
                          </a:solidFill>
                          <a:latin typeface="Calibri" pitchFamily="34" charset="0"/>
                          <a:ea typeface="Calibri" pitchFamily="34" charset="-122"/>
                          <a:cs typeface="Calibri" pitchFamily="34" charset="-120"/>
                        </a:rPr>
                        <a:t>None</a:t>
                      </a:r>
                      <a:endParaRPr lang="en-US" sz="13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a:solidFill>
                            <a:srgbClr val="000000"/>
                          </a:solidFill>
                          <a:latin typeface="Calibri" pitchFamily="34" charset="0"/>
                          <a:ea typeface="Calibri" pitchFamily="34" charset="-122"/>
                          <a:cs typeface="Calibri" pitchFamily="34" charset="-120"/>
                        </a:rPr>
                        <a:t>Dataset is perfectly balanced (10K/class)</a:t>
                      </a:r>
                      <a:endParaRPr lang="en-US" sz="1200">
                        <a:latin typeface="Calibri" charset="0"/>
                        <a:ea typeface="Calibri" charset="0"/>
                        <a:cs typeface="Calibri" charset="0"/>
                      </a:endParaRPr>
                    </a:p>
                  </a:txBody>
                  <a:tcPr marL="121920" marR="121920" marT="60960" marB="6096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2" name="Picture 1" descr="A close-up of a computer screen&#10;&#10;AI-generated content may be incorrect.">
            <a:extLst>
              <a:ext uri="{FF2B5EF4-FFF2-40B4-BE49-F238E27FC236}">
                <a16:creationId xmlns:a16="http://schemas.microsoft.com/office/drawing/2014/main" id="{761A31F7-5C93-942D-A00D-338BA60D21E4}"/>
              </a:ext>
            </a:extLst>
          </p:cNvPr>
          <p:cNvPicPr>
            <a:picLocks noChangeAspect="1"/>
          </p:cNvPicPr>
          <p:nvPr/>
        </p:nvPicPr>
        <p:blipFill>
          <a:blip r:embed="rId4"/>
          <a:stretch>
            <a:fillRect/>
          </a:stretch>
        </p:blipFill>
        <p:spPr>
          <a:xfrm>
            <a:off x="792481" y="5747658"/>
            <a:ext cx="4815601" cy="822960"/>
          </a:xfrm>
          <a:prstGeom prst="rect">
            <a:avLst/>
          </a:prstGeom>
        </p:spPr>
      </p:pic>
    </p:spTree>
    <p:extLst>
      <p:ext uri="{BB962C8B-B14F-4D97-AF65-F5344CB8AC3E}">
        <p14:creationId xmlns:p14="http://schemas.microsoft.com/office/powerpoint/2010/main" val="2563445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92AC8CF-99AA-684B-A5E8-2F0134390394}"/>
              </a:ext>
            </a:extLst>
          </p:cNvPr>
          <p:cNvSpPr>
            <a:spLocks noGrp="1"/>
          </p:cNvSpPr>
          <p:nvPr>
            <p:ph sz="half" idx="1"/>
          </p:nvPr>
        </p:nvSpPr>
        <p:spPr>
          <a:xfrm>
            <a:off x="838199" y="1756229"/>
            <a:ext cx="10515599" cy="4420734"/>
          </a:xfrm>
        </p:spPr>
        <p:txBody>
          <a:bodyPr lIns="91440" tIns="45720" rIns="91440" bIns="45720" anchor="t"/>
          <a:lstStyle/>
          <a:p>
            <a:r>
              <a:rPr lang="en-US" sz="1470" b="1">
                <a:latin typeface="Calibri" panose="020F0502020204030204" pitchFamily="34" charset="0"/>
                <a:ea typeface="Calibri" panose="020F0502020204030204" pitchFamily="34" charset="0"/>
                <a:cs typeface="Calibri" panose="020F0502020204030204" pitchFamily="34" charset="0"/>
              </a:rPr>
              <a:t>Label encoding:</a:t>
            </a:r>
            <a:endParaRPr lang="en-US" sz="1470">
              <a:latin typeface="Calibri" panose="020F0502020204030204" pitchFamily="34" charset="0"/>
              <a:ea typeface="Calibri" panose="020F0502020204030204" pitchFamily="34" charset="0"/>
              <a:cs typeface="Calibri" panose="020F0502020204030204" pitchFamily="34" charset="0"/>
            </a:endParaRPr>
          </a:p>
          <a:p>
            <a:endParaRPr lang="en-US"/>
          </a:p>
        </p:txBody>
      </p:sp>
      <p:pic>
        <p:nvPicPr>
          <p:cNvPr id="7" name="Picture 6" descr="A close-up of a text&#10;&#10;AI-generated content may be incorrect.">
            <a:extLst>
              <a:ext uri="{FF2B5EF4-FFF2-40B4-BE49-F238E27FC236}">
                <a16:creationId xmlns:a16="http://schemas.microsoft.com/office/drawing/2014/main" id="{50404C56-B3EE-272A-3CC3-DE3B1232D7EA}"/>
              </a:ext>
            </a:extLst>
          </p:cNvPr>
          <p:cNvPicPr>
            <a:picLocks noChangeAspect="1"/>
          </p:cNvPicPr>
          <p:nvPr/>
        </p:nvPicPr>
        <p:blipFill>
          <a:blip r:embed="rId2"/>
          <a:stretch>
            <a:fillRect/>
          </a:stretch>
        </p:blipFill>
        <p:spPr>
          <a:xfrm>
            <a:off x="841438" y="2074751"/>
            <a:ext cx="3876675" cy="685800"/>
          </a:xfrm>
          <a:prstGeom prst="rect">
            <a:avLst/>
          </a:prstGeom>
        </p:spPr>
      </p:pic>
      <p:sp>
        <p:nvSpPr>
          <p:cNvPr id="5" name="Text 0">
            <a:extLst>
              <a:ext uri="{FF2B5EF4-FFF2-40B4-BE49-F238E27FC236}">
                <a16:creationId xmlns:a16="http://schemas.microsoft.com/office/drawing/2014/main" id="{C0940147-AF5B-16F5-84F9-34B1FD033656}"/>
              </a:ext>
            </a:extLst>
          </p:cNvPr>
          <p:cNvSpPr/>
          <p:nvPr/>
        </p:nvSpPr>
        <p:spPr>
          <a:xfrm>
            <a:off x="731520" y="365760"/>
            <a:ext cx="10363200" cy="731520"/>
          </a:xfrm>
          <a:prstGeom prst="rect">
            <a:avLst/>
          </a:prstGeom>
          <a:noFill/>
          <a:ln/>
        </p:spPr>
        <p:txBody>
          <a:bodyPr wrap="square" lIns="0" tIns="0" rIns="0" bIns="0" rtlCol="0" anchor="ctr"/>
          <a:lstStyle/>
          <a:p>
            <a:r>
              <a:rPr lang="en-US" sz="3467" b="1">
                <a:solidFill>
                  <a:srgbClr val="1E407C"/>
                </a:solidFill>
                <a:latin typeface="Calibri" pitchFamily="34" charset="0"/>
                <a:ea typeface="Calibri" pitchFamily="34" charset="-122"/>
                <a:cs typeface="Calibri" pitchFamily="34" charset="-120"/>
              </a:rPr>
              <a:t>Input Pipeline and Training Configuration (continued)</a:t>
            </a:r>
            <a:endParaRPr lang="en-US" sz="3467"/>
          </a:p>
        </p:txBody>
      </p:sp>
      <p:sp>
        <p:nvSpPr>
          <p:cNvPr id="9" name="Text 1">
            <a:extLst>
              <a:ext uri="{FF2B5EF4-FFF2-40B4-BE49-F238E27FC236}">
                <a16:creationId xmlns:a16="http://schemas.microsoft.com/office/drawing/2014/main" id="{5CCB404C-5B30-4E5D-CB59-608488207DAD}"/>
              </a:ext>
            </a:extLst>
          </p:cNvPr>
          <p:cNvSpPr/>
          <p:nvPr/>
        </p:nvSpPr>
        <p:spPr>
          <a:xfrm>
            <a:off x="731520" y="1219200"/>
            <a:ext cx="5120640" cy="365760"/>
          </a:xfrm>
          <a:prstGeom prst="rect">
            <a:avLst/>
          </a:prstGeom>
          <a:noFill/>
          <a:ln/>
        </p:spPr>
        <p:txBody>
          <a:bodyPr wrap="square" lIns="0" tIns="0" rIns="0" bIns="0" rtlCol="0" anchor="ctr"/>
          <a:lstStyle/>
          <a:p>
            <a:r>
              <a:rPr lang="en-US" sz="1867" b="1">
                <a:solidFill>
                  <a:srgbClr val="1E407C"/>
                </a:solidFill>
                <a:latin typeface="Calibri" pitchFamily="34" charset="0"/>
                <a:ea typeface="Calibri" pitchFamily="34" charset="-122"/>
                <a:cs typeface="Calibri" pitchFamily="34" charset="-120"/>
              </a:rPr>
              <a:t>Input Pipeline (continued)</a:t>
            </a:r>
            <a:endParaRPr lang="en-US" sz="1867"/>
          </a:p>
        </p:txBody>
      </p:sp>
    </p:spTree>
    <p:extLst>
      <p:ext uri="{BB962C8B-B14F-4D97-AF65-F5344CB8AC3E}">
        <p14:creationId xmlns:p14="http://schemas.microsoft.com/office/powerpoint/2010/main" val="435420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83140459-E194-403C-5D29-66478C862E68}"/>
              </a:ext>
            </a:extLst>
          </p:cNvPr>
          <p:cNvSpPr/>
          <p:nvPr/>
        </p:nvSpPr>
        <p:spPr>
          <a:xfrm>
            <a:off x="731520" y="324195"/>
            <a:ext cx="10363200" cy="731520"/>
          </a:xfrm>
          <a:prstGeom prst="rect">
            <a:avLst/>
          </a:prstGeom>
          <a:noFill/>
          <a:ln/>
        </p:spPr>
        <p:txBody>
          <a:bodyPr wrap="square" lIns="0" tIns="0" rIns="0" bIns="0" rtlCol="0" anchor="ctr"/>
          <a:lstStyle/>
          <a:p>
            <a:r>
              <a:rPr lang="en-US" sz="3467" b="1">
                <a:solidFill>
                  <a:srgbClr val="1E407C"/>
                </a:solidFill>
                <a:latin typeface="Calibri" pitchFamily="34" charset="0"/>
                <a:ea typeface="Calibri" pitchFamily="34" charset="-122"/>
                <a:cs typeface="Calibri" pitchFamily="34" charset="-120"/>
              </a:rPr>
              <a:t>Evaluation Plan and Expected Confusion Patterns</a:t>
            </a:r>
            <a:endParaRPr lang="en-US" sz="3467"/>
          </a:p>
        </p:txBody>
      </p:sp>
      <p:sp>
        <p:nvSpPr>
          <p:cNvPr id="5" name="Text 1">
            <a:extLst>
              <a:ext uri="{FF2B5EF4-FFF2-40B4-BE49-F238E27FC236}">
                <a16:creationId xmlns:a16="http://schemas.microsoft.com/office/drawing/2014/main" id="{6977B074-7678-E144-6DD6-C9A6A0084998}"/>
              </a:ext>
            </a:extLst>
          </p:cNvPr>
          <p:cNvSpPr/>
          <p:nvPr/>
        </p:nvSpPr>
        <p:spPr>
          <a:xfrm>
            <a:off x="731520" y="1039085"/>
            <a:ext cx="5120640" cy="365760"/>
          </a:xfrm>
          <a:prstGeom prst="rect">
            <a:avLst/>
          </a:prstGeom>
          <a:noFill/>
          <a:ln/>
        </p:spPr>
        <p:txBody>
          <a:bodyPr wrap="square" lIns="0" tIns="0" rIns="0" bIns="0" rtlCol="0" anchor="ctr"/>
          <a:lstStyle/>
          <a:p>
            <a:r>
              <a:rPr lang="en-US" sz="1867" b="1">
                <a:solidFill>
                  <a:srgbClr val="1E407C"/>
                </a:solidFill>
                <a:latin typeface="Calibri" pitchFamily="34" charset="0"/>
                <a:ea typeface="Calibri" pitchFamily="34" charset="-122"/>
                <a:cs typeface="Calibri" pitchFamily="34" charset="-120"/>
              </a:rPr>
              <a:t>Evaluation Methodology</a:t>
            </a:r>
            <a:endParaRPr lang="en-US" sz="1867"/>
          </a:p>
        </p:txBody>
      </p:sp>
      <p:pic>
        <p:nvPicPr>
          <p:cNvPr id="6" name="Image 0" descr="preencoded.png">
            <a:extLst>
              <a:ext uri="{FF2B5EF4-FFF2-40B4-BE49-F238E27FC236}">
                <a16:creationId xmlns:a16="http://schemas.microsoft.com/office/drawing/2014/main" id="{813C4999-E961-A9FE-04C9-52A8CB0046ED}"/>
              </a:ext>
            </a:extLst>
          </p:cNvPr>
          <p:cNvPicPr>
            <a:picLocks noChangeAspect="1"/>
          </p:cNvPicPr>
          <p:nvPr/>
        </p:nvPicPr>
        <p:blipFill>
          <a:blip r:embed="rId3"/>
          <a:stretch>
            <a:fillRect/>
          </a:stretch>
        </p:blipFill>
        <p:spPr>
          <a:xfrm>
            <a:off x="792480" y="1526765"/>
            <a:ext cx="219456" cy="219456"/>
          </a:xfrm>
          <a:prstGeom prst="rect">
            <a:avLst/>
          </a:prstGeom>
        </p:spPr>
      </p:pic>
      <p:sp>
        <p:nvSpPr>
          <p:cNvPr id="7" name="Text 2">
            <a:extLst>
              <a:ext uri="{FF2B5EF4-FFF2-40B4-BE49-F238E27FC236}">
                <a16:creationId xmlns:a16="http://schemas.microsoft.com/office/drawing/2014/main" id="{C09DCFEE-4D49-631A-D993-D5F46B3EB24C}"/>
              </a:ext>
            </a:extLst>
          </p:cNvPr>
          <p:cNvSpPr/>
          <p:nvPr/>
        </p:nvSpPr>
        <p:spPr>
          <a:xfrm>
            <a:off x="1121664" y="1465805"/>
            <a:ext cx="4998720" cy="755904"/>
          </a:xfrm>
          <a:prstGeom prst="rect">
            <a:avLst/>
          </a:prstGeom>
          <a:noFill/>
          <a:ln/>
        </p:spPr>
        <p:txBody>
          <a:bodyPr wrap="square" lIns="0" tIns="0" rIns="0" bIns="0" rtlCol="0" anchor="ctr"/>
          <a:lstStyle/>
          <a:p>
            <a:r>
              <a:rPr lang="en-US" sz="1333" b="1">
                <a:solidFill>
                  <a:srgbClr val="1A1A2E"/>
                </a:solidFill>
                <a:latin typeface="Calibri" pitchFamily="34" charset="0"/>
                <a:ea typeface="Calibri" pitchFamily="34" charset="-122"/>
                <a:cs typeface="Calibri" pitchFamily="34" charset="-120"/>
              </a:rPr>
              <a:t>Primary Metric: </a:t>
            </a:r>
            <a:r>
              <a:rPr lang="en-US" sz="1333">
                <a:solidFill>
                  <a:srgbClr val="1A1A2E"/>
                </a:solidFill>
                <a:latin typeface="Calibri" pitchFamily="34" charset="0"/>
                <a:ea typeface="Calibri" pitchFamily="34" charset="-122"/>
                <a:cs typeface="Calibri" pitchFamily="34" charset="-120"/>
              </a:rPr>
              <a:t>overall accuracy on the balanced 10,000 sentence dev set. Because classes are equally weighted, the accuracy is an unbiased estimator of per-class performance.</a:t>
            </a:r>
            <a:endParaRPr lang="en-US" sz="1333"/>
          </a:p>
        </p:txBody>
      </p:sp>
      <p:pic>
        <p:nvPicPr>
          <p:cNvPr id="8" name="Image 1" descr="preencoded.png">
            <a:extLst>
              <a:ext uri="{FF2B5EF4-FFF2-40B4-BE49-F238E27FC236}">
                <a16:creationId xmlns:a16="http://schemas.microsoft.com/office/drawing/2014/main" id="{7AB1920D-D5D9-C405-6BDF-5E5DDD82F60C}"/>
              </a:ext>
            </a:extLst>
          </p:cNvPr>
          <p:cNvPicPr>
            <a:picLocks noChangeAspect="1"/>
          </p:cNvPicPr>
          <p:nvPr/>
        </p:nvPicPr>
        <p:blipFill>
          <a:blip r:embed="rId3"/>
          <a:stretch>
            <a:fillRect/>
          </a:stretch>
        </p:blipFill>
        <p:spPr>
          <a:xfrm>
            <a:off x="792480" y="2380205"/>
            <a:ext cx="219456" cy="219456"/>
          </a:xfrm>
          <a:prstGeom prst="rect">
            <a:avLst/>
          </a:prstGeom>
        </p:spPr>
      </p:pic>
      <p:sp>
        <p:nvSpPr>
          <p:cNvPr id="9" name="Text 3">
            <a:extLst>
              <a:ext uri="{FF2B5EF4-FFF2-40B4-BE49-F238E27FC236}">
                <a16:creationId xmlns:a16="http://schemas.microsoft.com/office/drawing/2014/main" id="{DBF1566B-5C9A-7C40-55BB-11E1E36C9D9B}"/>
              </a:ext>
            </a:extLst>
          </p:cNvPr>
          <p:cNvSpPr/>
          <p:nvPr/>
        </p:nvSpPr>
        <p:spPr>
          <a:xfrm>
            <a:off x="1121664" y="2319245"/>
            <a:ext cx="4998720" cy="755904"/>
          </a:xfrm>
          <a:prstGeom prst="rect">
            <a:avLst/>
          </a:prstGeom>
          <a:noFill/>
          <a:ln/>
        </p:spPr>
        <p:txBody>
          <a:bodyPr wrap="square" lIns="0" tIns="0" rIns="0" bIns="0" rtlCol="0" anchor="ctr"/>
          <a:lstStyle/>
          <a:p>
            <a:r>
              <a:rPr lang="en-US" sz="1333" b="1">
                <a:solidFill>
                  <a:srgbClr val="1A1A2E"/>
                </a:solidFill>
                <a:latin typeface="Calibri" pitchFamily="34" charset="0"/>
                <a:ea typeface="Calibri" pitchFamily="34" charset="-122"/>
                <a:cs typeface="Calibri" pitchFamily="34" charset="-120"/>
              </a:rPr>
              <a:t>Secondary Metric: </a:t>
            </a:r>
            <a:r>
              <a:rPr lang="en-US" sz="1333">
                <a:solidFill>
                  <a:srgbClr val="1A1A2E"/>
                </a:solidFill>
                <a:latin typeface="Calibri" pitchFamily="34" charset="0"/>
                <a:ea typeface="Calibri" pitchFamily="34" charset="-122"/>
                <a:cs typeface="Calibri" pitchFamily="34" charset="-120"/>
              </a:rPr>
              <a:t>macro-averaged F1 to confirm that no individual language is being systematically neglected even if overall accuracy is high.</a:t>
            </a:r>
            <a:endParaRPr lang="en-US" sz="1333"/>
          </a:p>
        </p:txBody>
      </p:sp>
      <p:pic>
        <p:nvPicPr>
          <p:cNvPr id="10" name="Image 2" descr="preencoded.png">
            <a:extLst>
              <a:ext uri="{FF2B5EF4-FFF2-40B4-BE49-F238E27FC236}">
                <a16:creationId xmlns:a16="http://schemas.microsoft.com/office/drawing/2014/main" id="{69653AB8-7398-2927-8350-739DFC099BAA}"/>
              </a:ext>
            </a:extLst>
          </p:cNvPr>
          <p:cNvPicPr>
            <a:picLocks noChangeAspect="1"/>
          </p:cNvPicPr>
          <p:nvPr/>
        </p:nvPicPr>
        <p:blipFill>
          <a:blip r:embed="rId3"/>
          <a:stretch>
            <a:fillRect/>
          </a:stretch>
        </p:blipFill>
        <p:spPr>
          <a:xfrm>
            <a:off x="792480" y="3233645"/>
            <a:ext cx="219456" cy="219456"/>
          </a:xfrm>
          <a:prstGeom prst="rect">
            <a:avLst/>
          </a:prstGeom>
        </p:spPr>
      </p:pic>
      <p:sp>
        <p:nvSpPr>
          <p:cNvPr id="11" name="Text 4">
            <a:extLst>
              <a:ext uri="{FF2B5EF4-FFF2-40B4-BE49-F238E27FC236}">
                <a16:creationId xmlns:a16="http://schemas.microsoft.com/office/drawing/2014/main" id="{DB06989F-2386-3CA0-5DE6-84AD77B747B7}"/>
              </a:ext>
            </a:extLst>
          </p:cNvPr>
          <p:cNvSpPr/>
          <p:nvPr/>
        </p:nvSpPr>
        <p:spPr>
          <a:xfrm>
            <a:off x="1121664" y="3172685"/>
            <a:ext cx="4998720" cy="755904"/>
          </a:xfrm>
          <a:prstGeom prst="rect">
            <a:avLst/>
          </a:prstGeom>
          <a:noFill/>
          <a:ln/>
        </p:spPr>
        <p:txBody>
          <a:bodyPr wrap="square" lIns="0" tIns="0" rIns="0" bIns="0" rtlCol="0" anchor="ctr"/>
          <a:lstStyle/>
          <a:p>
            <a:r>
              <a:rPr lang="en-US" sz="1333">
                <a:solidFill>
                  <a:srgbClr val="1A1A2E"/>
                </a:solidFill>
                <a:latin typeface="Calibri" pitchFamily="34" charset="0"/>
                <a:ea typeface="Calibri" pitchFamily="34" charset="-122"/>
                <a:cs typeface="Calibri" pitchFamily="34" charset="-120"/>
              </a:rPr>
              <a:t>Full 10×10 confusion matrix to identify which language pairs collapse into each other, with particular attention to the Romance-language block (spa, por, fra, ita).</a:t>
            </a:r>
            <a:endParaRPr lang="en-US" sz="1333"/>
          </a:p>
        </p:txBody>
      </p:sp>
      <p:pic>
        <p:nvPicPr>
          <p:cNvPr id="12" name="Image 3" descr="preencoded.png">
            <a:extLst>
              <a:ext uri="{FF2B5EF4-FFF2-40B4-BE49-F238E27FC236}">
                <a16:creationId xmlns:a16="http://schemas.microsoft.com/office/drawing/2014/main" id="{20687A9F-54FE-6C45-95F9-6D82A6673D16}"/>
              </a:ext>
            </a:extLst>
          </p:cNvPr>
          <p:cNvPicPr>
            <a:picLocks noChangeAspect="1"/>
          </p:cNvPicPr>
          <p:nvPr/>
        </p:nvPicPr>
        <p:blipFill>
          <a:blip r:embed="rId3"/>
          <a:stretch>
            <a:fillRect/>
          </a:stretch>
        </p:blipFill>
        <p:spPr>
          <a:xfrm>
            <a:off x="792480" y="4087085"/>
            <a:ext cx="219456" cy="219456"/>
          </a:xfrm>
          <a:prstGeom prst="rect">
            <a:avLst/>
          </a:prstGeom>
        </p:spPr>
      </p:pic>
      <p:sp>
        <p:nvSpPr>
          <p:cNvPr id="13" name="Text 5">
            <a:extLst>
              <a:ext uri="{FF2B5EF4-FFF2-40B4-BE49-F238E27FC236}">
                <a16:creationId xmlns:a16="http://schemas.microsoft.com/office/drawing/2014/main" id="{C43F0968-694F-7DD6-92D7-B69921D099CD}"/>
              </a:ext>
            </a:extLst>
          </p:cNvPr>
          <p:cNvSpPr/>
          <p:nvPr/>
        </p:nvSpPr>
        <p:spPr>
          <a:xfrm>
            <a:off x="1121664" y="4026125"/>
            <a:ext cx="4998720" cy="755904"/>
          </a:xfrm>
          <a:prstGeom prst="rect">
            <a:avLst/>
          </a:prstGeom>
          <a:noFill/>
          <a:ln/>
        </p:spPr>
        <p:txBody>
          <a:bodyPr wrap="square" lIns="0" tIns="0" rIns="0" bIns="0" rtlCol="0" anchor="ctr"/>
          <a:lstStyle/>
          <a:p>
            <a:r>
              <a:rPr lang="en-US" sz="1333" b="1">
                <a:solidFill>
                  <a:srgbClr val="1A1A2E"/>
                </a:solidFill>
                <a:latin typeface="Calibri" pitchFamily="34" charset="0"/>
                <a:ea typeface="Calibri" pitchFamily="34" charset="-122"/>
                <a:cs typeface="Calibri" pitchFamily="34" charset="-120"/>
              </a:rPr>
              <a:t>Ablation Experiments: </a:t>
            </a:r>
            <a:r>
              <a:rPr lang="en-US" sz="1333">
                <a:solidFill>
                  <a:srgbClr val="1A1A2E"/>
                </a:solidFill>
                <a:latin typeface="Calibri" pitchFamily="34" charset="0"/>
                <a:ea typeface="Calibri" pitchFamily="34" charset="-122"/>
                <a:cs typeface="Calibri" pitchFamily="34" charset="-120"/>
              </a:rPr>
              <a:t>compare last-hidden-state only, mean-only pooling, max-only pooling, and concatenated max with mean pooling to empirically validate the pooling design choice.</a:t>
            </a:r>
            <a:endParaRPr lang="en-US" sz="1333"/>
          </a:p>
        </p:txBody>
      </p:sp>
      <p:pic>
        <p:nvPicPr>
          <p:cNvPr id="14" name="Image 4" descr="preencoded.png">
            <a:extLst>
              <a:ext uri="{FF2B5EF4-FFF2-40B4-BE49-F238E27FC236}">
                <a16:creationId xmlns:a16="http://schemas.microsoft.com/office/drawing/2014/main" id="{93551289-8DC5-EF45-529D-70EC700B61AF}"/>
              </a:ext>
            </a:extLst>
          </p:cNvPr>
          <p:cNvPicPr>
            <a:picLocks noChangeAspect="1"/>
          </p:cNvPicPr>
          <p:nvPr/>
        </p:nvPicPr>
        <p:blipFill>
          <a:blip r:embed="rId3"/>
          <a:stretch>
            <a:fillRect/>
          </a:stretch>
        </p:blipFill>
        <p:spPr>
          <a:xfrm>
            <a:off x="792480" y="4940525"/>
            <a:ext cx="219456" cy="219456"/>
          </a:xfrm>
          <a:prstGeom prst="rect">
            <a:avLst/>
          </a:prstGeom>
        </p:spPr>
      </p:pic>
      <p:sp>
        <p:nvSpPr>
          <p:cNvPr id="15" name="Text 6">
            <a:extLst>
              <a:ext uri="{FF2B5EF4-FFF2-40B4-BE49-F238E27FC236}">
                <a16:creationId xmlns:a16="http://schemas.microsoft.com/office/drawing/2014/main" id="{11DBEC02-A3D8-C309-5A1A-9FDECA2B8BA2}"/>
              </a:ext>
            </a:extLst>
          </p:cNvPr>
          <p:cNvSpPr/>
          <p:nvPr/>
        </p:nvSpPr>
        <p:spPr>
          <a:xfrm>
            <a:off x="1121664" y="4879565"/>
            <a:ext cx="4998720" cy="755904"/>
          </a:xfrm>
          <a:prstGeom prst="rect">
            <a:avLst/>
          </a:prstGeom>
          <a:noFill/>
          <a:ln/>
        </p:spPr>
        <p:txBody>
          <a:bodyPr wrap="square" lIns="0" tIns="0" rIns="0" bIns="0" rtlCol="0" anchor="ctr"/>
          <a:lstStyle/>
          <a:p>
            <a:r>
              <a:rPr lang="en-US" sz="1333" b="1">
                <a:solidFill>
                  <a:srgbClr val="1A1A2E"/>
                </a:solidFill>
                <a:latin typeface="Calibri" pitchFamily="34" charset="0"/>
                <a:ea typeface="Calibri" pitchFamily="34" charset="-122"/>
                <a:cs typeface="Calibri" pitchFamily="34" charset="-120"/>
              </a:rPr>
              <a:t>Baseline comparison: </a:t>
            </a:r>
            <a:r>
              <a:rPr lang="en-US" sz="1333">
                <a:solidFill>
                  <a:srgbClr val="1A1A2E"/>
                </a:solidFill>
                <a:latin typeface="Calibri" pitchFamily="34" charset="0"/>
                <a:ea typeface="Calibri" pitchFamily="34" charset="-122"/>
                <a:cs typeface="Calibri" pitchFamily="34" charset="-120"/>
              </a:rPr>
              <a:t>character n-gram logistic regression classifier as a non-neural reference point to quantify the value added by the recurrent architecture.</a:t>
            </a:r>
            <a:endParaRPr lang="en-US" sz="1333"/>
          </a:p>
        </p:txBody>
      </p:sp>
      <p:sp>
        <p:nvSpPr>
          <p:cNvPr id="16" name="Text 7">
            <a:extLst>
              <a:ext uri="{FF2B5EF4-FFF2-40B4-BE49-F238E27FC236}">
                <a16:creationId xmlns:a16="http://schemas.microsoft.com/office/drawing/2014/main" id="{2A2A7B91-3D3E-E624-A83E-B73064A95C3D}"/>
              </a:ext>
            </a:extLst>
          </p:cNvPr>
          <p:cNvSpPr/>
          <p:nvPr/>
        </p:nvSpPr>
        <p:spPr>
          <a:xfrm>
            <a:off x="6339840" y="1039085"/>
            <a:ext cx="4876800" cy="365760"/>
          </a:xfrm>
          <a:prstGeom prst="rect">
            <a:avLst/>
          </a:prstGeom>
          <a:noFill/>
          <a:ln/>
        </p:spPr>
        <p:txBody>
          <a:bodyPr wrap="square" lIns="0" tIns="0" rIns="0" bIns="0" rtlCol="0" anchor="ctr"/>
          <a:lstStyle/>
          <a:p>
            <a:r>
              <a:rPr lang="en-US" sz="1867" b="1">
                <a:solidFill>
                  <a:srgbClr val="1E407C"/>
                </a:solidFill>
                <a:latin typeface="Calibri" pitchFamily="34" charset="0"/>
                <a:ea typeface="Calibri" pitchFamily="34" charset="-122"/>
                <a:cs typeface="Calibri" pitchFamily="34" charset="-120"/>
              </a:rPr>
              <a:t>Expected Confusion Patterns</a:t>
            </a:r>
            <a:endParaRPr lang="en-US" sz="1867"/>
          </a:p>
        </p:txBody>
      </p:sp>
      <p:sp>
        <p:nvSpPr>
          <p:cNvPr id="17" name="Shape 8">
            <a:extLst>
              <a:ext uri="{FF2B5EF4-FFF2-40B4-BE49-F238E27FC236}">
                <a16:creationId xmlns:a16="http://schemas.microsoft.com/office/drawing/2014/main" id="{84F04F47-CDAE-D455-CB8F-DDAEBEBF6A70}"/>
              </a:ext>
            </a:extLst>
          </p:cNvPr>
          <p:cNvSpPr/>
          <p:nvPr/>
        </p:nvSpPr>
        <p:spPr>
          <a:xfrm>
            <a:off x="6339840" y="1526765"/>
            <a:ext cx="5120640" cy="4267200"/>
          </a:xfrm>
          <a:prstGeom prst="rect">
            <a:avLst/>
          </a:prstGeom>
          <a:solidFill>
            <a:srgbClr val="FFFFFF"/>
          </a:solidFill>
          <a:ln/>
          <a:effectLst>
            <a:outerShdw blurRad="38100" dist="12700" dir="8100000" algn="bl" rotWithShape="0">
              <a:srgbClr val="000000">
                <a:alpha val="10000"/>
              </a:srgbClr>
            </a:outerShdw>
          </a:effectLst>
        </p:spPr>
        <p:txBody>
          <a:bodyPr/>
          <a:lstStyle/>
          <a:p>
            <a:endParaRPr lang="en-US" sz="2400"/>
          </a:p>
        </p:txBody>
      </p:sp>
      <p:sp>
        <p:nvSpPr>
          <p:cNvPr id="18" name="Shape 9">
            <a:extLst>
              <a:ext uri="{FF2B5EF4-FFF2-40B4-BE49-F238E27FC236}">
                <a16:creationId xmlns:a16="http://schemas.microsoft.com/office/drawing/2014/main" id="{48F15904-F546-6ECB-34E4-A766E933B430}"/>
              </a:ext>
            </a:extLst>
          </p:cNvPr>
          <p:cNvSpPr/>
          <p:nvPr/>
        </p:nvSpPr>
        <p:spPr>
          <a:xfrm>
            <a:off x="6339840" y="1526765"/>
            <a:ext cx="5120640" cy="73152"/>
          </a:xfrm>
          <a:prstGeom prst="rect">
            <a:avLst/>
          </a:prstGeom>
          <a:solidFill>
            <a:srgbClr val="009CDE"/>
          </a:solidFill>
          <a:ln/>
        </p:spPr>
        <p:txBody>
          <a:bodyPr/>
          <a:lstStyle/>
          <a:p>
            <a:endParaRPr lang="en-US" sz="2400"/>
          </a:p>
        </p:txBody>
      </p:sp>
      <p:sp>
        <p:nvSpPr>
          <p:cNvPr id="19" name="Text 10">
            <a:extLst>
              <a:ext uri="{FF2B5EF4-FFF2-40B4-BE49-F238E27FC236}">
                <a16:creationId xmlns:a16="http://schemas.microsoft.com/office/drawing/2014/main" id="{E4C917D6-7F2C-A746-834D-284D0A290CF9}"/>
              </a:ext>
            </a:extLst>
          </p:cNvPr>
          <p:cNvSpPr/>
          <p:nvPr/>
        </p:nvSpPr>
        <p:spPr>
          <a:xfrm>
            <a:off x="6583680" y="1709645"/>
            <a:ext cx="4693920" cy="304800"/>
          </a:xfrm>
          <a:prstGeom prst="rect">
            <a:avLst/>
          </a:prstGeom>
          <a:noFill/>
          <a:ln/>
        </p:spPr>
        <p:txBody>
          <a:bodyPr wrap="square" lIns="0" tIns="0" rIns="0" bIns="0" rtlCol="0" anchor="ctr"/>
          <a:lstStyle/>
          <a:p>
            <a:r>
              <a:rPr lang="en-US" sz="1333" b="1">
                <a:solidFill>
                  <a:srgbClr val="1E407C"/>
                </a:solidFill>
                <a:latin typeface="Calibri" pitchFamily="34" charset="0"/>
                <a:ea typeface="Calibri" pitchFamily="34" charset="-122"/>
                <a:cs typeface="Calibri" pitchFamily="34" charset="-120"/>
              </a:rPr>
              <a:t>Hardest Pair: Spanish vs. Portuguese</a:t>
            </a:r>
            <a:endParaRPr lang="en-US" sz="1333"/>
          </a:p>
        </p:txBody>
      </p:sp>
      <p:sp>
        <p:nvSpPr>
          <p:cNvPr id="20" name="Text 11">
            <a:extLst>
              <a:ext uri="{FF2B5EF4-FFF2-40B4-BE49-F238E27FC236}">
                <a16:creationId xmlns:a16="http://schemas.microsoft.com/office/drawing/2014/main" id="{877FEDA8-C810-27CF-DAAC-EC3EE0A148A2}"/>
              </a:ext>
            </a:extLst>
          </p:cNvPr>
          <p:cNvSpPr/>
          <p:nvPr/>
        </p:nvSpPr>
        <p:spPr>
          <a:xfrm>
            <a:off x="6583680" y="2056009"/>
            <a:ext cx="4693920" cy="819639"/>
          </a:xfrm>
          <a:prstGeom prst="rect">
            <a:avLst/>
          </a:prstGeom>
          <a:noFill/>
          <a:ln/>
        </p:spPr>
        <p:txBody>
          <a:bodyPr wrap="square" lIns="0" tIns="0" rIns="0" bIns="0" rtlCol="0" anchor="ctr"/>
          <a:lstStyle/>
          <a:p>
            <a:r>
              <a:rPr lang="en-US" sz="1200">
                <a:solidFill>
                  <a:srgbClr val="1A1A2E"/>
                </a:solidFill>
                <a:latin typeface="Calibri" pitchFamily="34" charset="0"/>
                <a:ea typeface="Calibri" pitchFamily="34" charset="-122"/>
                <a:cs typeface="Calibri" pitchFamily="34" charset="-120"/>
              </a:rPr>
              <a:t>Closely related Romance languages with overlapping Latin-alphabet inventories. Distinguishing cues are subtle, where Portuguese ão/ê vs. Spanish ón/ie, and frequency differences in common function words. Very short ASCII-only inputs between these two languages may be near ambiguous.</a:t>
            </a:r>
            <a:endParaRPr lang="en-US" sz="1200"/>
          </a:p>
        </p:txBody>
      </p:sp>
      <p:sp>
        <p:nvSpPr>
          <p:cNvPr id="21" name="Text 12">
            <a:extLst>
              <a:ext uri="{FF2B5EF4-FFF2-40B4-BE49-F238E27FC236}">
                <a16:creationId xmlns:a16="http://schemas.microsoft.com/office/drawing/2014/main" id="{54689264-C9DA-04D1-B118-BF33C06EA0E5}"/>
              </a:ext>
            </a:extLst>
          </p:cNvPr>
          <p:cNvSpPr/>
          <p:nvPr/>
        </p:nvSpPr>
        <p:spPr>
          <a:xfrm>
            <a:off x="6583680" y="2986489"/>
            <a:ext cx="4693920" cy="304800"/>
          </a:xfrm>
          <a:prstGeom prst="rect">
            <a:avLst/>
          </a:prstGeom>
          <a:noFill/>
          <a:ln/>
        </p:spPr>
        <p:txBody>
          <a:bodyPr wrap="square" lIns="0" tIns="0" rIns="0" bIns="0" rtlCol="0" anchor="ctr"/>
          <a:lstStyle/>
          <a:p>
            <a:r>
              <a:rPr lang="en-US" sz="1333" b="1">
                <a:solidFill>
                  <a:srgbClr val="1E407C"/>
                </a:solidFill>
                <a:latin typeface="Calibri" pitchFamily="34" charset="0"/>
                <a:ea typeface="Calibri" pitchFamily="34" charset="-122"/>
                <a:cs typeface="Calibri" pitchFamily="34" charset="-120"/>
              </a:rPr>
              <a:t>Secondary Risk: Romance-language block</a:t>
            </a:r>
            <a:endParaRPr lang="en-US" sz="1333"/>
          </a:p>
        </p:txBody>
      </p:sp>
      <p:sp>
        <p:nvSpPr>
          <p:cNvPr id="22" name="Text 13">
            <a:extLst>
              <a:ext uri="{FF2B5EF4-FFF2-40B4-BE49-F238E27FC236}">
                <a16:creationId xmlns:a16="http://schemas.microsoft.com/office/drawing/2014/main" id="{CAC41D71-1D53-3BB6-6C7D-8F6C218AED27}"/>
              </a:ext>
            </a:extLst>
          </p:cNvPr>
          <p:cNvSpPr/>
          <p:nvPr/>
        </p:nvSpPr>
        <p:spPr>
          <a:xfrm>
            <a:off x="6583680" y="3249724"/>
            <a:ext cx="4693920" cy="633984"/>
          </a:xfrm>
          <a:prstGeom prst="rect">
            <a:avLst/>
          </a:prstGeom>
          <a:noFill/>
          <a:ln/>
        </p:spPr>
        <p:txBody>
          <a:bodyPr wrap="square" lIns="0" tIns="0" rIns="0" bIns="0" rtlCol="0" anchor="ctr"/>
          <a:lstStyle/>
          <a:p>
            <a:r>
              <a:rPr lang="en-US" sz="1200">
                <a:solidFill>
                  <a:srgbClr val="1A1A2E"/>
                </a:solidFill>
                <a:latin typeface="Calibri" pitchFamily="34" charset="0"/>
                <a:ea typeface="Calibri" pitchFamily="34" charset="-122"/>
                <a:cs typeface="Calibri" pitchFamily="34" charset="-120"/>
              </a:rPr>
              <a:t>French, Italian, Spanish, and Portuguese share Latin roots and similar orthographic patterns. Short sentences without distinctive diacritics may confuse the classifier across this group.</a:t>
            </a:r>
            <a:endParaRPr lang="en-US" sz="1200"/>
          </a:p>
        </p:txBody>
      </p:sp>
      <p:sp>
        <p:nvSpPr>
          <p:cNvPr id="23" name="Text 14">
            <a:extLst>
              <a:ext uri="{FF2B5EF4-FFF2-40B4-BE49-F238E27FC236}">
                <a16:creationId xmlns:a16="http://schemas.microsoft.com/office/drawing/2014/main" id="{2991AAE2-1DED-13FC-CE5D-D8921C862E89}"/>
              </a:ext>
            </a:extLst>
          </p:cNvPr>
          <p:cNvSpPr/>
          <p:nvPr/>
        </p:nvSpPr>
        <p:spPr>
          <a:xfrm>
            <a:off x="6583680" y="3930813"/>
            <a:ext cx="4693920" cy="304800"/>
          </a:xfrm>
          <a:prstGeom prst="rect">
            <a:avLst/>
          </a:prstGeom>
          <a:noFill/>
          <a:ln/>
        </p:spPr>
        <p:txBody>
          <a:bodyPr wrap="square" lIns="0" tIns="0" rIns="0" bIns="0" rtlCol="0" anchor="ctr"/>
          <a:lstStyle/>
          <a:p>
            <a:r>
              <a:rPr lang="en-US" sz="1333" b="1">
                <a:solidFill>
                  <a:srgbClr val="1E407C"/>
                </a:solidFill>
                <a:latin typeface="Calibri" pitchFamily="34" charset="0"/>
                <a:ea typeface="Calibri" pitchFamily="34" charset="-122"/>
                <a:cs typeface="Calibri" pitchFamily="34" charset="-120"/>
              </a:rPr>
              <a:t>Easiest Classes: distinctive orthographies</a:t>
            </a:r>
            <a:endParaRPr lang="en-US" sz="1333"/>
          </a:p>
        </p:txBody>
      </p:sp>
      <p:sp>
        <p:nvSpPr>
          <p:cNvPr id="24" name="Text 15">
            <a:extLst>
              <a:ext uri="{FF2B5EF4-FFF2-40B4-BE49-F238E27FC236}">
                <a16:creationId xmlns:a16="http://schemas.microsoft.com/office/drawing/2014/main" id="{617695AB-0DDB-03AF-9241-543AAA9D93DE}"/>
              </a:ext>
            </a:extLst>
          </p:cNvPr>
          <p:cNvSpPr/>
          <p:nvPr/>
        </p:nvSpPr>
        <p:spPr>
          <a:xfrm>
            <a:off x="6583680" y="4194048"/>
            <a:ext cx="4693920" cy="633984"/>
          </a:xfrm>
          <a:prstGeom prst="rect">
            <a:avLst/>
          </a:prstGeom>
          <a:noFill/>
          <a:ln/>
        </p:spPr>
        <p:txBody>
          <a:bodyPr wrap="square" lIns="0" tIns="0" rIns="0" bIns="0" rtlCol="0" anchor="ctr"/>
          <a:lstStyle/>
          <a:p>
            <a:r>
              <a:rPr lang="en-US" sz="1200">
                <a:solidFill>
                  <a:srgbClr val="1A1A2E"/>
                </a:solidFill>
                <a:latin typeface="Calibri" pitchFamily="34" charset="0"/>
                <a:ea typeface="Calibri" pitchFamily="34" charset="-122"/>
                <a:cs typeface="Calibri" pitchFamily="34" charset="-120"/>
              </a:rPr>
              <a:t>Hungarian (ő, ű), Turkish (ğ, ı, ş), German (ß, umlauts), and Berber (Tifinagh/distinct Latinization) have character inventories that are largely unique in this 10-language set.</a:t>
            </a:r>
            <a:endParaRPr lang="en-US" sz="1200"/>
          </a:p>
        </p:txBody>
      </p:sp>
      <p:sp>
        <p:nvSpPr>
          <p:cNvPr id="25" name="Text 16">
            <a:extLst>
              <a:ext uri="{FF2B5EF4-FFF2-40B4-BE49-F238E27FC236}">
                <a16:creationId xmlns:a16="http://schemas.microsoft.com/office/drawing/2014/main" id="{FE588FCA-F82D-8991-4708-1195DC031469}"/>
              </a:ext>
            </a:extLst>
          </p:cNvPr>
          <p:cNvSpPr/>
          <p:nvPr/>
        </p:nvSpPr>
        <p:spPr>
          <a:xfrm>
            <a:off x="6583680" y="4847427"/>
            <a:ext cx="4693920" cy="304800"/>
          </a:xfrm>
          <a:prstGeom prst="rect">
            <a:avLst/>
          </a:prstGeom>
          <a:noFill/>
          <a:ln/>
        </p:spPr>
        <p:txBody>
          <a:bodyPr wrap="square" lIns="0" tIns="0" rIns="0" bIns="0" rtlCol="0" anchor="ctr"/>
          <a:lstStyle/>
          <a:p>
            <a:r>
              <a:rPr lang="en-US" sz="1333" b="1">
                <a:solidFill>
                  <a:srgbClr val="1E407C"/>
                </a:solidFill>
                <a:latin typeface="Calibri" pitchFamily="34" charset="0"/>
                <a:ea typeface="Calibri" pitchFamily="34" charset="-122"/>
                <a:cs typeface="Calibri" pitchFamily="34" charset="-120"/>
              </a:rPr>
              <a:t>Error Analysis Focus</a:t>
            </a:r>
            <a:endParaRPr lang="en-US" sz="1333"/>
          </a:p>
        </p:txBody>
      </p:sp>
      <p:sp>
        <p:nvSpPr>
          <p:cNvPr id="26" name="Text 17">
            <a:extLst>
              <a:ext uri="{FF2B5EF4-FFF2-40B4-BE49-F238E27FC236}">
                <a16:creationId xmlns:a16="http://schemas.microsoft.com/office/drawing/2014/main" id="{D18DABAD-416B-5FFB-638E-66C8CBFDC213}"/>
              </a:ext>
            </a:extLst>
          </p:cNvPr>
          <p:cNvSpPr/>
          <p:nvPr/>
        </p:nvSpPr>
        <p:spPr>
          <a:xfrm>
            <a:off x="6583680" y="5013677"/>
            <a:ext cx="4693920" cy="633984"/>
          </a:xfrm>
          <a:prstGeom prst="rect">
            <a:avLst/>
          </a:prstGeom>
          <a:noFill/>
          <a:ln/>
        </p:spPr>
        <p:txBody>
          <a:bodyPr wrap="square" lIns="0" tIns="0" rIns="0" bIns="0" rtlCol="0" anchor="ctr"/>
          <a:lstStyle/>
          <a:p>
            <a:r>
              <a:rPr lang="en-US" sz="1200">
                <a:solidFill>
                  <a:srgbClr val="1A1A2E"/>
                </a:solidFill>
                <a:latin typeface="Calibri" pitchFamily="34" charset="0"/>
                <a:ea typeface="Calibri" pitchFamily="34" charset="-122"/>
                <a:cs typeface="Calibri" pitchFamily="34" charset="-120"/>
              </a:rPr>
              <a:t>Short inputs (&lt;20 chars) and ASCII-only sentences are expected to produce the highest error rates. Length stratified evaluation will be important.</a:t>
            </a:r>
            <a:endParaRPr lang="en-US" sz="1200"/>
          </a:p>
        </p:txBody>
      </p:sp>
    </p:spTree>
    <p:extLst>
      <p:ext uri="{BB962C8B-B14F-4D97-AF65-F5344CB8AC3E}">
        <p14:creationId xmlns:p14="http://schemas.microsoft.com/office/powerpoint/2010/main" val="792252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B3E68-DCF6-0ECC-20AD-A017D7616CE2}"/>
              </a:ext>
            </a:extLst>
          </p:cNvPr>
          <p:cNvSpPr>
            <a:spLocks noGrp="1"/>
          </p:cNvSpPr>
          <p:nvPr>
            <p:ph type="title"/>
          </p:nvPr>
        </p:nvSpPr>
        <p:spPr/>
        <p:txBody>
          <a:bodyPr lIns="91440" tIns="45720" rIns="91440" bIns="45720" anchor="ctr"/>
          <a:lstStyle/>
          <a:p>
            <a:r>
              <a:rPr lang="en-US" sz="3467" b="1">
                <a:solidFill>
                  <a:srgbClr val="1E407C"/>
                </a:solidFill>
                <a:latin typeface="Calibri" pitchFamily="34" charset="0"/>
                <a:ea typeface="Calibri" pitchFamily="34" charset="-122"/>
                <a:cs typeface="Calibri" pitchFamily="34" charset="-120"/>
              </a:rPr>
              <a:t>Expected Performance Baseline</a:t>
            </a:r>
          </a:p>
        </p:txBody>
      </p:sp>
      <p:sp>
        <p:nvSpPr>
          <p:cNvPr id="3" name="Content Placeholder 2">
            <a:extLst>
              <a:ext uri="{FF2B5EF4-FFF2-40B4-BE49-F238E27FC236}">
                <a16:creationId xmlns:a16="http://schemas.microsoft.com/office/drawing/2014/main" id="{AC12CC8C-7BD9-E5E9-3A01-DE7E29C40393}"/>
              </a:ext>
            </a:extLst>
          </p:cNvPr>
          <p:cNvSpPr>
            <a:spLocks noGrp="1"/>
          </p:cNvSpPr>
          <p:nvPr>
            <p:ph sz="half" idx="1"/>
          </p:nvPr>
        </p:nvSpPr>
        <p:spPr>
          <a:xfrm>
            <a:off x="838199" y="2299782"/>
            <a:ext cx="8534399" cy="2255645"/>
          </a:xfrm>
        </p:spPr>
        <p:txBody>
          <a:bodyPr lIns="91440" tIns="45720" rIns="91440" bIns="45720" anchor="t"/>
          <a:lstStyle/>
          <a:p>
            <a:r>
              <a:rPr lang="en-US" sz="1800">
                <a:latin typeface="Calibri"/>
                <a:ea typeface="Calibri"/>
                <a:cs typeface="Calibri"/>
              </a:rPr>
              <a:t>Language detection is a relatively easy task. With the proposed architecture:</a:t>
            </a:r>
            <a:br>
              <a:rPr lang="en-US"/>
            </a:br>
            <a:endParaRPr lang="en-US" sz="1800">
              <a:latin typeface="Calibri"/>
              <a:ea typeface="Calibri"/>
              <a:cs typeface="Calibri"/>
            </a:endParaRPr>
          </a:p>
          <a:p>
            <a:pPr lvl="1">
              <a:buFont typeface="Courier New" panose="020B0604020202020204" pitchFamily="34" charset="0"/>
              <a:buChar char="o"/>
            </a:pPr>
            <a:r>
              <a:rPr lang="en-US" sz="1800">
                <a:latin typeface="Calibri"/>
                <a:ea typeface="Calibri"/>
                <a:cs typeface="Calibri"/>
              </a:rPr>
              <a:t>Expected dev accuracy: </a:t>
            </a:r>
            <a:r>
              <a:rPr lang="en-US" sz="1800" b="1">
                <a:latin typeface="Calibri"/>
                <a:ea typeface="Calibri"/>
                <a:cs typeface="Calibri"/>
              </a:rPr>
              <a:t>&gt;95%</a:t>
            </a:r>
            <a:r>
              <a:rPr lang="en-US" sz="1800">
                <a:latin typeface="Calibri"/>
                <a:ea typeface="Calibri"/>
                <a:cs typeface="Calibri"/>
              </a:rPr>
              <a:t> (character-level RNNs routinely achieve 97–99% on similar benchmarks)</a:t>
            </a:r>
            <a:br>
              <a:rPr lang="en-US" sz="1800">
                <a:latin typeface="Calibri"/>
                <a:ea typeface="Calibri"/>
                <a:cs typeface="Calibri"/>
              </a:rPr>
            </a:br>
            <a:endParaRPr lang="en-US" sz="1800">
              <a:latin typeface="Calibri"/>
              <a:ea typeface="Calibri"/>
              <a:cs typeface="Calibri"/>
            </a:endParaRPr>
          </a:p>
          <a:p>
            <a:pPr lvl="1">
              <a:buFont typeface="Courier New" panose="020B0604020202020204" pitchFamily="34" charset="0"/>
              <a:buChar char="o"/>
            </a:pPr>
            <a:r>
              <a:rPr lang="en-US" sz="1800">
                <a:latin typeface="Calibri"/>
                <a:ea typeface="Calibri"/>
                <a:cs typeface="Calibri"/>
              </a:rPr>
              <a:t>Main confusion pairs: spa/</a:t>
            </a:r>
            <a:r>
              <a:rPr lang="en-US" sz="1800" err="1">
                <a:latin typeface="Calibri"/>
                <a:ea typeface="Calibri"/>
                <a:cs typeface="Calibri"/>
              </a:rPr>
              <a:t>por</a:t>
            </a:r>
            <a:r>
              <a:rPr lang="en-US" sz="1800">
                <a:latin typeface="Calibri"/>
                <a:ea typeface="Calibri"/>
                <a:cs typeface="Calibri"/>
              </a:rPr>
              <a:t>/</a:t>
            </a:r>
            <a:r>
              <a:rPr lang="en-US" sz="1800" err="1">
                <a:latin typeface="Calibri"/>
                <a:ea typeface="Calibri"/>
                <a:cs typeface="Calibri"/>
              </a:rPr>
              <a:t>ita</a:t>
            </a:r>
            <a:r>
              <a:rPr lang="en-US" sz="1800">
                <a:latin typeface="Calibri"/>
                <a:ea typeface="Calibri"/>
                <a:cs typeface="Calibri"/>
              </a:rPr>
              <a:t> (related Romance languages), </a:t>
            </a:r>
            <a:r>
              <a:rPr lang="en-US" sz="1800" err="1">
                <a:latin typeface="Calibri"/>
                <a:ea typeface="Calibri"/>
                <a:cs typeface="Calibri"/>
              </a:rPr>
              <a:t>eng</a:t>
            </a:r>
            <a:r>
              <a:rPr lang="en-US" sz="1800">
                <a:latin typeface="Calibri"/>
                <a:ea typeface="Calibri"/>
                <a:cs typeface="Calibri"/>
              </a:rPr>
              <a:t>/</a:t>
            </a:r>
            <a:r>
              <a:rPr lang="en-US" sz="1800" err="1">
                <a:latin typeface="Calibri"/>
                <a:ea typeface="Calibri"/>
                <a:cs typeface="Calibri"/>
              </a:rPr>
              <a:t>epo</a:t>
            </a:r>
            <a:r>
              <a:rPr lang="en-US" sz="1800">
                <a:latin typeface="Calibri"/>
                <a:ea typeface="Calibri"/>
                <a:cs typeface="Calibri"/>
              </a:rPr>
              <a:t> (Esperanto borrows heavily from European languages)</a:t>
            </a:r>
          </a:p>
        </p:txBody>
      </p:sp>
    </p:spTree>
    <p:extLst>
      <p:ext uri="{BB962C8B-B14F-4D97-AF65-F5344CB8AC3E}">
        <p14:creationId xmlns:p14="http://schemas.microsoft.com/office/powerpoint/2010/main" val="325965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8282C-20FA-43BA-8971-4BC7782BA91C}"/>
              </a:ext>
            </a:extLst>
          </p:cNvPr>
          <p:cNvSpPr>
            <a:spLocks noGrp="1"/>
          </p:cNvSpPr>
          <p:nvPr>
            <p:ph type="title"/>
          </p:nvPr>
        </p:nvSpPr>
        <p:spPr/>
        <p:txBody>
          <a:bodyPr lIns="91440" tIns="45720" rIns="91440" bIns="45720" anchor="ctr"/>
          <a:lstStyle/>
          <a:p>
            <a:r>
              <a:rPr lang="en-US" sz="3467" b="1">
                <a:solidFill>
                  <a:srgbClr val="1E407C"/>
                </a:solidFill>
                <a:latin typeface="Calibri" pitchFamily="34" charset="0"/>
                <a:ea typeface="Calibri" pitchFamily="34" charset="-122"/>
                <a:cs typeface="Calibri" pitchFamily="34" charset="-120"/>
              </a:rPr>
              <a:t>Pooling Strategy Experiment</a:t>
            </a:r>
          </a:p>
        </p:txBody>
      </p:sp>
      <p:sp>
        <p:nvSpPr>
          <p:cNvPr id="3" name="Content Placeholder 2">
            <a:extLst>
              <a:ext uri="{FF2B5EF4-FFF2-40B4-BE49-F238E27FC236}">
                <a16:creationId xmlns:a16="http://schemas.microsoft.com/office/drawing/2014/main" id="{39EDF6BF-27C8-636F-F115-A51661F10B7A}"/>
              </a:ext>
            </a:extLst>
          </p:cNvPr>
          <p:cNvSpPr>
            <a:spLocks noGrp="1"/>
          </p:cNvSpPr>
          <p:nvPr>
            <p:ph sz="half" idx="1"/>
          </p:nvPr>
        </p:nvSpPr>
        <p:spPr>
          <a:xfrm>
            <a:off x="838199" y="2281494"/>
            <a:ext cx="10515599" cy="2408045"/>
          </a:xfrm>
        </p:spPr>
        <p:txBody>
          <a:bodyPr lIns="91440" tIns="45720" rIns="91440" bIns="45720" anchor="t"/>
          <a:lstStyle/>
          <a:p>
            <a:r>
              <a:rPr lang="en-US" sz="1800">
                <a:latin typeface="Calibri"/>
                <a:ea typeface="Calibri"/>
                <a:cs typeface="Calibri"/>
              </a:rPr>
              <a:t>Evaluates whether augmenting the </a:t>
            </a:r>
            <a:r>
              <a:rPr lang="en-US" sz="1800" b="1">
                <a:latin typeface="Calibri"/>
                <a:ea typeface="Calibri"/>
                <a:cs typeface="Calibri"/>
              </a:rPr>
              <a:t>proposed </a:t>
            </a:r>
            <a:r>
              <a:rPr lang="en-US" sz="1800" b="1" err="1">
                <a:latin typeface="Calibri"/>
                <a:ea typeface="Calibri"/>
                <a:cs typeface="Calibri"/>
              </a:rPr>
              <a:t>BiGRU</a:t>
            </a:r>
            <a:r>
              <a:rPr lang="en-US" sz="1800" b="1">
                <a:latin typeface="Calibri"/>
                <a:ea typeface="Calibri"/>
                <a:cs typeface="Calibri"/>
              </a:rPr>
              <a:t> architecture's mean pooling</a:t>
            </a:r>
            <a:br>
              <a:rPr lang="en-US" sz="1800" b="1">
                <a:latin typeface="Calibri"/>
                <a:ea typeface="Calibri"/>
                <a:cs typeface="Calibri"/>
              </a:rPr>
            </a:br>
            <a:endParaRPr lang="en-US" sz="1800">
              <a:latin typeface="Calibri"/>
              <a:ea typeface="Calibri"/>
              <a:cs typeface="Calibri"/>
            </a:endParaRPr>
          </a:p>
          <a:p>
            <a:r>
              <a:rPr lang="en-US" sz="1800" b="1">
                <a:latin typeface="Calibri"/>
                <a:ea typeface="Calibri"/>
                <a:cs typeface="Calibri"/>
              </a:rPr>
              <a:t>Masked max pooling</a:t>
            </a:r>
            <a:r>
              <a:rPr lang="en-US" sz="1800">
                <a:latin typeface="Calibri"/>
                <a:ea typeface="Calibri"/>
                <a:cs typeface="Calibri"/>
              </a:rPr>
              <a:t> (concatenated) yields a meaningful improvement in language detection accuracy</a:t>
            </a:r>
            <a:br>
              <a:rPr lang="en-US" sz="1800">
                <a:latin typeface="Calibri"/>
                <a:ea typeface="Calibri"/>
                <a:cs typeface="Calibri"/>
              </a:rPr>
            </a:br>
            <a:endParaRPr lang="en-US" sz="1800">
              <a:latin typeface="Calibri"/>
              <a:ea typeface="Calibri"/>
              <a:cs typeface="Calibri"/>
            </a:endParaRPr>
          </a:p>
          <a:p>
            <a:r>
              <a:rPr lang="en-US" sz="1800">
                <a:latin typeface="Calibri"/>
                <a:ea typeface="Calibri"/>
                <a:cs typeface="Calibri"/>
              </a:rPr>
              <a:t>Keeping all other hyperparameters fixed</a:t>
            </a:r>
          </a:p>
        </p:txBody>
      </p:sp>
    </p:spTree>
    <p:extLst>
      <p:ext uri="{BB962C8B-B14F-4D97-AF65-F5344CB8AC3E}">
        <p14:creationId xmlns:p14="http://schemas.microsoft.com/office/powerpoint/2010/main" val="1982449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63CBD-0488-20AE-87D2-68D74F91001B}"/>
              </a:ext>
            </a:extLst>
          </p:cNvPr>
          <p:cNvSpPr>
            <a:spLocks noGrp="1"/>
          </p:cNvSpPr>
          <p:nvPr>
            <p:ph type="title"/>
          </p:nvPr>
        </p:nvSpPr>
        <p:spPr/>
        <p:txBody>
          <a:bodyPr lIns="91440" tIns="45720" rIns="91440" bIns="45720" anchor="ctr"/>
          <a:lstStyle/>
          <a:p>
            <a:r>
              <a:rPr lang="en-US" sz="3467" b="1">
                <a:solidFill>
                  <a:srgbClr val="1E407C"/>
                </a:solidFill>
                <a:latin typeface="Calibri" pitchFamily="34" charset="0"/>
                <a:ea typeface="Calibri" pitchFamily="34" charset="-122"/>
                <a:cs typeface="Calibri" pitchFamily="34" charset="-120"/>
              </a:rPr>
              <a:t>Pooling Variants Tested</a:t>
            </a:r>
          </a:p>
        </p:txBody>
      </p:sp>
      <p:graphicFrame>
        <p:nvGraphicFramePr>
          <p:cNvPr id="5" name="Content Placeholder 4">
            <a:extLst>
              <a:ext uri="{FF2B5EF4-FFF2-40B4-BE49-F238E27FC236}">
                <a16:creationId xmlns:a16="http://schemas.microsoft.com/office/drawing/2014/main" id="{FBF0C0FF-9F50-25D9-DAF7-B733FFB168D9}"/>
              </a:ext>
            </a:extLst>
          </p:cNvPr>
          <p:cNvGraphicFramePr>
            <a:graphicFrameLocks noGrp="1"/>
          </p:cNvGraphicFramePr>
          <p:nvPr>
            <p:ph sz="half" idx="1"/>
            <p:extLst>
              <p:ext uri="{D42A27DB-BD31-4B8C-83A1-F6EECF244321}">
                <p14:modId xmlns:p14="http://schemas.microsoft.com/office/powerpoint/2010/main" val="495918549"/>
              </p:ext>
            </p:extLst>
          </p:nvPr>
        </p:nvGraphicFramePr>
        <p:xfrm>
          <a:off x="1328928" y="1712976"/>
          <a:ext cx="7660785" cy="1874643"/>
        </p:xfrm>
        <a:graphic>
          <a:graphicData uri="http://schemas.openxmlformats.org/drawingml/2006/table">
            <a:tbl>
              <a:tblPr bandRow="1">
                <a:tableStyleId>{5C22544A-7EE6-4342-B048-85BDC9FD1C3A}</a:tableStyleId>
              </a:tblPr>
              <a:tblGrid>
                <a:gridCol w="1878133">
                  <a:extLst>
                    <a:ext uri="{9D8B030D-6E8A-4147-A177-3AD203B41FA5}">
                      <a16:colId xmlns:a16="http://schemas.microsoft.com/office/drawing/2014/main" val="695523015"/>
                    </a:ext>
                  </a:extLst>
                </a:gridCol>
                <a:gridCol w="4373913">
                  <a:extLst>
                    <a:ext uri="{9D8B030D-6E8A-4147-A177-3AD203B41FA5}">
                      <a16:colId xmlns:a16="http://schemas.microsoft.com/office/drawing/2014/main" val="4065407543"/>
                    </a:ext>
                  </a:extLst>
                </a:gridCol>
                <a:gridCol w="1408739">
                  <a:extLst>
                    <a:ext uri="{9D8B030D-6E8A-4147-A177-3AD203B41FA5}">
                      <a16:colId xmlns:a16="http://schemas.microsoft.com/office/drawing/2014/main" val="1053096"/>
                    </a:ext>
                  </a:extLst>
                </a:gridCol>
              </a:tblGrid>
              <a:tr h="624881">
                <a:tc>
                  <a:txBody>
                    <a:bodyPr/>
                    <a:lstStyle/>
                    <a:p>
                      <a:pPr>
                        <a:buNone/>
                      </a:pPr>
                      <a:r>
                        <a:rPr lang="en-US"/>
                        <a:t>Variant</a:t>
                      </a:r>
                    </a:p>
                  </a:txBody>
                  <a:tcPr anchor="ctr">
                    <a:lnL>
                      <a:noFill/>
                    </a:lnL>
                    <a:lnR>
                      <a:noFill/>
                    </a:lnR>
                    <a:lnT w="12700">
                      <a:solidFill>
                        <a:schemeClr val="tx1"/>
                      </a:solidFill>
                    </a:lnT>
                    <a:lnB w="12700">
                      <a:solidFill>
                        <a:schemeClr val="tx1"/>
                      </a:solidFill>
                    </a:lnB>
                    <a:noFill/>
                  </a:tcPr>
                </a:tc>
                <a:tc>
                  <a:txBody>
                    <a:bodyPr/>
                    <a:lstStyle/>
                    <a:p>
                      <a:pPr>
                        <a:buNone/>
                      </a:pPr>
                      <a:r>
                        <a:rPr lang="en-US"/>
                        <a:t>Description</a:t>
                      </a:r>
                    </a:p>
                  </a:txBody>
                  <a:tcPr anchor="ctr">
                    <a:lnL>
                      <a:noFill/>
                    </a:lnL>
                    <a:lnR>
                      <a:noFill/>
                    </a:lnR>
                    <a:lnT w="12700">
                      <a:solidFill>
                        <a:schemeClr val="tx1"/>
                      </a:solidFill>
                    </a:lnT>
                    <a:lnB w="12700">
                      <a:solidFill>
                        <a:schemeClr val="tx1"/>
                      </a:solidFill>
                    </a:lnB>
                    <a:noFill/>
                  </a:tcPr>
                </a:tc>
                <a:tc>
                  <a:txBody>
                    <a:bodyPr/>
                    <a:lstStyle/>
                    <a:p>
                      <a:pPr>
                        <a:buNone/>
                      </a:pPr>
                      <a:r>
                        <a:rPr lang="en-US"/>
                        <a:t>Output Dim</a:t>
                      </a:r>
                    </a:p>
                  </a:txBody>
                  <a:tcPr anchor="ctr">
                    <a:lnL>
                      <a:noFill/>
                    </a:lnL>
                    <a:lnR>
                      <a:noFill/>
                    </a:lnR>
                    <a:lnT w="12700">
                      <a:solidFill>
                        <a:schemeClr val="tx1"/>
                      </a:solidFill>
                    </a:lnT>
                    <a:lnB w="12700">
                      <a:solidFill>
                        <a:schemeClr val="tx1"/>
                      </a:solidFill>
                    </a:lnB>
                    <a:noFill/>
                  </a:tcPr>
                </a:tc>
                <a:extLst>
                  <a:ext uri="{0D108BD9-81ED-4DB2-BD59-A6C34878D82A}">
                    <a16:rowId xmlns:a16="http://schemas.microsoft.com/office/drawing/2014/main" val="4119748064"/>
                  </a:ext>
                </a:extLst>
              </a:tr>
              <a:tr h="624881">
                <a:tc>
                  <a:txBody>
                    <a:bodyPr/>
                    <a:lstStyle/>
                    <a:p>
                      <a:pPr>
                        <a:buNone/>
                      </a:pPr>
                      <a:r>
                        <a:rPr lang="en-US"/>
                        <a:t>mean</a:t>
                      </a:r>
                    </a:p>
                  </a:txBody>
                  <a:tcPr anchor="ctr">
                    <a:lnL>
                      <a:noFill/>
                    </a:lnL>
                    <a:lnR>
                      <a:noFill/>
                    </a:lnR>
                    <a:lnT w="12700">
                      <a:solidFill>
                        <a:schemeClr val="tx1"/>
                      </a:solidFill>
                    </a:lnT>
                    <a:lnB>
                      <a:noFill/>
                    </a:lnB>
                    <a:noFill/>
                  </a:tcPr>
                </a:tc>
                <a:tc>
                  <a:txBody>
                    <a:bodyPr/>
                    <a:lstStyle/>
                    <a:p>
                      <a:pPr>
                        <a:buNone/>
                      </a:pPr>
                      <a:r>
                        <a:rPr lang="en-US"/>
                        <a:t>Masked mean pooling over all time steps</a:t>
                      </a:r>
                    </a:p>
                  </a:txBody>
                  <a:tcPr anchor="ctr">
                    <a:lnL>
                      <a:noFill/>
                    </a:lnL>
                    <a:lnR>
                      <a:noFill/>
                    </a:lnR>
                    <a:lnT w="12700">
                      <a:solidFill>
                        <a:schemeClr val="tx1"/>
                      </a:solidFill>
                    </a:lnT>
                    <a:lnB>
                      <a:noFill/>
                    </a:lnB>
                    <a:noFill/>
                  </a:tcPr>
                </a:tc>
                <a:tc>
                  <a:txBody>
                    <a:bodyPr/>
                    <a:lstStyle/>
                    <a:p>
                      <a:pPr>
                        <a:buNone/>
                      </a:pPr>
                      <a:r>
                        <a:rPr lang="en-US"/>
                        <a:t>512</a:t>
                      </a:r>
                    </a:p>
                  </a:txBody>
                  <a:tcPr anchor="ctr">
                    <a:lnL>
                      <a:noFill/>
                    </a:lnL>
                    <a:lnR>
                      <a:noFill/>
                    </a:lnR>
                    <a:lnT w="12700">
                      <a:solidFill>
                        <a:schemeClr val="tx1"/>
                      </a:solidFill>
                    </a:lnT>
                    <a:lnB>
                      <a:noFill/>
                    </a:lnB>
                    <a:noFill/>
                  </a:tcPr>
                </a:tc>
                <a:extLst>
                  <a:ext uri="{0D108BD9-81ED-4DB2-BD59-A6C34878D82A}">
                    <a16:rowId xmlns:a16="http://schemas.microsoft.com/office/drawing/2014/main" val="387840836"/>
                  </a:ext>
                </a:extLst>
              </a:tr>
              <a:tr h="624881">
                <a:tc>
                  <a:txBody>
                    <a:bodyPr/>
                    <a:lstStyle/>
                    <a:p>
                      <a:pPr>
                        <a:buNone/>
                      </a:pPr>
                      <a:r>
                        <a:rPr lang="en-US" err="1"/>
                        <a:t>mean_max</a:t>
                      </a:r>
                    </a:p>
                  </a:txBody>
                  <a:tcPr anchor="ctr">
                    <a:lnL>
                      <a:noFill/>
                    </a:lnL>
                    <a:lnR>
                      <a:noFill/>
                    </a:lnR>
                    <a:lnT>
                      <a:noFill/>
                    </a:lnT>
                    <a:lnB w="12700">
                      <a:solidFill>
                        <a:schemeClr val="tx1"/>
                      </a:solidFill>
                    </a:lnB>
                    <a:noFill/>
                  </a:tcPr>
                </a:tc>
                <a:tc>
                  <a:txBody>
                    <a:bodyPr/>
                    <a:lstStyle/>
                    <a:p>
                      <a:pPr>
                        <a:buNone/>
                      </a:pPr>
                      <a:r>
                        <a:rPr lang="en-US"/>
                        <a:t>Masked mean + masked max, concatenated</a:t>
                      </a:r>
                    </a:p>
                  </a:txBody>
                  <a:tcPr anchor="ctr">
                    <a:lnL>
                      <a:noFill/>
                    </a:lnL>
                    <a:lnR>
                      <a:noFill/>
                    </a:lnR>
                    <a:lnT>
                      <a:noFill/>
                    </a:lnT>
                    <a:lnB w="12700">
                      <a:solidFill>
                        <a:schemeClr val="tx1"/>
                      </a:solidFill>
                    </a:lnB>
                    <a:noFill/>
                  </a:tcPr>
                </a:tc>
                <a:tc>
                  <a:txBody>
                    <a:bodyPr/>
                    <a:lstStyle/>
                    <a:p>
                      <a:pPr>
                        <a:buNone/>
                      </a:pPr>
                      <a:r>
                        <a:rPr lang="en-US"/>
                        <a:t>1,024</a:t>
                      </a:r>
                    </a:p>
                  </a:txBody>
                  <a:tcPr anchor="ctr">
                    <a:lnL>
                      <a:noFill/>
                    </a:lnL>
                    <a:lnR>
                      <a:noFill/>
                    </a:lnR>
                    <a:lnT>
                      <a:noFill/>
                    </a:lnT>
                    <a:lnB w="12700">
                      <a:solidFill>
                        <a:schemeClr val="tx1"/>
                      </a:solidFill>
                    </a:lnB>
                    <a:noFill/>
                  </a:tcPr>
                </a:tc>
                <a:extLst>
                  <a:ext uri="{0D108BD9-81ED-4DB2-BD59-A6C34878D82A}">
                    <a16:rowId xmlns:a16="http://schemas.microsoft.com/office/drawing/2014/main" val="4057927879"/>
                  </a:ext>
                </a:extLst>
              </a:tr>
            </a:tbl>
          </a:graphicData>
        </a:graphic>
      </p:graphicFrame>
      <p:sp>
        <p:nvSpPr>
          <p:cNvPr id="6" name="TextBox 5">
            <a:extLst>
              <a:ext uri="{FF2B5EF4-FFF2-40B4-BE49-F238E27FC236}">
                <a16:creationId xmlns:a16="http://schemas.microsoft.com/office/drawing/2014/main" id="{4B3BB61F-65F5-7D85-C92C-C044570060EF}"/>
              </a:ext>
            </a:extLst>
          </p:cNvPr>
          <p:cNvSpPr txBox="1"/>
          <p:nvPr/>
        </p:nvSpPr>
        <p:spPr>
          <a:xfrm>
            <a:off x="1603248" y="3874008"/>
            <a:ext cx="710793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Masked pooling</a:t>
            </a:r>
            <a:r>
              <a:rPr lang="en-US"/>
              <a:t> excludes padding positions from both mean and max computations, ensuring only valid character </a:t>
            </a:r>
            <a:r>
              <a:rPr lang="en-US" err="1"/>
              <a:t>positions</a:t>
            </a:r>
            <a:r>
              <a:rPr lang="en-US" err="1">
                <a:ea typeface="+mn-lt"/>
                <a:cs typeface="+mn-lt"/>
              </a:rPr>
              <a:t>contribute</a:t>
            </a:r>
            <a:r>
              <a:rPr lang="en-US">
                <a:ea typeface="+mn-lt"/>
                <a:cs typeface="+mn-lt"/>
              </a:rPr>
              <a:t> to the representation.</a:t>
            </a:r>
            <a:endParaRPr lang="en-US"/>
          </a:p>
        </p:txBody>
      </p:sp>
    </p:spTree>
    <p:extLst>
      <p:ext uri="{BB962C8B-B14F-4D97-AF65-F5344CB8AC3E}">
        <p14:creationId xmlns:p14="http://schemas.microsoft.com/office/powerpoint/2010/main" val="4005342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435A6-7C09-B01A-985A-1C37690C9C36}"/>
              </a:ext>
            </a:extLst>
          </p:cNvPr>
          <p:cNvSpPr>
            <a:spLocks noGrp="1"/>
          </p:cNvSpPr>
          <p:nvPr>
            <p:ph type="title"/>
          </p:nvPr>
        </p:nvSpPr>
        <p:spPr/>
        <p:txBody>
          <a:bodyPr lIns="91440" tIns="45720" rIns="91440" bIns="45720" anchor="ctr"/>
          <a:lstStyle/>
          <a:p>
            <a:r>
              <a:rPr lang="en-US" sz="3467" b="1">
                <a:solidFill>
                  <a:srgbClr val="1E407C"/>
                </a:solidFill>
                <a:latin typeface="Calibri" pitchFamily="34" charset="0"/>
                <a:ea typeface="Calibri" pitchFamily="34" charset="-122"/>
                <a:cs typeface="Calibri" pitchFamily="34" charset="-120"/>
              </a:rPr>
              <a:t>Results</a:t>
            </a:r>
          </a:p>
        </p:txBody>
      </p:sp>
      <p:graphicFrame>
        <p:nvGraphicFramePr>
          <p:cNvPr id="5" name="Content Placeholder 4">
            <a:extLst>
              <a:ext uri="{FF2B5EF4-FFF2-40B4-BE49-F238E27FC236}">
                <a16:creationId xmlns:a16="http://schemas.microsoft.com/office/drawing/2014/main" id="{87C364DA-698D-28B9-727A-741763D7DCA9}"/>
              </a:ext>
            </a:extLst>
          </p:cNvPr>
          <p:cNvGraphicFramePr>
            <a:graphicFrameLocks noGrp="1"/>
          </p:cNvGraphicFramePr>
          <p:nvPr>
            <p:ph sz="half" idx="1"/>
            <p:extLst>
              <p:ext uri="{D42A27DB-BD31-4B8C-83A1-F6EECF244321}">
                <p14:modId xmlns:p14="http://schemas.microsoft.com/office/powerpoint/2010/main" val="3322818625"/>
              </p:ext>
            </p:extLst>
          </p:nvPr>
        </p:nvGraphicFramePr>
        <p:xfrm>
          <a:off x="1222248" y="2062798"/>
          <a:ext cx="8458835" cy="1097280"/>
        </p:xfrm>
        <a:graphic>
          <a:graphicData uri="http://schemas.openxmlformats.org/drawingml/2006/table">
            <a:tbl>
              <a:tblPr bandRow="1">
                <a:tableStyleId>{5C22544A-7EE6-4342-B048-85BDC9FD1C3A}</a:tableStyleId>
              </a:tblPr>
              <a:tblGrid>
                <a:gridCol w="1351109">
                  <a:extLst>
                    <a:ext uri="{9D8B030D-6E8A-4147-A177-3AD203B41FA5}">
                      <a16:colId xmlns:a16="http://schemas.microsoft.com/office/drawing/2014/main" val="2952725041"/>
                    </a:ext>
                  </a:extLst>
                </a:gridCol>
                <a:gridCol w="1293477">
                  <a:extLst>
                    <a:ext uri="{9D8B030D-6E8A-4147-A177-3AD203B41FA5}">
                      <a16:colId xmlns:a16="http://schemas.microsoft.com/office/drawing/2014/main" val="3242112315"/>
                    </a:ext>
                  </a:extLst>
                </a:gridCol>
                <a:gridCol w="1165410">
                  <a:extLst>
                    <a:ext uri="{9D8B030D-6E8A-4147-A177-3AD203B41FA5}">
                      <a16:colId xmlns:a16="http://schemas.microsoft.com/office/drawing/2014/main" val="821990599"/>
                    </a:ext>
                  </a:extLst>
                </a:gridCol>
                <a:gridCol w="1530403">
                  <a:extLst>
                    <a:ext uri="{9D8B030D-6E8A-4147-A177-3AD203B41FA5}">
                      <a16:colId xmlns:a16="http://schemas.microsoft.com/office/drawing/2014/main" val="1825461480"/>
                    </a:ext>
                  </a:extLst>
                </a:gridCol>
                <a:gridCol w="1632857">
                  <a:extLst>
                    <a:ext uri="{9D8B030D-6E8A-4147-A177-3AD203B41FA5}">
                      <a16:colId xmlns:a16="http://schemas.microsoft.com/office/drawing/2014/main" val="3534220071"/>
                    </a:ext>
                  </a:extLst>
                </a:gridCol>
                <a:gridCol w="1485579">
                  <a:extLst>
                    <a:ext uri="{9D8B030D-6E8A-4147-A177-3AD203B41FA5}">
                      <a16:colId xmlns:a16="http://schemas.microsoft.com/office/drawing/2014/main" val="2881831360"/>
                    </a:ext>
                  </a:extLst>
                </a:gridCol>
              </a:tblGrid>
              <a:tr h="0">
                <a:tc>
                  <a:txBody>
                    <a:bodyPr/>
                    <a:lstStyle/>
                    <a:p>
                      <a:pPr>
                        <a:buNone/>
                      </a:pPr>
                      <a:r>
                        <a:rPr lang="en-US"/>
                        <a:t>Pooling</a:t>
                      </a:r>
                    </a:p>
                  </a:txBody>
                  <a:tcPr anchor="ctr">
                    <a:lnL>
                      <a:noFill/>
                    </a:lnL>
                    <a:lnR>
                      <a:noFill/>
                    </a:lnR>
                    <a:lnT w="12700">
                      <a:solidFill>
                        <a:schemeClr val="tx1"/>
                      </a:solidFill>
                    </a:lnT>
                    <a:lnB w="12700">
                      <a:solidFill>
                        <a:schemeClr val="tx1"/>
                      </a:solidFill>
                    </a:lnB>
                    <a:noFill/>
                  </a:tcPr>
                </a:tc>
                <a:tc>
                  <a:txBody>
                    <a:bodyPr/>
                    <a:lstStyle/>
                    <a:p>
                      <a:pPr>
                        <a:buNone/>
                      </a:pPr>
                      <a:r>
                        <a:rPr lang="en-US"/>
                        <a:t>Best Epoch</a:t>
                      </a:r>
                    </a:p>
                  </a:txBody>
                  <a:tcPr anchor="ctr">
                    <a:lnL>
                      <a:noFill/>
                    </a:lnL>
                    <a:lnR>
                      <a:noFill/>
                    </a:lnR>
                    <a:lnT w="12700">
                      <a:solidFill>
                        <a:schemeClr val="tx1"/>
                      </a:solidFill>
                    </a:lnT>
                    <a:lnB w="12700">
                      <a:solidFill>
                        <a:schemeClr val="tx1"/>
                      </a:solidFill>
                    </a:lnB>
                    <a:noFill/>
                  </a:tcPr>
                </a:tc>
                <a:tc>
                  <a:txBody>
                    <a:bodyPr/>
                    <a:lstStyle/>
                    <a:p>
                      <a:pPr>
                        <a:buNone/>
                      </a:pPr>
                      <a:r>
                        <a:rPr lang="en-US"/>
                        <a:t>Dev Loss</a:t>
                      </a:r>
                    </a:p>
                  </a:txBody>
                  <a:tcPr anchor="ctr">
                    <a:lnL>
                      <a:noFill/>
                    </a:lnL>
                    <a:lnR>
                      <a:noFill/>
                    </a:lnR>
                    <a:lnT w="12700">
                      <a:solidFill>
                        <a:schemeClr val="tx1"/>
                      </a:solidFill>
                    </a:lnT>
                    <a:lnB w="12700">
                      <a:solidFill>
                        <a:schemeClr val="tx1"/>
                      </a:solidFill>
                    </a:lnB>
                    <a:noFill/>
                  </a:tcPr>
                </a:tc>
                <a:tc>
                  <a:txBody>
                    <a:bodyPr/>
                    <a:lstStyle/>
                    <a:p>
                      <a:pPr>
                        <a:buNone/>
                      </a:pPr>
                      <a:r>
                        <a:rPr lang="en-US"/>
                        <a:t>Dev Accuracy</a:t>
                      </a:r>
                    </a:p>
                  </a:txBody>
                  <a:tcPr anchor="ctr">
                    <a:lnL>
                      <a:noFill/>
                    </a:lnL>
                    <a:lnR>
                      <a:noFill/>
                    </a:lnR>
                    <a:lnT w="12700">
                      <a:solidFill>
                        <a:schemeClr val="tx1"/>
                      </a:solidFill>
                    </a:lnT>
                    <a:lnB w="12700">
                      <a:solidFill>
                        <a:schemeClr val="tx1"/>
                      </a:solidFill>
                    </a:lnB>
                    <a:noFill/>
                  </a:tcPr>
                </a:tc>
                <a:tc>
                  <a:txBody>
                    <a:bodyPr/>
                    <a:lstStyle/>
                    <a:p>
                      <a:pPr>
                        <a:buNone/>
                      </a:pPr>
                      <a:r>
                        <a:rPr lang="en-US"/>
                        <a:t>Dev Macro-F1</a:t>
                      </a:r>
                    </a:p>
                  </a:txBody>
                  <a:tcPr anchor="ctr">
                    <a:lnL>
                      <a:noFill/>
                    </a:lnL>
                    <a:lnR>
                      <a:noFill/>
                    </a:lnR>
                    <a:lnT w="12700">
                      <a:solidFill>
                        <a:schemeClr val="tx1"/>
                      </a:solidFill>
                    </a:lnT>
                    <a:lnB w="12700">
                      <a:solidFill>
                        <a:schemeClr val="tx1"/>
                      </a:solidFill>
                    </a:lnB>
                    <a:noFill/>
                  </a:tcPr>
                </a:tc>
                <a:tc>
                  <a:txBody>
                    <a:bodyPr/>
                    <a:lstStyle/>
                    <a:p>
                      <a:pPr>
                        <a:buNone/>
                      </a:pPr>
                      <a:r>
                        <a:rPr lang="en-US"/>
                        <a:t>Parameters</a:t>
                      </a:r>
                    </a:p>
                  </a:txBody>
                  <a:tcPr anchor="ctr">
                    <a:lnL>
                      <a:noFill/>
                    </a:lnL>
                    <a:lnR>
                      <a:noFill/>
                    </a:lnR>
                    <a:lnT w="12700">
                      <a:solidFill>
                        <a:schemeClr val="tx1"/>
                      </a:solidFill>
                    </a:lnT>
                    <a:lnB w="12700">
                      <a:solidFill>
                        <a:schemeClr val="tx1"/>
                      </a:solidFill>
                    </a:lnB>
                    <a:noFill/>
                  </a:tcPr>
                </a:tc>
                <a:extLst>
                  <a:ext uri="{0D108BD9-81ED-4DB2-BD59-A6C34878D82A}">
                    <a16:rowId xmlns:a16="http://schemas.microsoft.com/office/drawing/2014/main" val="3266983786"/>
                  </a:ext>
                </a:extLst>
              </a:tr>
              <a:tr h="0">
                <a:tc>
                  <a:txBody>
                    <a:bodyPr/>
                    <a:lstStyle/>
                    <a:p>
                      <a:pPr>
                        <a:buNone/>
                      </a:pPr>
                      <a:r>
                        <a:rPr lang="en-US">
                          <a:latin typeface="Courier New" panose="02070309020205020404" pitchFamily="49" charset="0"/>
                        </a:rPr>
                        <a:t>mean</a:t>
                      </a:r>
                      <a:endParaRPr lang="en-US"/>
                    </a:p>
                  </a:txBody>
                  <a:tcPr anchor="ctr">
                    <a:lnL>
                      <a:noFill/>
                    </a:lnL>
                    <a:lnR>
                      <a:noFill/>
                    </a:lnR>
                    <a:lnT w="12700">
                      <a:solidFill>
                        <a:schemeClr val="tx1"/>
                      </a:solidFill>
                    </a:lnT>
                    <a:lnB>
                      <a:noFill/>
                    </a:lnB>
                    <a:noFill/>
                  </a:tcPr>
                </a:tc>
                <a:tc>
                  <a:txBody>
                    <a:bodyPr/>
                    <a:lstStyle/>
                    <a:p>
                      <a:pPr>
                        <a:buNone/>
                      </a:pPr>
                      <a:r>
                        <a:rPr lang="en-US"/>
                        <a:t>3</a:t>
                      </a:r>
                    </a:p>
                  </a:txBody>
                  <a:tcPr anchor="ctr">
                    <a:lnL>
                      <a:noFill/>
                    </a:lnL>
                    <a:lnR>
                      <a:noFill/>
                    </a:lnR>
                    <a:lnT w="12700">
                      <a:solidFill>
                        <a:schemeClr val="tx1"/>
                      </a:solidFill>
                    </a:lnT>
                    <a:lnB>
                      <a:noFill/>
                    </a:lnB>
                    <a:noFill/>
                  </a:tcPr>
                </a:tc>
                <a:tc>
                  <a:txBody>
                    <a:bodyPr/>
                    <a:lstStyle/>
                    <a:p>
                      <a:pPr>
                        <a:buNone/>
                      </a:pPr>
                      <a:r>
                        <a:rPr lang="en-US"/>
                        <a:t>0.0302</a:t>
                      </a:r>
                    </a:p>
                  </a:txBody>
                  <a:tcPr anchor="ctr">
                    <a:lnL>
                      <a:noFill/>
                    </a:lnL>
                    <a:lnR>
                      <a:noFill/>
                    </a:lnR>
                    <a:lnT w="12700">
                      <a:solidFill>
                        <a:schemeClr val="tx1"/>
                      </a:solidFill>
                    </a:lnT>
                    <a:lnB>
                      <a:noFill/>
                    </a:lnB>
                    <a:noFill/>
                  </a:tcPr>
                </a:tc>
                <a:tc>
                  <a:txBody>
                    <a:bodyPr/>
                    <a:lstStyle/>
                    <a:p>
                      <a:pPr>
                        <a:buNone/>
                      </a:pPr>
                      <a:r>
                        <a:rPr lang="en-US"/>
                        <a:t>0.9907</a:t>
                      </a:r>
                    </a:p>
                  </a:txBody>
                  <a:tcPr anchor="ctr">
                    <a:lnL>
                      <a:noFill/>
                    </a:lnL>
                    <a:lnR>
                      <a:noFill/>
                    </a:lnR>
                    <a:lnT w="12700">
                      <a:solidFill>
                        <a:schemeClr val="tx1"/>
                      </a:solidFill>
                    </a:lnT>
                    <a:lnB>
                      <a:noFill/>
                    </a:lnB>
                    <a:noFill/>
                  </a:tcPr>
                </a:tc>
                <a:tc>
                  <a:txBody>
                    <a:bodyPr/>
                    <a:lstStyle/>
                    <a:p>
                      <a:pPr>
                        <a:buNone/>
                      </a:pPr>
                      <a:r>
                        <a:rPr lang="en-US"/>
                        <a:t>0.9907</a:t>
                      </a:r>
                    </a:p>
                  </a:txBody>
                  <a:tcPr anchor="ctr">
                    <a:lnL>
                      <a:noFill/>
                    </a:lnL>
                    <a:lnR>
                      <a:noFill/>
                    </a:lnR>
                    <a:lnT w="12700">
                      <a:solidFill>
                        <a:schemeClr val="tx1"/>
                      </a:solidFill>
                    </a:lnT>
                    <a:lnB>
                      <a:noFill/>
                    </a:lnB>
                    <a:noFill/>
                  </a:tcPr>
                </a:tc>
                <a:tc>
                  <a:txBody>
                    <a:bodyPr/>
                    <a:lstStyle/>
                    <a:p>
                      <a:pPr>
                        <a:buNone/>
                      </a:pPr>
                      <a:r>
                        <a:rPr lang="en-US"/>
                        <a:t>1,697,162</a:t>
                      </a:r>
                    </a:p>
                  </a:txBody>
                  <a:tcPr anchor="ctr">
                    <a:lnL>
                      <a:noFill/>
                    </a:lnL>
                    <a:lnR>
                      <a:noFill/>
                    </a:lnR>
                    <a:lnT w="12700">
                      <a:solidFill>
                        <a:schemeClr val="tx1"/>
                      </a:solidFill>
                    </a:lnT>
                    <a:lnB>
                      <a:noFill/>
                    </a:lnB>
                    <a:noFill/>
                  </a:tcPr>
                </a:tc>
                <a:extLst>
                  <a:ext uri="{0D108BD9-81ED-4DB2-BD59-A6C34878D82A}">
                    <a16:rowId xmlns:a16="http://schemas.microsoft.com/office/drawing/2014/main" val="14064539"/>
                  </a:ext>
                </a:extLst>
              </a:tr>
              <a:tr h="0">
                <a:tc>
                  <a:txBody>
                    <a:bodyPr/>
                    <a:lstStyle/>
                    <a:p>
                      <a:pPr>
                        <a:buNone/>
                      </a:pPr>
                      <a:r>
                        <a:rPr lang="en-US" err="1">
                          <a:latin typeface="Courier New"/>
                        </a:rPr>
                        <a:t>mean_max</a:t>
                      </a:r>
                    </a:p>
                  </a:txBody>
                  <a:tcPr anchor="ctr">
                    <a:lnL>
                      <a:noFill/>
                    </a:lnL>
                    <a:lnR>
                      <a:noFill/>
                    </a:lnR>
                    <a:lnT>
                      <a:noFill/>
                    </a:lnT>
                    <a:lnB w="12700">
                      <a:solidFill>
                        <a:schemeClr val="tx1"/>
                      </a:solidFill>
                    </a:lnB>
                    <a:noFill/>
                  </a:tcPr>
                </a:tc>
                <a:tc>
                  <a:txBody>
                    <a:bodyPr/>
                    <a:lstStyle/>
                    <a:p>
                      <a:pPr>
                        <a:buNone/>
                      </a:pPr>
                      <a:r>
                        <a:rPr lang="en-US"/>
                        <a:t>4</a:t>
                      </a:r>
                    </a:p>
                  </a:txBody>
                  <a:tcPr anchor="ctr">
                    <a:lnL>
                      <a:noFill/>
                    </a:lnL>
                    <a:lnR>
                      <a:noFill/>
                    </a:lnR>
                    <a:lnT>
                      <a:noFill/>
                    </a:lnT>
                    <a:lnB w="12700">
                      <a:solidFill>
                        <a:schemeClr val="tx1"/>
                      </a:solidFill>
                    </a:lnB>
                    <a:noFill/>
                  </a:tcPr>
                </a:tc>
                <a:tc>
                  <a:txBody>
                    <a:bodyPr/>
                    <a:lstStyle/>
                    <a:p>
                      <a:pPr>
                        <a:buNone/>
                      </a:pPr>
                      <a:r>
                        <a:rPr lang="en-US"/>
                        <a:t>0.0323</a:t>
                      </a:r>
                    </a:p>
                  </a:txBody>
                  <a:tcPr anchor="ctr">
                    <a:lnL>
                      <a:noFill/>
                    </a:lnL>
                    <a:lnR>
                      <a:noFill/>
                    </a:lnR>
                    <a:lnT>
                      <a:noFill/>
                    </a:lnT>
                    <a:lnB w="12700">
                      <a:solidFill>
                        <a:schemeClr val="tx1"/>
                      </a:solidFill>
                    </a:lnB>
                    <a:noFill/>
                  </a:tcPr>
                </a:tc>
                <a:tc>
                  <a:txBody>
                    <a:bodyPr/>
                    <a:lstStyle/>
                    <a:p>
                      <a:pPr>
                        <a:buNone/>
                      </a:pPr>
                      <a:r>
                        <a:rPr lang="en-US" b="1"/>
                        <a:t>0.9917</a:t>
                      </a:r>
                      <a:endParaRPr lang="en-US"/>
                    </a:p>
                  </a:txBody>
                  <a:tcPr anchor="ctr">
                    <a:lnL>
                      <a:noFill/>
                    </a:lnL>
                    <a:lnR>
                      <a:noFill/>
                    </a:lnR>
                    <a:lnT>
                      <a:noFill/>
                    </a:lnT>
                    <a:lnB w="12700">
                      <a:solidFill>
                        <a:schemeClr val="tx1"/>
                      </a:solidFill>
                    </a:lnB>
                    <a:noFill/>
                  </a:tcPr>
                </a:tc>
                <a:tc>
                  <a:txBody>
                    <a:bodyPr/>
                    <a:lstStyle/>
                    <a:p>
                      <a:pPr>
                        <a:buNone/>
                      </a:pPr>
                      <a:r>
                        <a:rPr lang="en-US" b="1"/>
                        <a:t>0.9917</a:t>
                      </a:r>
                      <a:endParaRPr lang="en-US"/>
                    </a:p>
                  </a:txBody>
                  <a:tcPr anchor="ctr">
                    <a:lnL>
                      <a:noFill/>
                    </a:lnL>
                    <a:lnR>
                      <a:noFill/>
                    </a:lnR>
                    <a:lnT>
                      <a:noFill/>
                    </a:lnT>
                    <a:lnB w="12700">
                      <a:solidFill>
                        <a:schemeClr val="tx1"/>
                      </a:solidFill>
                    </a:lnB>
                    <a:noFill/>
                  </a:tcPr>
                </a:tc>
                <a:tc>
                  <a:txBody>
                    <a:bodyPr/>
                    <a:lstStyle/>
                    <a:p>
                      <a:pPr>
                        <a:buNone/>
                      </a:pPr>
                      <a:r>
                        <a:rPr lang="en-US"/>
                        <a:t>1,702,282</a:t>
                      </a:r>
                    </a:p>
                  </a:txBody>
                  <a:tcPr anchor="ctr">
                    <a:lnL>
                      <a:noFill/>
                    </a:lnL>
                    <a:lnR>
                      <a:noFill/>
                    </a:lnR>
                    <a:lnT>
                      <a:noFill/>
                    </a:lnT>
                    <a:lnB w="12700">
                      <a:solidFill>
                        <a:schemeClr val="tx1"/>
                      </a:solidFill>
                    </a:lnB>
                    <a:noFill/>
                  </a:tcPr>
                </a:tc>
                <a:extLst>
                  <a:ext uri="{0D108BD9-81ED-4DB2-BD59-A6C34878D82A}">
                    <a16:rowId xmlns:a16="http://schemas.microsoft.com/office/drawing/2014/main" val="3581617373"/>
                  </a:ext>
                </a:extLst>
              </a:tr>
            </a:tbl>
          </a:graphicData>
        </a:graphic>
      </p:graphicFrame>
      <p:sp>
        <p:nvSpPr>
          <p:cNvPr id="6" name="TextBox 5">
            <a:extLst>
              <a:ext uri="{FF2B5EF4-FFF2-40B4-BE49-F238E27FC236}">
                <a16:creationId xmlns:a16="http://schemas.microsoft.com/office/drawing/2014/main" id="{D3B10BCB-2A52-CDF8-4A4D-096B3045EB13}"/>
              </a:ext>
            </a:extLst>
          </p:cNvPr>
          <p:cNvSpPr txBox="1"/>
          <p:nvPr/>
        </p:nvSpPr>
        <p:spPr>
          <a:xfrm>
            <a:off x="1225296" y="3575304"/>
            <a:ext cx="807110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Delta:</a:t>
            </a:r>
            <a:r>
              <a:rPr lang="en-US"/>
              <a:t> mean_max gains </a:t>
            </a:r>
            <a:r>
              <a:rPr lang="en-US" b="1"/>
              <a:t>+0.10% accuracy</a:t>
            </a:r>
            <a:r>
              <a:rPr lang="en-US"/>
              <a:t> and </a:t>
            </a:r>
            <a:r>
              <a:rPr lang="en-US" b="1"/>
              <a:t>+0.0010 macro-F1</a:t>
            </a:r>
            <a:r>
              <a:rPr lang="en-US"/>
              <a:t> over mean, at the cost of </a:t>
            </a:r>
            <a:r>
              <a:rPr lang="en-US" b="1"/>
              <a:t>+5,120 parameters</a:t>
            </a:r>
            <a:r>
              <a:rPr lang="en-US"/>
              <a:t> (~0.3% increase) and one additional training epoch.</a:t>
            </a:r>
          </a:p>
          <a:p>
            <a:pPr algn="ctr"/>
            <a:endParaRPr lang="en-US"/>
          </a:p>
        </p:txBody>
      </p:sp>
    </p:spTree>
    <p:extLst>
      <p:ext uri="{BB962C8B-B14F-4D97-AF65-F5344CB8AC3E}">
        <p14:creationId xmlns:p14="http://schemas.microsoft.com/office/powerpoint/2010/main" val="2652026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A5F2E-CC38-F34A-39B9-EBB9362AE311}"/>
              </a:ext>
            </a:extLst>
          </p:cNvPr>
          <p:cNvSpPr>
            <a:spLocks noGrp="1"/>
          </p:cNvSpPr>
          <p:nvPr>
            <p:ph type="title"/>
          </p:nvPr>
        </p:nvSpPr>
        <p:spPr/>
        <p:txBody>
          <a:bodyPr lIns="91440" tIns="45720" rIns="91440" bIns="45720" anchor="ctr"/>
          <a:lstStyle/>
          <a:p>
            <a:r>
              <a:rPr lang="en-US" sz="3467" b="1">
                <a:solidFill>
                  <a:srgbClr val="1E407C"/>
                </a:solidFill>
                <a:latin typeface="Calibri" pitchFamily="34" charset="0"/>
                <a:ea typeface="Calibri" pitchFamily="34" charset="-122"/>
                <a:cs typeface="Calibri" pitchFamily="34" charset="-120"/>
              </a:rPr>
              <a:t>Key Observations</a:t>
            </a:r>
          </a:p>
        </p:txBody>
      </p:sp>
      <p:sp>
        <p:nvSpPr>
          <p:cNvPr id="3" name="Content Placeholder 2">
            <a:extLst>
              <a:ext uri="{FF2B5EF4-FFF2-40B4-BE49-F238E27FC236}">
                <a16:creationId xmlns:a16="http://schemas.microsoft.com/office/drawing/2014/main" id="{A02FA413-C709-41DF-8A1B-2F8CF1B2FF1C}"/>
              </a:ext>
            </a:extLst>
          </p:cNvPr>
          <p:cNvSpPr>
            <a:spLocks noGrp="1"/>
          </p:cNvSpPr>
          <p:nvPr>
            <p:ph sz="half" idx="1"/>
          </p:nvPr>
        </p:nvSpPr>
        <p:spPr>
          <a:xfrm>
            <a:off x="996695" y="1793814"/>
            <a:ext cx="8735567" cy="3267581"/>
          </a:xfrm>
        </p:spPr>
        <p:txBody>
          <a:bodyPr lIns="91440" tIns="45720" rIns="91440" bIns="45720" anchor="t"/>
          <a:lstStyle/>
          <a:p>
            <a:r>
              <a:rPr lang="en-US" sz="1800" b="1">
                <a:latin typeface="Calibri"/>
                <a:ea typeface="Calibri"/>
                <a:cs typeface="Calibri"/>
              </a:rPr>
              <a:t>Both models substantially exceed the 95% baseline</a:t>
            </a:r>
            <a:br>
              <a:rPr lang="en-US"/>
            </a:br>
            <a:endParaRPr lang="en-US" sz="1800">
              <a:latin typeface="Calibri"/>
              <a:ea typeface="Calibri"/>
              <a:cs typeface="Calibri"/>
            </a:endParaRPr>
          </a:p>
          <a:p>
            <a:r>
              <a:rPr lang="en-US" sz="1800" b="1">
                <a:latin typeface="Calibri"/>
                <a:ea typeface="Calibri"/>
                <a:cs typeface="Calibri"/>
              </a:rPr>
              <a:t>Mean pooling alone is already very strong</a:t>
            </a:r>
            <a:r>
              <a:rPr lang="en-US" sz="1800">
                <a:latin typeface="Calibri"/>
                <a:ea typeface="Calibri"/>
                <a:cs typeface="Calibri"/>
              </a:rPr>
              <a:t> (99.07% accuracy), validating the original architecture choice.</a:t>
            </a:r>
            <a:br>
              <a:rPr lang="en-US" sz="1800">
                <a:latin typeface="Calibri"/>
                <a:ea typeface="Calibri"/>
                <a:cs typeface="Calibri"/>
              </a:rPr>
            </a:br>
            <a:endParaRPr lang="en-US" sz="1800">
              <a:latin typeface="Calibri"/>
              <a:ea typeface="Calibri"/>
              <a:cs typeface="Calibri"/>
            </a:endParaRPr>
          </a:p>
          <a:p>
            <a:r>
              <a:rPr lang="en-US" sz="1800" b="1" err="1">
                <a:latin typeface="Calibri"/>
                <a:ea typeface="Calibri"/>
                <a:cs typeface="Calibri"/>
              </a:rPr>
              <a:t>Mean+Max</a:t>
            </a:r>
            <a:r>
              <a:rPr lang="en-US" sz="1800" b="1">
                <a:latin typeface="Calibri"/>
                <a:ea typeface="Calibri"/>
                <a:cs typeface="Calibri"/>
              </a:rPr>
              <a:t> pooling provides a consistent, small improvement</a:t>
            </a:r>
            <a:r>
              <a:rPr lang="en-US" sz="1800">
                <a:latin typeface="Calibri"/>
                <a:ea typeface="Calibri"/>
                <a:cs typeface="Calibri"/>
              </a:rPr>
              <a:t> across both accuracy and macro-F1.</a:t>
            </a:r>
            <a:br>
              <a:rPr lang="en-US" sz="1800">
                <a:latin typeface="Calibri"/>
                <a:ea typeface="Calibri"/>
                <a:cs typeface="Calibri"/>
              </a:rPr>
            </a:br>
            <a:endParaRPr lang="en-US" sz="1800">
              <a:latin typeface="Calibri"/>
              <a:ea typeface="Calibri"/>
              <a:cs typeface="Calibri"/>
            </a:endParaRPr>
          </a:p>
          <a:p>
            <a:r>
              <a:rPr lang="en-US" sz="1800">
                <a:latin typeface="Calibri"/>
                <a:ea typeface="Calibri"/>
                <a:cs typeface="Calibri"/>
              </a:rPr>
              <a:t>The higher dev loss for </a:t>
            </a:r>
            <a:r>
              <a:rPr lang="en-US" sz="1800" err="1">
                <a:latin typeface="Calibri"/>
                <a:ea typeface="Calibri"/>
                <a:cs typeface="Calibri"/>
              </a:rPr>
              <a:t>mean_max</a:t>
            </a:r>
            <a:r>
              <a:rPr lang="en-US" sz="1800">
                <a:latin typeface="Calibri"/>
                <a:ea typeface="Calibri"/>
                <a:cs typeface="Calibri"/>
              </a:rPr>
              <a:t> (0.0323 vs 0.0302) suggests the model is slightly more confident on the correct class while being more uncertain on hard examples.</a:t>
            </a:r>
          </a:p>
          <a:p>
            <a:pPr marL="0" indent="0">
              <a:buNone/>
            </a:pPr>
            <a:endParaRPr lang="en-US"/>
          </a:p>
        </p:txBody>
      </p:sp>
    </p:spTree>
    <p:extLst>
      <p:ext uri="{BB962C8B-B14F-4D97-AF65-F5344CB8AC3E}">
        <p14:creationId xmlns:p14="http://schemas.microsoft.com/office/powerpoint/2010/main" val="1558198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65028-5EDD-89BA-460B-7BB418B3BE29}"/>
              </a:ext>
            </a:extLst>
          </p:cNvPr>
          <p:cNvSpPr>
            <a:spLocks noGrp="1"/>
          </p:cNvSpPr>
          <p:nvPr>
            <p:ph type="title"/>
          </p:nvPr>
        </p:nvSpPr>
        <p:spPr/>
        <p:txBody>
          <a:bodyPr lIns="91440" tIns="45720" rIns="91440" bIns="45720" anchor="ctr"/>
          <a:lstStyle/>
          <a:p>
            <a:r>
              <a:rPr lang="en-US" sz="3467" b="1">
                <a:solidFill>
                  <a:srgbClr val="1E407C"/>
                </a:solidFill>
                <a:latin typeface="Calibri" pitchFamily="34" charset="0"/>
                <a:ea typeface="Calibri" pitchFamily="34" charset="-122"/>
                <a:cs typeface="Calibri" pitchFamily="34" charset="-120"/>
              </a:rPr>
              <a:t>Recommendation</a:t>
            </a:r>
          </a:p>
        </p:txBody>
      </p:sp>
      <p:sp>
        <p:nvSpPr>
          <p:cNvPr id="3" name="Content Placeholder 2">
            <a:extLst>
              <a:ext uri="{FF2B5EF4-FFF2-40B4-BE49-F238E27FC236}">
                <a16:creationId xmlns:a16="http://schemas.microsoft.com/office/drawing/2014/main" id="{FC894BEC-399C-916C-D04B-9EED798D6C26}"/>
              </a:ext>
            </a:extLst>
          </p:cNvPr>
          <p:cNvSpPr>
            <a:spLocks noGrp="1"/>
          </p:cNvSpPr>
          <p:nvPr>
            <p:ph sz="half" idx="1"/>
          </p:nvPr>
        </p:nvSpPr>
        <p:spPr>
          <a:xfrm>
            <a:off x="838199" y="2183958"/>
            <a:ext cx="9479279" cy="2487293"/>
          </a:xfrm>
        </p:spPr>
        <p:txBody>
          <a:bodyPr lIns="91440" tIns="45720" rIns="91440" bIns="45720" anchor="t"/>
          <a:lstStyle/>
          <a:p>
            <a:r>
              <a:rPr lang="en-US" sz="1800" b="1">
                <a:latin typeface="Calibri"/>
                <a:ea typeface="Calibri"/>
                <a:cs typeface="Calibri"/>
              </a:rPr>
              <a:t>Adopt </a:t>
            </a:r>
            <a:r>
              <a:rPr lang="en-US" sz="1800" b="1" err="1">
                <a:latin typeface="Calibri"/>
                <a:ea typeface="Calibri"/>
                <a:cs typeface="Calibri"/>
              </a:rPr>
              <a:t>mean_max</a:t>
            </a:r>
            <a:r>
              <a:rPr lang="en-US" sz="1800" b="1">
                <a:latin typeface="Calibri"/>
                <a:ea typeface="Calibri"/>
                <a:cs typeface="Calibri"/>
              </a:rPr>
              <a:t> pooling (masked mean + masked max concatenated) as the final architecture.</a:t>
            </a:r>
            <a:br>
              <a:rPr lang="en-US" sz="1800" b="1">
                <a:latin typeface="Calibri"/>
                <a:ea typeface="Calibri"/>
                <a:cs typeface="Calibri"/>
              </a:rPr>
            </a:br>
            <a:endParaRPr lang="en-US" sz="1800">
              <a:latin typeface="Calibri"/>
              <a:ea typeface="Calibri"/>
              <a:cs typeface="Calibri"/>
            </a:endParaRPr>
          </a:p>
          <a:p>
            <a:pPr lvl="1"/>
            <a:r>
              <a:rPr lang="en-US" sz="1800">
                <a:ea typeface="+mn-lt"/>
                <a:cs typeface="+mn-lt"/>
              </a:rPr>
              <a:t>The improvement is consistent (both accuracy and macro-F1 improve).</a:t>
            </a:r>
            <a:br>
              <a:rPr lang="en-US" sz="1800">
                <a:ea typeface="+mn-lt"/>
                <a:cs typeface="+mn-lt"/>
              </a:rPr>
            </a:br>
            <a:endParaRPr lang="en-US" sz="1800">
              <a:latin typeface="Calibri"/>
              <a:ea typeface="Calibri"/>
              <a:cs typeface="Calibri"/>
            </a:endParaRPr>
          </a:p>
          <a:p>
            <a:pPr lvl="1"/>
            <a:r>
              <a:rPr lang="en-US" sz="1800">
                <a:ea typeface="+mn-lt"/>
                <a:cs typeface="+mn-lt"/>
              </a:rPr>
              <a:t>Max pooling adds a linguistically meaningful inductive bias, while mean pooling captures overall distributional patterns.</a:t>
            </a:r>
            <a:br>
              <a:rPr lang="en-US" sz="1800">
                <a:ea typeface="+mn-lt"/>
                <a:cs typeface="+mn-lt"/>
              </a:rPr>
            </a:br>
            <a:endParaRPr lang="en-US" sz="1800">
              <a:ea typeface="+mn-lt"/>
              <a:cs typeface="+mn-lt"/>
            </a:endParaRPr>
          </a:p>
          <a:p>
            <a:pPr lvl="1"/>
            <a:r>
              <a:rPr lang="en-US" sz="1800">
                <a:ea typeface="+mn-lt"/>
                <a:cs typeface="+mn-lt"/>
              </a:rPr>
              <a:t>The final classifier input becomes </a:t>
            </a:r>
            <a:r>
              <a:rPr lang="en-US" sz="1800">
                <a:latin typeface="Calibri"/>
                <a:ea typeface="Calibri"/>
                <a:cs typeface="Calibri"/>
              </a:rPr>
              <a:t>Linear(1,024 → 10)</a:t>
            </a:r>
            <a:r>
              <a:rPr lang="en-US" sz="1800">
                <a:ea typeface="+mn-lt"/>
                <a:cs typeface="+mn-lt"/>
              </a:rPr>
              <a:t> instead of </a:t>
            </a:r>
            <a:r>
              <a:rPr lang="en-US" sz="1800">
                <a:latin typeface="Calibri"/>
                <a:ea typeface="Calibri"/>
                <a:cs typeface="Calibri"/>
              </a:rPr>
              <a:t>Linear(512 → 10)</a:t>
            </a:r>
            <a:r>
              <a:rPr lang="en-US" sz="1800">
                <a:ea typeface="+mn-lt"/>
                <a:cs typeface="+mn-lt"/>
              </a:rPr>
              <a:t>.</a:t>
            </a:r>
            <a:endParaRPr lang="en-US" sz="1800">
              <a:latin typeface="Calibri"/>
              <a:ea typeface="Calibri"/>
              <a:cs typeface="Calibri"/>
            </a:endParaRPr>
          </a:p>
        </p:txBody>
      </p:sp>
    </p:spTree>
    <p:extLst>
      <p:ext uri="{BB962C8B-B14F-4D97-AF65-F5344CB8AC3E}">
        <p14:creationId xmlns:p14="http://schemas.microsoft.com/office/powerpoint/2010/main" val="2586777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257F82C2-5B5F-07E7-30E8-0152EDB87E30}"/>
              </a:ext>
            </a:extLst>
          </p:cNvPr>
          <p:cNvSpPr/>
          <p:nvPr/>
        </p:nvSpPr>
        <p:spPr>
          <a:xfrm>
            <a:off x="731520" y="365760"/>
            <a:ext cx="10363200" cy="731520"/>
          </a:xfrm>
          <a:prstGeom prst="rect">
            <a:avLst/>
          </a:prstGeom>
          <a:noFill/>
          <a:ln/>
        </p:spPr>
        <p:txBody>
          <a:bodyPr wrap="square" lIns="0" tIns="0" rIns="0" bIns="0" rtlCol="0" anchor="ctr"/>
          <a:lstStyle/>
          <a:p>
            <a:r>
              <a:rPr lang="en-US" sz="3467" b="1">
                <a:solidFill>
                  <a:srgbClr val="1E407C"/>
                </a:solidFill>
                <a:latin typeface="Calibri" pitchFamily="34" charset="0"/>
                <a:ea typeface="Calibri" pitchFamily="34" charset="-122"/>
                <a:cs typeface="Calibri" pitchFamily="34" charset="-120"/>
              </a:rPr>
              <a:t>How Lessons 8 to 10 Inform the Decision</a:t>
            </a:r>
            <a:endParaRPr lang="en-US" sz="3467"/>
          </a:p>
        </p:txBody>
      </p:sp>
      <p:sp>
        <p:nvSpPr>
          <p:cNvPr id="5" name="Text 1">
            <a:extLst>
              <a:ext uri="{FF2B5EF4-FFF2-40B4-BE49-F238E27FC236}">
                <a16:creationId xmlns:a16="http://schemas.microsoft.com/office/drawing/2014/main" id="{F58654BB-53DF-31AA-DD6A-0E4A1BC2E6ED}"/>
              </a:ext>
            </a:extLst>
          </p:cNvPr>
          <p:cNvSpPr/>
          <p:nvPr/>
        </p:nvSpPr>
        <p:spPr>
          <a:xfrm>
            <a:off x="731520" y="1036320"/>
            <a:ext cx="10119360" cy="365760"/>
          </a:xfrm>
          <a:prstGeom prst="rect">
            <a:avLst/>
          </a:prstGeom>
          <a:noFill/>
          <a:ln/>
        </p:spPr>
        <p:txBody>
          <a:bodyPr wrap="square" lIns="0" tIns="0" rIns="0" bIns="0" rtlCol="0" anchor="ctr"/>
          <a:lstStyle/>
          <a:p>
            <a:r>
              <a:rPr lang="en-US" sz="1600" i="1">
                <a:solidFill>
                  <a:srgbClr val="6B7280"/>
                </a:solidFill>
                <a:latin typeface="Calibri" pitchFamily="34" charset="0"/>
                <a:ea typeface="Calibri" pitchFamily="34" charset="-122"/>
                <a:cs typeface="Calibri" pitchFamily="34" charset="-120"/>
              </a:rPr>
              <a:t>These extensions are acknowledged but are not the correct first submission for our sentence-classification application.</a:t>
            </a:r>
            <a:endParaRPr lang="en-US" sz="1600"/>
          </a:p>
        </p:txBody>
      </p:sp>
      <p:sp>
        <p:nvSpPr>
          <p:cNvPr id="6" name="Shape 2">
            <a:extLst>
              <a:ext uri="{FF2B5EF4-FFF2-40B4-BE49-F238E27FC236}">
                <a16:creationId xmlns:a16="http://schemas.microsoft.com/office/drawing/2014/main" id="{E19B8107-7B18-97C0-8A38-C998C1747DBD}"/>
              </a:ext>
            </a:extLst>
          </p:cNvPr>
          <p:cNvSpPr/>
          <p:nvPr/>
        </p:nvSpPr>
        <p:spPr>
          <a:xfrm>
            <a:off x="731520" y="1584960"/>
            <a:ext cx="10119360" cy="1341120"/>
          </a:xfrm>
          <a:prstGeom prst="rect">
            <a:avLst/>
          </a:prstGeom>
          <a:solidFill>
            <a:srgbClr val="F2F4F7"/>
          </a:solidFill>
          <a:ln/>
          <a:effectLst>
            <a:outerShdw blurRad="38100" dist="12700" dir="8100000" algn="bl" rotWithShape="0">
              <a:srgbClr val="000000">
                <a:alpha val="10000"/>
              </a:srgbClr>
            </a:outerShdw>
          </a:effectLst>
        </p:spPr>
        <p:txBody>
          <a:bodyPr/>
          <a:lstStyle/>
          <a:p>
            <a:endParaRPr lang="en-US" sz="2400"/>
          </a:p>
        </p:txBody>
      </p:sp>
      <p:sp>
        <p:nvSpPr>
          <p:cNvPr id="7" name="Text 3">
            <a:extLst>
              <a:ext uri="{FF2B5EF4-FFF2-40B4-BE49-F238E27FC236}">
                <a16:creationId xmlns:a16="http://schemas.microsoft.com/office/drawing/2014/main" id="{87FA5987-90F7-94BF-A98D-97F2AB7A5806}"/>
              </a:ext>
            </a:extLst>
          </p:cNvPr>
          <p:cNvSpPr/>
          <p:nvPr/>
        </p:nvSpPr>
        <p:spPr>
          <a:xfrm>
            <a:off x="975360" y="1645920"/>
            <a:ext cx="9753600" cy="365760"/>
          </a:xfrm>
          <a:prstGeom prst="rect">
            <a:avLst/>
          </a:prstGeom>
          <a:noFill/>
          <a:ln/>
        </p:spPr>
        <p:txBody>
          <a:bodyPr wrap="square" lIns="0" tIns="0" rIns="0" bIns="0" rtlCol="0" anchor="ctr"/>
          <a:lstStyle/>
          <a:p>
            <a:r>
              <a:rPr lang="en-US" sz="1600" b="1">
                <a:solidFill>
                  <a:srgbClr val="1E407C"/>
                </a:solidFill>
                <a:latin typeface="Calibri" pitchFamily="34" charset="0"/>
                <a:ea typeface="Calibri" pitchFamily="34" charset="-122"/>
                <a:cs typeface="Calibri" pitchFamily="34" charset="-120"/>
              </a:rPr>
              <a:t>Seq2Seq / Beam Search (Lessons 8 to 9)</a:t>
            </a:r>
            <a:endParaRPr lang="en-US" sz="1600"/>
          </a:p>
        </p:txBody>
      </p:sp>
      <p:sp>
        <p:nvSpPr>
          <p:cNvPr id="8" name="Text 4">
            <a:extLst>
              <a:ext uri="{FF2B5EF4-FFF2-40B4-BE49-F238E27FC236}">
                <a16:creationId xmlns:a16="http://schemas.microsoft.com/office/drawing/2014/main" id="{23B3705B-0BF9-7F5D-6F0C-2DE2F522B404}"/>
              </a:ext>
            </a:extLst>
          </p:cNvPr>
          <p:cNvSpPr/>
          <p:nvPr/>
        </p:nvSpPr>
        <p:spPr>
          <a:xfrm>
            <a:off x="975360" y="2048256"/>
            <a:ext cx="9753600" cy="792480"/>
          </a:xfrm>
          <a:prstGeom prst="rect">
            <a:avLst/>
          </a:prstGeom>
          <a:noFill/>
          <a:ln/>
        </p:spPr>
        <p:txBody>
          <a:bodyPr wrap="square" lIns="0" tIns="0" rIns="0" bIns="0" rtlCol="0" anchor="ctr"/>
          <a:lstStyle/>
          <a:p>
            <a:r>
              <a:rPr lang="en-US" sz="1333">
                <a:solidFill>
                  <a:srgbClr val="1A1A2E"/>
                </a:solidFill>
                <a:latin typeface="Calibri" pitchFamily="34" charset="0"/>
                <a:ea typeface="Calibri" pitchFamily="34" charset="-122"/>
                <a:cs typeface="Calibri" pitchFamily="34" charset="-120"/>
              </a:rPr>
              <a:t>Encoder/decoder architectures produce variable length output sequences, which is the correct formulation for machine translation and abstractive summarization. Language detection requires a single discrete label, not a generated sequence. Introducing a decoder and beam search would add unnecessary architectural complexity without improving classification performance.</a:t>
            </a:r>
            <a:endParaRPr lang="en-US" sz="1333"/>
          </a:p>
        </p:txBody>
      </p:sp>
      <p:sp>
        <p:nvSpPr>
          <p:cNvPr id="9" name="Shape 5">
            <a:extLst>
              <a:ext uri="{FF2B5EF4-FFF2-40B4-BE49-F238E27FC236}">
                <a16:creationId xmlns:a16="http://schemas.microsoft.com/office/drawing/2014/main" id="{4C4ABBC7-409D-66F2-9620-DD982474CCE4}"/>
              </a:ext>
            </a:extLst>
          </p:cNvPr>
          <p:cNvSpPr/>
          <p:nvPr/>
        </p:nvSpPr>
        <p:spPr>
          <a:xfrm>
            <a:off x="731520" y="3169920"/>
            <a:ext cx="10119360" cy="1341120"/>
          </a:xfrm>
          <a:prstGeom prst="rect">
            <a:avLst/>
          </a:prstGeom>
          <a:solidFill>
            <a:srgbClr val="FFFFFF"/>
          </a:solidFill>
          <a:ln/>
          <a:effectLst>
            <a:outerShdw blurRad="38100" dist="12700" dir="8100000" algn="bl" rotWithShape="0">
              <a:srgbClr val="000000">
                <a:alpha val="10000"/>
              </a:srgbClr>
            </a:outerShdw>
          </a:effectLst>
        </p:spPr>
        <p:txBody>
          <a:bodyPr/>
          <a:lstStyle/>
          <a:p>
            <a:endParaRPr lang="en-US" sz="2400"/>
          </a:p>
        </p:txBody>
      </p:sp>
      <p:sp>
        <p:nvSpPr>
          <p:cNvPr id="10" name="Text 6">
            <a:extLst>
              <a:ext uri="{FF2B5EF4-FFF2-40B4-BE49-F238E27FC236}">
                <a16:creationId xmlns:a16="http://schemas.microsoft.com/office/drawing/2014/main" id="{C6D16FFA-2161-3F81-760B-94D5FA1C3EBE}"/>
              </a:ext>
            </a:extLst>
          </p:cNvPr>
          <p:cNvSpPr/>
          <p:nvPr/>
        </p:nvSpPr>
        <p:spPr>
          <a:xfrm>
            <a:off x="975360" y="3230880"/>
            <a:ext cx="9753600" cy="365760"/>
          </a:xfrm>
          <a:prstGeom prst="rect">
            <a:avLst/>
          </a:prstGeom>
          <a:noFill/>
          <a:ln/>
        </p:spPr>
        <p:txBody>
          <a:bodyPr wrap="square" lIns="0" tIns="0" rIns="0" bIns="0" rtlCol="0" anchor="ctr"/>
          <a:lstStyle/>
          <a:p>
            <a:r>
              <a:rPr lang="en-US" sz="1600" b="1">
                <a:solidFill>
                  <a:srgbClr val="1E407C"/>
                </a:solidFill>
                <a:latin typeface="Calibri" pitchFamily="34" charset="0"/>
                <a:ea typeface="Calibri" pitchFamily="34" charset="-122"/>
                <a:cs typeface="Calibri" pitchFamily="34" charset="-120"/>
              </a:rPr>
              <a:t>Attention Mechanisms</a:t>
            </a:r>
            <a:endParaRPr lang="en-US" sz="1600"/>
          </a:p>
        </p:txBody>
      </p:sp>
      <p:sp>
        <p:nvSpPr>
          <p:cNvPr id="11" name="Text 7">
            <a:extLst>
              <a:ext uri="{FF2B5EF4-FFF2-40B4-BE49-F238E27FC236}">
                <a16:creationId xmlns:a16="http://schemas.microsoft.com/office/drawing/2014/main" id="{82093228-70F6-C846-4586-BFD2E6B5B68E}"/>
              </a:ext>
            </a:extLst>
          </p:cNvPr>
          <p:cNvSpPr/>
          <p:nvPr/>
        </p:nvSpPr>
        <p:spPr>
          <a:xfrm>
            <a:off x="975360" y="3633216"/>
            <a:ext cx="9753600" cy="792480"/>
          </a:xfrm>
          <a:prstGeom prst="rect">
            <a:avLst/>
          </a:prstGeom>
          <a:noFill/>
          <a:ln/>
        </p:spPr>
        <p:txBody>
          <a:bodyPr wrap="square" lIns="0" tIns="0" rIns="0" bIns="0" rtlCol="0" anchor="ctr"/>
          <a:lstStyle/>
          <a:p>
            <a:r>
              <a:rPr lang="en-US" sz="1333">
                <a:solidFill>
                  <a:srgbClr val="1A1A2E"/>
                </a:solidFill>
                <a:latin typeface="Calibri" pitchFamily="34" charset="0"/>
                <a:ea typeface="Calibri" pitchFamily="34" charset="-122"/>
                <a:cs typeface="Calibri" pitchFamily="34" charset="-120"/>
              </a:rPr>
              <a:t>Attention is most valuable when a decoder must selectively attend to different source positions at each generation step. For classification, the pooling layer already reduces the full sequence to a single fixed dimensional vector. Self-attention over the encoder could be explored as an enhancement, but it is not necessary to justify the core RNN-based architecture for this assignment.</a:t>
            </a:r>
            <a:endParaRPr lang="en-US" sz="1333"/>
          </a:p>
        </p:txBody>
      </p:sp>
      <p:sp>
        <p:nvSpPr>
          <p:cNvPr id="12" name="Shape 8">
            <a:extLst>
              <a:ext uri="{FF2B5EF4-FFF2-40B4-BE49-F238E27FC236}">
                <a16:creationId xmlns:a16="http://schemas.microsoft.com/office/drawing/2014/main" id="{D604E9FF-06B6-A2DF-2A21-4663EAE02458}"/>
              </a:ext>
            </a:extLst>
          </p:cNvPr>
          <p:cNvSpPr/>
          <p:nvPr/>
        </p:nvSpPr>
        <p:spPr>
          <a:xfrm>
            <a:off x="731520" y="4754880"/>
            <a:ext cx="10119360" cy="1341120"/>
          </a:xfrm>
          <a:prstGeom prst="rect">
            <a:avLst/>
          </a:prstGeom>
          <a:solidFill>
            <a:srgbClr val="F2F4F7"/>
          </a:solidFill>
          <a:ln/>
          <a:effectLst>
            <a:outerShdw blurRad="38100" dist="12700" dir="8100000" algn="bl" rotWithShape="0">
              <a:srgbClr val="000000">
                <a:alpha val="10000"/>
              </a:srgbClr>
            </a:outerShdw>
          </a:effectLst>
        </p:spPr>
        <p:txBody>
          <a:bodyPr/>
          <a:lstStyle/>
          <a:p>
            <a:endParaRPr lang="en-US" sz="2400"/>
          </a:p>
        </p:txBody>
      </p:sp>
      <p:sp>
        <p:nvSpPr>
          <p:cNvPr id="13" name="Text 9">
            <a:extLst>
              <a:ext uri="{FF2B5EF4-FFF2-40B4-BE49-F238E27FC236}">
                <a16:creationId xmlns:a16="http://schemas.microsoft.com/office/drawing/2014/main" id="{C4F8B3EC-2A4A-F1A6-F5F4-AA0766D3A7A3}"/>
              </a:ext>
            </a:extLst>
          </p:cNvPr>
          <p:cNvSpPr/>
          <p:nvPr/>
        </p:nvSpPr>
        <p:spPr>
          <a:xfrm>
            <a:off x="975360" y="4815840"/>
            <a:ext cx="9753600" cy="365760"/>
          </a:xfrm>
          <a:prstGeom prst="rect">
            <a:avLst/>
          </a:prstGeom>
          <a:noFill/>
          <a:ln/>
        </p:spPr>
        <p:txBody>
          <a:bodyPr wrap="square" lIns="0" tIns="0" rIns="0" bIns="0" rtlCol="0" anchor="ctr"/>
          <a:lstStyle/>
          <a:p>
            <a:r>
              <a:rPr lang="en-US" sz="1600" b="1">
                <a:solidFill>
                  <a:srgbClr val="1E407C"/>
                </a:solidFill>
                <a:latin typeface="Calibri" pitchFamily="34" charset="0"/>
                <a:ea typeface="Calibri" pitchFamily="34" charset="-122"/>
                <a:cs typeface="Calibri" pitchFamily="34" charset="-120"/>
              </a:rPr>
              <a:t>Transfer Learning / Pretrained Representations (Lesson 10)</a:t>
            </a:r>
            <a:endParaRPr lang="en-US" sz="1600"/>
          </a:p>
        </p:txBody>
      </p:sp>
      <p:sp>
        <p:nvSpPr>
          <p:cNvPr id="14" name="Text 10">
            <a:extLst>
              <a:ext uri="{FF2B5EF4-FFF2-40B4-BE49-F238E27FC236}">
                <a16:creationId xmlns:a16="http://schemas.microsoft.com/office/drawing/2014/main" id="{83EBD124-829A-066E-35A1-09D6ED352CF4}"/>
              </a:ext>
            </a:extLst>
          </p:cNvPr>
          <p:cNvSpPr/>
          <p:nvPr/>
        </p:nvSpPr>
        <p:spPr>
          <a:xfrm>
            <a:off x="975360" y="5218176"/>
            <a:ext cx="9753600" cy="792480"/>
          </a:xfrm>
          <a:prstGeom prst="rect">
            <a:avLst/>
          </a:prstGeom>
          <a:noFill/>
          <a:ln/>
        </p:spPr>
        <p:txBody>
          <a:bodyPr wrap="square" lIns="0" tIns="0" rIns="0" bIns="0" rtlCol="0" anchor="ctr"/>
          <a:lstStyle/>
          <a:p>
            <a:r>
              <a:rPr lang="en-US" sz="1333">
                <a:solidFill>
                  <a:srgbClr val="1A1A2E"/>
                </a:solidFill>
                <a:latin typeface="Calibri" pitchFamily="34" charset="0"/>
                <a:ea typeface="Calibri" pitchFamily="34" charset="-122"/>
                <a:cs typeface="Calibri" pitchFamily="34" charset="-120"/>
              </a:rPr>
              <a:t>Multilingual pretrained encoders (e.g., mBERT, XLM-R) could provide strong initialization. However, they are transformer-based and would shift the assignment away from the RNN framing that Lesson 6 establishes. A future iteration could compare a pretrained multilingual model against our character-level BiGRU as an upper-bound reference, but the RNN architecture stands on its own merits for our use case scope.</a:t>
            </a:r>
            <a:endParaRPr lang="en-US" sz="1333"/>
          </a:p>
        </p:txBody>
      </p:sp>
      <p:sp>
        <p:nvSpPr>
          <p:cNvPr id="15" name="Shape 11">
            <a:extLst>
              <a:ext uri="{FF2B5EF4-FFF2-40B4-BE49-F238E27FC236}">
                <a16:creationId xmlns:a16="http://schemas.microsoft.com/office/drawing/2014/main" id="{C4165C62-1A27-5B43-028D-B72743272C3C}"/>
              </a:ext>
            </a:extLst>
          </p:cNvPr>
          <p:cNvSpPr/>
          <p:nvPr/>
        </p:nvSpPr>
        <p:spPr>
          <a:xfrm>
            <a:off x="731520" y="6096000"/>
            <a:ext cx="10119360" cy="60960"/>
          </a:xfrm>
          <a:prstGeom prst="rect">
            <a:avLst/>
          </a:prstGeom>
          <a:solidFill>
            <a:srgbClr val="009CDE"/>
          </a:solidFill>
          <a:ln/>
        </p:spPr>
        <p:txBody>
          <a:bodyPr/>
          <a:lstStyle/>
          <a:p>
            <a:endParaRPr lang="en-US" sz="2400"/>
          </a:p>
        </p:txBody>
      </p:sp>
    </p:spTree>
    <p:extLst>
      <p:ext uri="{BB962C8B-B14F-4D97-AF65-F5344CB8AC3E}">
        <p14:creationId xmlns:p14="http://schemas.microsoft.com/office/powerpoint/2010/main" val="2072178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522A42B6-56D5-6440-86E6-7006FC53B59A}" vid="{CD8EB4FB-6531-A248-888A-0E93811EC0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040A8710B9C9F4BB3D8DE2E105C2A47" ma:contentTypeVersion="8" ma:contentTypeDescription="Create a new document." ma:contentTypeScope="" ma:versionID="fe7778ff9643fe14cda9584fcd1e1034">
  <xsd:schema xmlns:xsd="http://www.w3.org/2001/XMLSchema" xmlns:xs="http://www.w3.org/2001/XMLSchema" xmlns:p="http://schemas.microsoft.com/office/2006/metadata/properties" xmlns:ns2="4e28173e-8d4b-452a-aada-3918aaa26272" targetNamespace="http://schemas.microsoft.com/office/2006/metadata/properties" ma:root="true" ma:fieldsID="7bee4c5e776e6d32e3587e2b53f68953" ns2:_="">
    <xsd:import namespace="4e28173e-8d4b-452a-aada-3918aaa2627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28173e-8d4b-452a-aada-3918aaa262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DD29C2-4CB2-4275-936B-DBFBFC4A3454}">
  <ds:schemaRefs>
    <ds:schemaRef ds:uri="4e28173e-8d4b-452a-aada-3918aaa2627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56874D4-6047-4E10-87DF-26C269E3B81F}">
  <ds:schemaRefs>
    <ds:schemaRef ds:uri="4e28173e-8d4b-452a-aada-3918aaa2627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5879766-C912-459E-9842-9EA2C81CCFA5}">
  <ds:schemaRefs>
    <ds:schemaRef ds:uri="http://schemas.microsoft.com/sharepoint/v3/contenttype/forms"/>
  </ds:schemaRefs>
</ds:datastoreItem>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17</Slides>
  <Notes>7</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Architecture </vt:lpstr>
      <vt:lpstr>PowerPoint Presentation</vt:lpstr>
      <vt:lpstr>PowerPoint Presentation</vt:lpstr>
      <vt:lpstr>PowerPoint Presentation</vt:lpstr>
      <vt:lpstr>PowerPoint Presentation</vt:lpstr>
      <vt:lpstr>PowerPoint Presentation</vt:lpstr>
      <vt:lpstr>PowerPoint Presentation</vt:lpstr>
      <vt:lpstr>Expected Performance Baseline</vt:lpstr>
      <vt:lpstr>Pooling Strategy Experiment</vt:lpstr>
      <vt:lpstr>Pooling Variants Tested</vt:lpstr>
      <vt:lpstr>Results</vt:lpstr>
      <vt:lpstr>Key Observations</vt:lpstr>
      <vt:lpstr>Recommendation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Youakim BADR</dc:creator>
  <cp:revision>1</cp:revision>
  <dcterms:created xsi:type="dcterms:W3CDTF">2018-11-27T04:22:11Z</dcterms:created>
  <dcterms:modified xsi:type="dcterms:W3CDTF">2026-04-12T14:30:21Z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0x0101003040A8710B9C9F4BB3D8DE2E105C2A47</vt:lpwstr>
  </property>
</Properties>
</file>