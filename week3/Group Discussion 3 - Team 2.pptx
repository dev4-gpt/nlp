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Greway" userId="b9359b6e3d0a4dc7" providerId="LiveId" clId="{628465C9-673A-435B-B454-8FF360906845}"/>
    <pc:docChg chg="custSel modSld">
      <pc:chgData name="Darren Greway" userId="b9359b6e3d0a4dc7" providerId="LiveId" clId="{628465C9-673A-435B-B454-8FF360906845}" dt="2026-04-05T18:11:22.966" v="319" actId="20577"/>
      <pc:docMkLst>
        <pc:docMk/>
      </pc:docMkLst>
      <pc:sldChg chg="addSp delSp modSp">
        <pc:chgData name="Darren Greway" userId="b9359b6e3d0a4dc7" providerId="LiveId" clId="{628465C9-673A-435B-B454-8FF360906845}" dt="2026-04-05T18:09:17.382" v="273" actId="20577"/>
        <pc:sldMkLst>
          <pc:docMk/>
          <pc:sldMk cId="0" sldId="256"/>
        </pc:sldMkLst>
        <pc:spChg chg="add del">
          <ac:chgData name="Darren Greway" userId="b9359b6e3d0a4dc7" providerId="LiveId" clId="{628465C9-673A-435B-B454-8FF360906845}" dt="2026-04-05T18:03:08.556" v="4" actId="478"/>
          <ac:spMkLst>
            <pc:docMk/>
            <pc:sldMk cId="0" sldId="256"/>
            <ac:spMk id="13" creationId="{71C88C22-2302-4EEF-8D9D-E9137BC9B80B}"/>
          </ac:spMkLst>
        </pc:spChg>
        <pc:spChg chg="add mod">
          <ac:chgData name="Darren Greway" userId="b9359b6e3d0a4dc7" providerId="LiveId" clId="{628465C9-673A-435B-B454-8FF360906845}" dt="2026-04-05T18:09:17.382" v="273" actId="20577"/>
          <ac:spMkLst>
            <pc:docMk/>
            <pc:sldMk cId="0" sldId="256"/>
            <ac:spMk id="14" creationId="{86608F07-CF7F-4A5D-AF90-F096FEE4999B}"/>
          </ac:spMkLst>
        </pc:spChg>
      </pc:sldChg>
      <pc:sldChg chg="modSp">
        <pc:chgData name="Darren Greway" userId="b9359b6e3d0a4dc7" providerId="LiveId" clId="{628465C9-673A-435B-B454-8FF360906845}" dt="2026-04-05T18:10:22.318" v="306" actId="6549"/>
        <pc:sldMkLst>
          <pc:docMk/>
          <pc:sldMk cId="0" sldId="257"/>
        </pc:sldMkLst>
        <pc:spChg chg="mod">
          <ac:chgData name="Darren Greway" userId="b9359b6e3d0a4dc7" providerId="LiveId" clId="{628465C9-673A-435B-B454-8FF360906845}" dt="2026-04-05T18:10:09.543" v="282" actId="20577"/>
          <ac:spMkLst>
            <pc:docMk/>
            <pc:sldMk cId="0" sldId="257"/>
            <ac:spMk id="51" creationId="{00000000-0000-0000-0000-000000000000}"/>
          </ac:spMkLst>
        </pc:spChg>
        <pc:spChg chg="mod">
          <ac:chgData name="Darren Greway" userId="b9359b6e3d0a4dc7" providerId="LiveId" clId="{628465C9-673A-435B-B454-8FF360906845}" dt="2026-04-05T18:10:22.318" v="306" actId="6549"/>
          <ac:spMkLst>
            <pc:docMk/>
            <pc:sldMk cId="0" sldId="257"/>
            <ac:spMk id="52" creationId="{00000000-0000-0000-0000-000000000000}"/>
          </ac:spMkLst>
        </pc:spChg>
      </pc:sldChg>
      <pc:sldChg chg="modSp">
        <pc:chgData name="Darren Greway" userId="b9359b6e3d0a4dc7" providerId="LiveId" clId="{628465C9-673A-435B-B454-8FF360906845}" dt="2026-04-05T18:11:22.966" v="319" actId="20577"/>
        <pc:sldMkLst>
          <pc:docMk/>
          <pc:sldMk cId="0" sldId="258"/>
        </pc:sldMkLst>
        <pc:spChg chg="mod">
          <ac:chgData name="Darren Greway" userId="b9359b6e3d0a4dc7" providerId="LiveId" clId="{628465C9-673A-435B-B454-8FF360906845}" dt="2026-04-05T18:11:22.966" v="319" actId="20577"/>
          <ac:spMkLst>
            <pc:docMk/>
            <pc:sldMk cId="0" sldId="258"/>
            <ac:spMk id="73" creationId="{00000000-0000-0000-0000-000000000000}"/>
          </ac:spMkLst>
        </pc:spChg>
      </pc:sldChg>
      <pc:sldChg chg="modSp">
        <pc:chgData name="Darren Greway" userId="b9359b6e3d0a4dc7" providerId="LiveId" clId="{628465C9-673A-435B-B454-8FF360906845}" dt="2026-04-05T18:03:02.678" v="1" actId="27636"/>
        <pc:sldMkLst>
          <pc:docMk/>
          <pc:sldMk cId="0" sldId="259"/>
        </pc:sldMkLst>
        <pc:spChg chg="mod">
          <ac:chgData name="Darren Greway" userId="b9359b6e3d0a4dc7" providerId="LiveId" clId="{628465C9-673A-435B-B454-8FF360906845}" dt="2026-04-05T18:03:02.678" v="1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Darren Greway" userId="b9359b6e3d0a4dc7" providerId="LiveId" clId="{628465C9-673A-435B-B454-8FF360906845}" dt="2026-04-05T18:03:02.699" v="2" actId="27636"/>
        <pc:sldMkLst>
          <pc:docMk/>
          <pc:sldMk cId="0" sldId="263"/>
        </pc:sldMkLst>
        <pc:spChg chg="mod">
          <ac:chgData name="Darren Greway" userId="b9359b6e3d0a4dc7" providerId="LiveId" clId="{628465C9-673A-435B-B454-8FF360906845}" dt="2026-04-05T18:03:02.699" v="2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Darren Greway" userId="b9359b6e3d0a4dc7" providerId="LiveId" clId="{628465C9-673A-435B-B454-8FF360906845}" dt="2026-04-05T18:03:02.714" v="3" actId="27636"/>
        <pc:sldMkLst>
          <pc:docMk/>
          <pc:sldMk cId="0" sldId="264"/>
        </pc:sldMkLst>
        <pc:spChg chg="mod">
          <ac:chgData name="Darren Greway" userId="b9359b6e3d0a4dc7" providerId="LiveId" clId="{628465C9-673A-435B-B454-8FF360906845}" dt="2026-04-05T18:03:02.714" v="3" actId="27636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41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9144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1005840"/>
            <a:ext cx="2560320" cy="256032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3774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 — RNN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Tatoeba Language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Detection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EEAD4"/>
                </a:solidFill>
              </a:rPr>
              <a:t>Exploratory Data Analysis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602736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10 Languages  ·  99,863 Train  ·  10,000 Dev  ·  178 Unique Characters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Tatoeba Project  ·  Character-Level Analysis  ·  Statistical &amp; Visual Methods</a:t>
            </a:r>
            <a:endParaRPr lang="en-US" sz="1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6608F07-CF7F-4A5D-AF90-F096FEE4999B}"/>
              </a:ext>
            </a:extLst>
          </p:cNvPr>
          <p:cNvSpPr/>
          <p:nvPr/>
        </p:nvSpPr>
        <p:spPr>
          <a:xfrm>
            <a:off x="5665470" y="937260"/>
            <a:ext cx="3116580" cy="35042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AI-574 Spring II 2026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Professor Srinivasan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Pennsylvania State University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School of Graduate and Professional Studies</a:t>
            </a:r>
          </a:p>
          <a:p>
            <a:pPr marL="0" indent="0">
              <a:buNone/>
            </a:pPr>
            <a:endParaRPr lang="en-US" sz="2000" dirty="0">
              <a:solidFill>
                <a:srgbClr val="5EEAD4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rgbClr val="5EEAD4"/>
                </a:solidFill>
              </a:rPr>
              <a:t>Group Discussion 3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5EEAD4"/>
                </a:solidFill>
              </a:rPr>
              <a:t>Team 2</a:t>
            </a:r>
          </a:p>
          <a:p>
            <a:pPr lvl="1"/>
            <a:r>
              <a:rPr lang="en-US" sz="2000" dirty="0">
                <a:solidFill>
                  <a:srgbClr val="5EEAD4"/>
                </a:solidFill>
              </a:rPr>
              <a:t>Aryaman Dev</a:t>
            </a:r>
          </a:p>
          <a:p>
            <a:pPr lvl="1"/>
            <a:r>
              <a:rPr lang="en-US" sz="2000" dirty="0">
                <a:solidFill>
                  <a:srgbClr val="5EEAD4"/>
                </a:solidFill>
              </a:rPr>
              <a:t>Darren Greway</a:t>
            </a:r>
          </a:p>
          <a:p>
            <a:pPr lvl="1"/>
            <a:r>
              <a:rPr lang="en-US" sz="2000" dirty="0">
                <a:solidFill>
                  <a:srgbClr val="5EEAD4"/>
                </a:solidFill>
              </a:rPr>
              <a:t>Saakshaat Saini</a:t>
            </a:r>
          </a:p>
          <a:p>
            <a:pPr lvl="1"/>
            <a:r>
              <a:rPr lang="en-US" sz="2000" dirty="0">
                <a:solidFill>
                  <a:srgbClr val="5EEAD4"/>
                </a:solidFill>
              </a:rPr>
              <a:t>Zheng Tang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</a:rPr>
              <a:t>What We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Sizes, 10 languages, format, class balance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Language Distribution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Train (99,863) vs Dev (10,000) counts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82512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82512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Sentence Length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Box plot &amp; histogram of char lengths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Character N-gram Fingerprinting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Top bigrams per language — train set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0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0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8620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Language Similarity Heatmap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86200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Cosine similarity of N-gram vectors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82512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82512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73952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t-SNE Visualization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2D cluster separation — train &amp; dev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4048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6968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Character Entropy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Average entropy per language (2.54–2.69 bits)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383280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474720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7472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86200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Exclusive Characters &amp; Unicode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86200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Language-unique chars &amp; script block analysis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82512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82512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73952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7395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Baseline: Logistic Regression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85432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99.30% accuracy + confusion matrix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DATASET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</a:rPr>
              <a:t>Tatoeba Project — 10 Languages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99,863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Training Sentences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Dev Sentences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Languages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178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Unique Characters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993392"/>
            <a:ext cx="8412480" cy="301752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1993392"/>
            <a:ext cx="45720" cy="3017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199339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</a:rPr>
              <a:t>⚠  Portuguese (por) has only 9,863 training sentences vs 10,000 for all other 9 languages — slight imbalance in train set only.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395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Languages in the Dataset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1554480" cy="1920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Berber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5740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57400" y="2724912"/>
            <a:ext cx="1554480" cy="19202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5740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5740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German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49040" y="2724912"/>
            <a:ext cx="1554480" cy="1920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4904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English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40680" y="2724912"/>
            <a:ext cx="1554480" cy="19202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EPO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4068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Esperanto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32320" y="2724912"/>
            <a:ext cx="1554480" cy="19202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FRA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3232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French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" y="3255264"/>
            <a:ext cx="1554480" cy="19202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HUN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Hungarian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5740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057400" y="3255264"/>
            <a:ext cx="1554480" cy="19202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5740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ITA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05740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Italian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749040" y="3255264"/>
            <a:ext cx="1554480" cy="1920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4904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74904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Portuguese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4068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40680" y="3255264"/>
            <a:ext cx="1554480" cy="1920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4068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4068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Spanish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3232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132320" y="3255264"/>
            <a:ext cx="1554480" cy="19202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13232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TUR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13232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Turkish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384048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TSV format  ·  No header row  ·  Columns: [lang_code]  [text]  ·  95th pct length: ~74 chars (train) / ~75 chars (dev)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4133088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5760" y="4133088"/>
            <a:ext cx="54864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3776" y="41696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Balanced for evaluation:  </a:t>
            </a:r>
            <a:r>
              <a:rPr lang="en-US" sz="900" dirty="0">
                <a:solidFill>
                  <a:srgbClr val="334155"/>
                </a:solidFill>
              </a:rPr>
              <a:t>Dev set: exactly 1,000 per language. Accuracy is a fair metric.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4133088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63440" y="4133088"/>
            <a:ext cx="54864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91456" y="41696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Character vocabulary: 178:  </a:t>
            </a:r>
            <a:r>
              <a:rPr lang="en-US" sz="900" dirty="0">
                <a:solidFill>
                  <a:srgbClr val="334155"/>
                </a:solidFill>
              </a:rPr>
              <a:t>All scripts combined: Latin, Tifinagh, Cyrillic variants.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572000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65760" y="4572000"/>
            <a:ext cx="54864" cy="3657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93776" y="460857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RNN sequence length: ~74–100:  </a:t>
            </a:r>
            <a:r>
              <a:rPr lang="en-US" sz="900" dirty="0">
                <a:solidFill>
                  <a:srgbClr val="334155"/>
                </a:solidFill>
              </a:rPr>
              <a:t>95th percentile at 74 chars guides max input length.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663440" y="457200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91456" y="460857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Portuguese train imbalance: -137:  </a:t>
            </a:r>
            <a:r>
              <a:rPr lang="en-US" sz="900" dirty="0">
                <a:solidFill>
                  <a:srgbClr val="334155"/>
                </a:solidFill>
              </a:rPr>
              <a:t>Only affects train set. Dev set remains perfectly balanced.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LANGUAGE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Train: Nearly Balanced (por=9,863)  ·  Dev: Perfectly Balanced (1,000 each)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6300"/>
            <a:ext cx="5486400" cy="297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9144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89320" y="1234440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2344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44768" y="1289304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9 × 10,000 sentences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44768" y="1517904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 languages except Portuguese have exactly 10,000 training sentences.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002536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89320" y="2002536"/>
            <a:ext cx="54864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44768" y="20574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por = 9,863 (train only)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768" y="2286000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137 fewer sentences. Dev set is perfectly balanced at 1,000 each.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770632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2770632"/>
            <a:ext cx="54864" cy="65836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44768" y="282549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Balanced → fair metric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44768" y="3054096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Class balance means accuracy on the dev set is fully unbiased.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9320" y="3538728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89320" y="3538728"/>
            <a:ext cx="54864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44768" y="3593592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95th pct: ~74 chars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44768" y="3822192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Sets the recommended max sequence length for RNN input.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43708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Note: Dev set distribution identical — all 10 languages exactly 1,000 sentences.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SENTENCE LENGTH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Box Plot (Log Scale) &amp; Histogram of Character Lengths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187" y="896112"/>
            <a:ext cx="2681387" cy="1463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525" y="896112"/>
            <a:ext cx="2292949" cy="1463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Train Set Statistics (exact values from notebook)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6903720" cy="2450591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Mean Chars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Max Chars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Mean Words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15.0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257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4.98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deu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48.1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690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8.00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eng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20.8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437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7.60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epo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40.0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26.1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fra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597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7.69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hun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19.7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361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5.26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ita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18.0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5.84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por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91B1B"/>
                          </a:solidFill>
                        </a:rPr>
                        <a:t>63.5 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91B1B"/>
                          </a:solidFill>
                        </a:rPr>
                        <a:t>5,833 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6.98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spa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25.0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576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7.01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tur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34.5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15.1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4.99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CHARACTER N-GRAM FINGERPRINTING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6228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Top Bigrams per Language — Train Set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62952"/>
            <a:ext cx="8503920" cy="4380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LANGUAGE SIMILARITY HEATMAP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7915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Cosine Similarity of Character N-gram Vectors (1–3 grams)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56574"/>
            <a:ext cx="8503920" cy="36267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54880"/>
            <a:ext cx="8503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5488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782312"/>
            <a:ext cx="827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Key: </a:t>
            </a:r>
            <a:r>
              <a:rPr lang="en-US" sz="950" dirty="0">
                <a:solidFill>
                  <a:srgbClr val="334155"/>
                </a:solidFill>
              </a:rPr>
              <a:t>spa–por=0.98 &amp; ita–por/spa=0.95 are the highest-similarity pairs (Romance confusion zone). ber is the most distinct language across all pairs. All Latin-script languages share ≥0.83 similarity — sequential RNN context is essential to separate them.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4410791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Left: Train Set  ·  Right: Dev Set  ·  Values are consistent across both splits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t-SNE VISUALIZATION — TRAIN 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2D Language Clusters  ·  1,000 Sentences per Language  ·  Perplexity=30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02" y="797170"/>
            <a:ext cx="4624395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41164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4116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1772" y="476859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Observation:  </a:t>
            </a:r>
            <a:r>
              <a:rPr lang="en-US" sz="950" dirty="0">
                <a:solidFill>
                  <a:srgbClr val="334155"/>
                </a:solidFill>
              </a:rPr>
              <a:t>ber (red/top) and hun (yellow) form well-separated clusters. deu (blue) isolates on the right. The centre shows heavy overlap of Romance languages (spa/por/ita/fra) and epo — sequence-level context is needed to separate them.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t-SNE VISUALIZATION — DEV 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2D Language Clusters  ·  1,000 Sentences per Language  ·  Perplexity=30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02" y="758093"/>
            <a:ext cx="4624395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34874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3487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1772" y="476230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Observation:  </a:t>
            </a:r>
            <a:r>
              <a:rPr lang="en-US" sz="950" dirty="0">
                <a:solidFill>
                  <a:srgbClr val="334155"/>
                </a:solidFill>
              </a:rPr>
              <a:t>Dev cluster structure mirrors the train set — confirming dataset consistency. tur (red/bottom) is well-separated. eng (green) and deu (blue) cluster distinctly on the right. Romance languages remain interleaved in the centre.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CHARACTER ENTROPY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Average Character Entropy per Language — Range: 2.54 to 2.69 bits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</a:rPr>
              <a:t>Train Set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12" y="1152144"/>
            <a:ext cx="4190695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914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</a:rPr>
              <a:t>Dev Set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32" y="1152144"/>
            <a:ext cx="4190695" cy="2487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73075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20040" y="373075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48056" y="37673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Narrow range: 2.54–2.69 bits:  </a:t>
            </a:r>
            <a:r>
              <a:rPr lang="en-US" sz="900" dirty="0">
                <a:solidFill>
                  <a:srgbClr val="334155"/>
                </a:solidFill>
              </a:rPr>
              <a:t>Entropy alone is NOT a reliable discriminator — differences are tiny across all 10 languages.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373075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3730752"/>
            <a:ext cx="54864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882896" y="37673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deu, tur, hun rank highest:  </a:t>
            </a:r>
            <a:r>
              <a:rPr lang="en-US" sz="900" dirty="0">
                <a:solidFill>
                  <a:srgbClr val="334155"/>
                </a:solidFill>
              </a:rPr>
              <a:t>More diverse character usage — wider unique character sets and more varied text structures.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4178808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4178808"/>
            <a:ext cx="54864" cy="38404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48056" y="421538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ber, ita rank lowest:  </a:t>
            </a:r>
            <a:r>
              <a:rPr lang="en-US" sz="900" dirty="0">
                <a:solidFill>
                  <a:srgbClr val="334155"/>
                </a:solidFill>
              </a:rPr>
              <a:t>Consistent character patterns. Consistent with their Romance/Berber frequency profiles.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4178808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417880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82896" y="421538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Train ≈ Dev distributions:  </a:t>
            </a:r>
            <a:r>
              <a:rPr lang="en-US" sz="900" dirty="0">
                <a:solidFill>
                  <a:srgbClr val="334155"/>
                </a:solidFill>
              </a:rPr>
              <a:t>Nearly identical ordering — confirms the train set is representative of the dev set.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UNIQUE CHARACTERS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010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Language-Exclusive Character Frequency (Train Set)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726596"/>
            <a:ext cx="7783264" cy="40093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96028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9602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83885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% texts with ≥1 unique char:  ber=73.5%  tur=72.3%  epo=45.9%  hun=17.1%  spa=15.2%  deu=7.5%  ita=5.1%  fra=1.6%  por=1.1%  eng=0.03%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UNICODE BLOCK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67129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Script Block Analysis per Language (Train Set)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93459"/>
            <a:ext cx="7882629" cy="40605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96028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9602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8006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Key: </a:t>
            </a:r>
            <a:r>
              <a:rPr lang="en-US" sz="950" dirty="0">
                <a:solidFill>
                  <a:srgbClr val="334155"/>
                </a:solidFill>
              </a:rPr>
              <a:t>ber uses Greek/Coptic + Latin Extended (Tifinagh). deu/eng/epo/fra/hun: Latin + Latin-1. ita/por/spa: Latin-1 Supplement dominant. tur: unique Latin Extended-A (ş, ğ, ı). Script block alone can only cleanly isolate ber.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BASELINE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Logistic Regression on Char N-grams (1–3)  ·  Dev Accuracy: 99.30%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3" y="914400"/>
            <a:ext cx="4528475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4920" y="8458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Classification Report (Dev Set)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23942"/>
              </p:ext>
            </p:extLst>
          </p:nvPr>
        </p:nvGraphicFramePr>
        <p:xfrm>
          <a:off x="5074920" y="1101852"/>
          <a:ext cx="3703320" cy="278891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ber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deu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eng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fra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hun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ita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por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spa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tur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74920" y="3991669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74920" y="3991669"/>
            <a:ext cx="54864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230368" y="402328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ber, epo, tur — perfect 1.00 F1:  </a:t>
            </a:r>
            <a:r>
              <a:rPr lang="en-US" sz="850" dirty="0">
                <a:solidFill>
                  <a:srgbClr val="334155"/>
                </a:solidFill>
              </a:rPr>
              <a:t>Unique scripts/diacritics make these trivially classifiable.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74920" y="4297251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74920" y="4306824"/>
            <a:ext cx="54864" cy="25603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230368" y="431589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por: 13 errors → predicted as spa:  </a:t>
            </a:r>
            <a:r>
              <a:rPr lang="en-US" sz="850" dirty="0">
                <a:solidFill>
                  <a:srgbClr val="334155"/>
                </a:solidFill>
              </a:rPr>
              <a:t>Highest confusion pair. Similarity = 0.98.</a:t>
            </a:r>
            <a:endParaRPr lang="en-US" sz="850" dirty="0"/>
          </a:p>
        </p:txBody>
      </p:sp>
      <p:sp>
        <p:nvSpPr>
          <p:cNvPr id="7" name="Shape 10"/>
          <p:cNvSpPr/>
          <p:nvPr/>
        </p:nvSpPr>
        <p:spPr>
          <a:xfrm>
            <a:off x="5074920" y="4629874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074920" y="4629952"/>
            <a:ext cx="54864" cy="25603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230368" y="4644723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ita: 4→spa, 2→por — Romance triple:  </a:t>
            </a:r>
            <a:r>
              <a:rPr lang="en-US" sz="850" dirty="0">
                <a:solidFill>
                  <a:srgbClr val="334155"/>
                </a:solidFill>
              </a:rPr>
              <a:t>spa/por/ita account for almost the entire error budget.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074920" y="4924044"/>
            <a:ext cx="3703320" cy="21945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43500" y="492404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Config:  CountVectorizer(char, 1–3 grams)  +  LogisticRegression(max_iter=1000)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36576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Key EDA Takeaways &amp;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RNN Design Implications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4864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18488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ber (73.5%) &amp; tur (72.3%) trivially classifiable via unique characters: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Tifinagh script and Turkish diacritics (ı, ş, İ) act as immediate class signals — no sequence model needed for these two.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54864" cy="58521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276856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spa–por similarity = 0.98 — the core classification challenge: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Only 13 mutual errors from logistic regression. The RNN must exploit sequential patterns to push this lower.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54864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935224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Baseline: 99.30% exact dev accuracy (char 1–3 grams + LogReg):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3163824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The performance bar. RNN target: match or exceed, specifically improving the Romance language confusion.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529584"/>
            <a:ext cx="54864" cy="5852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593592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Entropy range 2.54–2.69 bits — nearly uniform across all languages: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3822192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Frequency features have limited power for similar languages. Sequence context matters more than character counts.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54864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251960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Architecture: char embeddings + RNN, vocab=178, seq length ~74–100 chars: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80560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Character-level input captures script and bigram signals. 95th pct at 74 chars sets the practical input length.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1325</Words>
  <Application>Microsoft Office PowerPoint</Application>
  <PresentationFormat>On-screen Show (16:9)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Tatoeba Language Detection EDA</dc:title>
  <dc:subject>PptxGenJS Presentation</dc:subject>
  <dc:creator>PptxGenJS</dc:creator>
  <cp:lastModifiedBy>Darren Greway</cp:lastModifiedBy>
  <cp:revision>3</cp:revision>
  <dcterms:created xsi:type="dcterms:W3CDTF">2026-04-04T17:45:09Z</dcterms:created>
  <dcterms:modified xsi:type="dcterms:W3CDTF">2026-04-05T18:15:18Z</dcterms:modified>
</cp:coreProperties>
</file>